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iXeymOzSQgSlaKjHj1IbgsXPKm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64592" cy="8229600"/>
          </a:xfrm>
          <a:prstGeom prst="rect">
            <a:avLst/>
          </a:prstGeom>
          <a:solidFill>
            <a:srgbClr val="1A6FA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713232" y="640080"/>
            <a:ext cx="2834640" cy="320040"/>
          </a:xfrm>
          <a:prstGeom prst="roundRect">
            <a:avLst>
              <a:gd fmla="val 16667" name="adj"/>
            </a:avLst>
          </a:prstGeom>
          <a:solidFill>
            <a:srgbClr val="0E26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MINERIA DE DATOS | ÚLTIMA MILLA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685800" y="1417320"/>
            <a:ext cx="5577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E2640"/>
                </a:solidFill>
                <a:latin typeface="Calibri"/>
                <a:ea typeface="Calibri"/>
                <a:cs typeface="Calibri"/>
                <a:sym typeface="Calibri"/>
              </a:rPr>
              <a:t>Predicción de atrasos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rutas de última milla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731520" y="2816352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reaccionar a los atrasos a anticiparlos con datos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749808" y="3429000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Modelo de alerta operativa para detectar riesgo, estimar severidad y focalizar acciones antes de que el atraso ocurra.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6446520" y="1234440"/>
            <a:ext cx="425196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611112" y="1380744"/>
            <a:ext cx="347472" cy="347472"/>
          </a:xfrm>
          <a:prstGeom prst="ellipse">
            <a:avLst/>
          </a:prstGeom>
          <a:solidFill>
            <a:srgbClr val="1A6FA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159752" y="139903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E2640"/>
                </a:solidFill>
                <a:latin typeface="Calibri"/>
                <a:ea typeface="Calibri"/>
                <a:cs typeface="Calibri"/>
                <a:sym typeface="Calibri"/>
              </a:rPr>
              <a:t>Datos históricos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8321040" y="1892808"/>
            <a:ext cx="384048" cy="32004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1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6446520" y="2258568"/>
            <a:ext cx="425196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611112" y="2404872"/>
            <a:ext cx="347472" cy="347472"/>
          </a:xfrm>
          <a:prstGeom prst="ellipse">
            <a:avLst/>
          </a:prstGeom>
          <a:solidFill>
            <a:srgbClr val="1C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159752" y="24231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E2640"/>
                </a:solidFill>
                <a:latin typeface="Calibri"/>
                <a:ea typeface="Calibri"/>
                <a:cs typeface="Calibri"/>
                <a:sym typeface="Calibri"/>
              </a:rPr>
              <a:t>Modelo predictivo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8321040" y="2916936"/>
            <a:ext cx="384048" cy="32004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1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6446520" y="3282696"/>
            <a:ext cx="425196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6611112" y="3429000"/>
            <a:ext cx="347472" cy="347472"/>
          </a:xfrm>
          <a:prstGeom prst="ellipse">
            <a:avLst/>
          </a:prstGeom>
          <a:solidFill>
            <a:srgbClr val="E58F2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7159752" y="344728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E2640"/>
                </a:solidFill>
                <a:latin typeface="Calibri"/>
                <a:ea typeface="Calibri"/>
                <a:cs typeface="Calibri"/>
                <a:sym typeface="Calibri"/>
              </a:rPr>
              <a:t>Alerta operativa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8321040" y="3941064"/>
            <a:ext cx="384048" cy="32004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1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6446520" y="4306824"/>
            <a:ext cx="425196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6611112" y="4453128"/>
            <a:ext cx="347472" cy="347472"/>
          </a:xfrm>
          <a:prstGeom prst="ellipse">
            <a:avLst/>
          </a:prstGeom>
          <a:solidFill>
            <a:srgbClr val="4C9F7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7159752" y="447141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E2640"/>
                </a:solidFill>
                <a:latin typeface="Calibri"/>
                <a:ea typeface="Calibri"/>
                <a:cs typeface="Calibri"/>
                <a:sym typeface="Calibri"/>
              </a:rPr>
              <a:t>Acción preventiva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/>
        </p:nvSpPr>
        <p:spPr>
          <a:xfrm>
            <a:off x="685800" y="38404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PROBLEMA Y OBJETIVO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Anticipar atrasos antes de que impacten al cliente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713232" y="1353312"/>
            <a:ext cx="11704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El desafio no es solo medir que entregas llegaron tarde, sino detectar riesgo mientras todavia hay margen operativo para actuar.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685800" y="1856231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822960" y="2331720"/>
            <a:ext cx="4617720" cy="3337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D645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097280" y="2633472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Problema operativo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1078992" y="3063240"/>
            <a:ext cx="397763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1 de cada 10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1188720" y="3767328"/>
            <a:ext cx="37490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entregas llega tarde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1143000" y="4370832"/>
            <a:ext cx="39319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Ese grupo minoritario concentra costo: espera del cliente, reprogramaciones, llamadas y perdida de confianza.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5897880" y="2331720"/>
            <a:ext cx="7863840" cy="3337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6199632" y="2633472"/>
            <a:ext cx="7269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Objetivo del proyecto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6263640" y="3154680"/>
            <a:ext cx="3246120" cy="17373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6446520" y="3364992"/>
            <a:ext cx="2880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CLASIFICACIÓN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6492240" y="3749039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¿Llegará tarde?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6492240" y="4187952"/>
            <a:ext cx="2788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Detectar riesgo de atraso</a:t>
            </a:r>
            <a:b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Sí / No</a:t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10012680" y="3154680"/>
            <a:ext cx="3246120" cy="17373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F299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10195559" y="3364992"/>
            <a:ext cx="2880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REGRESIÓN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10241280" y="3749039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¿Cuántos minutos?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10241280" y="4187952"/>
            <a:ext cx="2788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Estimar severidad</a:t>
            </a:r>
            <a:b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del delay</a:t>
            </a: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822960" y="6263640"/>
            <a:ext cx="12938760" cy="777240"/>
          </a:xfrm>
          <a:prstGeom prst="roundRect">
            <a:avLst>
              <a:gd fmla="val 16667" name="adj"/>
            </a:avLst>
          </a:prstGeom>
          <a:solidFill>
            <a:srgbClr val="142B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1051560" y="6428232"/>
            <a:ext cx="12481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 esperado: pasar de reaccionar tarde a priorizar entregas en riesgo antes de que el atraso ocurra.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13395960" y="763524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640080" y="411480"/>
            <a:ext cx="1600200" cy="292608"/>
          </a:xfrm>
          <a:prstGeom prst="roundRect">
            <a:avLst>
              <a:gd fmla="val 16667" name="adj"/>
            </a:avLst>
          </a:prstGeom>
          <a:solidFill>
            <a:srgbClr val="0E26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640080" y="868680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E2640"/>
                </a:solidFill>
                <a:latin typeface="Calibri"/>
                <a:ea typeface="Calibri"/>
                <a:cs typeface="Calibri"/>
                <a:sym typeface="Calibri"/>
              </a:rPr>
              <a:t>CRISP-DM aplicado al problema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658368" y="1417320"/>
            <a:ext cx="9875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presentación sigue la misma lógica del proyecto: entender el negocio, preparar datos, modelar y traducir resultados a decisiones.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731520" y="2240280"/>
            <a:ext cx="29718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896112" y="2441448"/>
            <a:ext cx="438912" cy="438912"/>
          </a:xfrm>
          <a:prstGeom prst="ellipse">
            <a:avLst/>
          </a:prstGeom>
          <a:solidFill>
            <a:srgbClr val="1A6FA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996696" y="2523744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1444752" y="2404872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2640"/>
                </a:solidFill>
                <a:latin typeface="Calibri"/>
                <a:ea typeface="Calibri"/>
                <a:cs typeface="Calibri"/>
                <a:sym typeface="Calibri"/>
              </a:rPr>
              <a:t>Business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932688" y="309981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Problema operativo y objetivos</a:t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4389120" y="2240280"/>
            <a:ext cx="29718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4553712" y="2441448"/>
            <a:ext cx="438912" cy="438912"/>
          </a:xfrm>
          <a:prstGeom prst="ellipse">
            <a:avLst/>
          </a:prstGeom>
          <a:solidFill>
            <a:srgbClr val="1C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4654296" y="2523744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5102352" y="2404872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264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4590288" y="309981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Variables, atraso, calidad y outliers</a:t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8046720" y="2240280"/>
            <a:ext cx="29718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8211312" y="2441448"/>
            <a:ext cx="438912" cy="438912"/>
          </a:xfrm>
          <a:prstGeom prst="ellipse">
            <a:avLst/>
          </a:prstGeom>
          <a:solidFill>
            <a:srgbClr val="E58F2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8311896" y="2523744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8759952" y="2404872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264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Preparation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8247888" y="309981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Limpieza, features y split temporal</a:t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731520" y="4343400"/>
            <a:ext cx="29718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896112" y="4544568"/>
            <a:ext cx="438912" cy="438912"/>
          </a:xfrm>
          <a:prstGeom prst="ellipse">
            <a:avLst/>
          </a:prstGeom>
          <a:solidFill>
            <a:srgbClr val="1A6FA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996696" y="4626864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1444752" y="4507992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2640"/>
                </a:solidFill>
                <a:latin typeface="Calibri"/>
                <a:ea typeface="Calibri"/>
                <a:cs typeface="Calibri"/>
                <a:sym typeface="Calibri"/>
              </a:rPr>
              <a:t>Modeling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932688" y="520293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Clasificación, regresión y clustering</a:t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4389120" y="4343400"/>
            <a:ext cx="29718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4553712" y="4544568"/>
            <a:ext cx="438912" cy="438912"/>
          </a:xfrm>
          <a:prstGeom prst="ellipse">
            <a:avLst/>
          </a:prstGeom>
          <a:solidFill>
            <a:srgbClr val="1C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4654296" y="4626864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5102352" y="4507992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2640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4590288" y="520293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Métricas, umbrales y validación temporal</a:t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8046720" y="4343400"/>
            <a:ext cx="29718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8211312" y="4544568"/>
            <a:ext cx="438912" cy="438912"/>
          </a:xfrm>
          <a:prstGeom prst="ellipse">
            <a:avLst/>
          </a:prstGeom>
          <a:solidFill>
            <a:srgbClr val="4C9F7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8311896" y="4626864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8759952" y="4507992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2640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8247888" y="520293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Alertas y acciones focalizadas</a:t>
            </a:r>
            <a:endParaRPr/>
          </a:p>
        </p:txBody>
      </p:sp>
      <p:sp>
        <p:nvSpPr>
          <p:cNvPr id="170" name="Google Shape;170;p3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640080" y="411480"/>
            <a:ext cx="2148840" cy="292608"/>
          </a:xfrm>
          <a:prstGeom prst="roundRect">
            <a:avLst>
              <a:gd fmla="val 16667" name="adj"/>
            </a:avLst>
          </a:prstGeom>
          <a:solidFill>
            <a:srgbClr val="0E26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UNDERSTANDING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640080" y="868680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0E2640"/>
                </a:solidFill>
                <a:latin typeface="Calibri"/>
                <a:ea typeface="Calibri"/>
                <a:cs typeface="Calibri"/>
                <a:sym typeface="Calibri"/>
              </a:rPr>
              <a:t>Variables del dataset: qué sabemos de cada entrega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658368" y="1417320"/>
            <a:ext cx="10149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3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El dataset combina planificación, ejecución y contexto. Desde ahi se construyen dos objetivos: atraso sí/no y minutos de delay.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685800" y="2057400"/>
            <a:ext cx="3182112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886968" y="2286000"/>
            <a:ext cx="1965960" cy="274320"/>
          </a:xfrm>
          <a:prstGeom prst="roundRect">
            <a:avLst>
              <a:gd fmla="val 16667" name="adj"/>
            </a:avLst>
          </a:prstGeom>
          <a:solidFill>
            <a:srgbClr val="1A6FA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1005840" y="2770632"/>
            <a:ext cx="25603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64000" spcFirstLastPara="1" rIns="640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Earliest Time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Latest Time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IndexP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DistanceP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4407408" y="2057400"/>
            <a:ext cx="3182112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4608576" y="2286000"/>
            <a:ext cx="1965960" cy="274320"/>
          </a:xfrm>
          <a:prstGeom prst="roundRect">
            <a:avLst>
              <a:gd fmla="val 16667" name="adj"/>
            </a:avLst>
          </a:prstGeom>
          <a:solidFill>
            <a:srgbClr val="1C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EJECUCIÓN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4727448" y="2770632"/>
            <a:ext cx="25603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64000" spcFirstLastPara="1" rIns="640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Arrived Time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IndexA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DistanceA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route_deviation</a:t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8129016" y="2057400"/>
            <a:ext cx="3182112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8330184" y="2286000"/>
            <a:ext cx="1965960" cy="274320"/>
          </a:xfrm>
          <a:prstGeom prst="roundRect">
            <a:avLst>
              <a:gd fmla="val 16667" name="adj"/>
            </a:avLst>
          </a:prstGeom>
          <a:solidFill>
            <a:srgbClr val="E58F2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CONTEXTO OPERATIVO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8449056" y="2770632"/>
            <a:ext cx="25603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64000" spcFirstLastPara="1" rIns="640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Week ID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Country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Day of Week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Route ID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Driver ID</a:t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1051560" y="4828032"/>
            <a:ext cx="4526280" cy="896112"/>
          </a:xfrm>
          <a:prstGeom prst="roundRect">
            <a:avLst>
              <a:gd fmla="val 16667" name="adj"/>
            </a:avLst>
          </a:prstGeom>
          <a:solidFill>
            <a:srgbClr val="EBF4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1298448" y="4983480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6FAF"/>
                </a:solidFill>
                <a:latin typeface="Calibri"/>
                <a:ea typeface="Calibri"/>
                <a:cs typeface="Calibri"/>
                <a:sym typeface="Calibri"/>
              </a:rPr>
              <a:t>Variable objetivo categórica</a:t>
            </a:r>
            <a:endParaRPr/>
          </a:p>
        </p:txBody>
      </p:sp>
      <p:sp>
        <p:nvSpPr>
          <p:cNvPr id="190" name="Google Shape;190;p4"/>
          <p:cNvSpPr txBox="1"/>
          <p:nvPr/>
        </p:nvSpPr>
        <p:spPr>
          <a:xfrm>
            <a:off x="1298448" y="5321808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delayed -&gt; llega tarde / no llega tarde</a:t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6400800" y="4828032"/>
            <a:ext cx="4526280" cy="896112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6647688" y="4983480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9688"/>
                </a:solidFill>
                <a:latin typeface="Calibri"/>
                <a:ea typeface="Calibri"/>
                <a:cs typeface="Calibri"/>
                <a:sym typeface="Calibri"/>
              </a:rPr>
              <a:t>Variable objetivo numérica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6647688" y="532180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delay -&gt; minutos de atraso respecto al límite</a:t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1234440" y="6016752"/>
            <a:ext cx="9692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80" u="none" cap="none" strike="noStrike">
                <a:solidFill>
                  <a:srgbClr val="0E2640"/>
                </a:solidFill>
                <a:latin typeface="Calibri"/>
                <a:ea typeface="Calibri"/>
                <a:cs typeface="Calibri"/>
                <a:sym typeface="Calibri"/>
              </a:rPr>
              <a:t>Lectura inicial: el atraso afecta a ~9-10% de entregas; no es masivo, pero concentra costo y riesgo operacional.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"/>
          <p:cNvSpPr txBox="1"/>
          <p:nvPr/>
        </p:nvSpPr>
        <p:spPr>
          <a:xfrm>
            <a:off x="685800" y="3200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MATRIZ DE CORRELACIÓN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685800" y="676656"/>
            <a:ext cx="11704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La correlación lineal no alcanza para explicar el atraso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713232" y="1170432"/>
            <a:ext cx="1216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El heatmap se usa como diagnóstico: muestra redundancias y riesgos de leakage, pero también evidencia que hace falta feature engineering.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1371600" y="1773935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Week</a:t>
            </a: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1810512" y="1773935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Ctry</a:t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2249424" y="1773935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IdxP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2688336" y="1773935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IdxA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3127248" y="1773935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Arr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3566160" y="1773935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Ear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4005072" y="1773935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Lat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4443983" y="1773935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DistP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4882896" y="1773935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DistA</a:t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5321808" y="1773935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Dev</a:t>
            </a:r>
            <a:endParaRPr/>
          </a:p>
        </p:txBody>
      </p:sp>
      <p:sp>
        <p:nvSpPr>
          <p:cNvPr id="214" name="Google Shape;214;p5"/>
          <p:cNvSpPr txBox="1"/>
          <p:nvPr/>
        </p:nvSpPr>
        <p:spPr>
          <a:xfrm>
            <a:off x="5760720" y="1773935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delay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6199631" y="1773935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late</a:t>
            </a:r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713232" y="2203703"/>
            <a:ext cx="621792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Week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713232" y="2642615"/>
            <a:ext cx="621792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Ctry</a:t>
            </a:r>
            <a:endParaRPr/>
          </a:p>
        </p:txBody>
      </p:sp>
      <p:sp>
        <p:nvSpPr>
          <p:cNvPr id="218" name="Google Shape;218;p5"/>
          <p:cNvSpPr txBox="1"/>
          <p:nvPr/>
        </p:nvSpPr>
        <p:spPr>
          <a:xfrm>
            <a:off x="713232" y="3081527"/>
            <a:ext cx="621792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IdxP</a:t>
            </a:r>
            <a:endParaRPr/>
          </a:p>
        </p:txBody>
      </p:sp>
      <p:sp>
        <p:nvSpPr>
          <p:cNvPr id="219" name="Google Shape;219;p5"/>
          <p:cNvSpPr txBox="1"/>
          <p:nvPr/>
        </p:nvSpPr>
        <p:spPr>
          <a:xfrm>
            <a:off x="713232" y="3520439"/>
            <a:ext cx="621792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IdxA</a:t>
            </a:r>
            <a:endParaRPr/>
          </a:p>
        </p:txBody>
      </p:sp>
      <p:sp>
        <p:nvSpPr>
          <p:cNvPr id="220" name="Google Shape;220;p5"/>
          <p:cNvSpPr txBox="1"/>
          <p:nvPr/>
        </p:nvSpPr>
        <p:spPr>
          <a:xfrm>
            <a:off x="713232" y="3959352"/>
            <a:ext cx="621792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Arr</a:t>
            </a:r>
            <a:endParaRPr/>
          </a:p>
        </p:txBody>
      </p:sp>
      <p:sp>
        <p:nvSpPr>
          <p:cNvPr id="221" name="Google Shape;221;p5"/>
          <p:cNvSpPr txBox="1"/>
          <p:nvPr/>
        </p:nvSpPr>
        <p:spPr>
          <a:xfrm>
            <a:off x="713232" y="4398264"/>
            <a:ext cx="621792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Ear</a:t>
            </a:r>
            <a:endParaRPr/>
          </a:p>
        </p:txBody>
      </p:sp>
      <p:sp>
        <p:nvSpPr>
          <p:cNvPr id="222" name="Google Shape;222;p5"/>
          <p:cNvSpPr txBox="1"/>
          <p:nvPr/>
        </p:nvSpPr>
        <p:spPr>
          <a:xfrm>
            <a:off x="713232" y="4837175"/>
            <a:ext cx="621792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Lat</a:t>
            </a:r>
            <a:endParaRPr/>
          </a:p>
        </p:txBody>
      </p:sp>
      <p:sp>
        <p:nvSpPr>
          <p:cNvPr id="223" name="Google Shape;223;p5"/>
          <p:cNvSpPr txBox="1"/>
          <p:nvPr/>
        </p:nvSpPr>
        <p:spPr>
          <a:xfrm>
            <a:off x="713232" y="5276088"/>
            <a:ext cx="621792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DistP</a:t>
            </a:r>
            <a:endParaRPr/>
          </a:p>
        </p:txBody>
      </p:sp>
      <p:sp>
        <p:nvSpPr>
          <p:cNvPr id="224" name="Google Shape;224;p5"/>
          <p:cNvSpPr txBox="1"/>
          <p:nvPr/>
        </p:nvSpPr>
        <p:spPr>
          <a:xfrm>
            <a:off x="713232" y="5715000"/>
            <a:ext cx="621792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DistA</a:t>
            </a:r>
            <a:endParaRPr/>
          </a:p>
        </p:txBody>
      </p:sp>
      <p:sp>
        <p:nvSpPr>
          <p:cNvPr id="225" name="Google Shape;225;p5"/>
          <p:cNvSpPr txBox="1"/>
          <p:nvPr/>
        </p:nvSpPr>
        <p:spPr>
          <a:xfrm>
            <a:off x="713232" y="6153912"/>
            <a:ext cx="621792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Dev</a:t>
            </a:r>
            <a:endParaRPr/>
          </a:p>
        </p:txBody>
      </p:sp>
      <p:sp>
        <p:nvSpPr>
          <p:cNvPr id="226" name="Google Shape;226;p5"/>
          <p:cNvSpPr txBox="1"/>
          <p:nvPr/>
        </p:nvSpPr>
        <p:spPr>
          <a:xfrm>
            <a:off x="713232" y="6592823"/>
            <a:ext cx="621792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delay</a:t>
            </a:r>
            <a:endParaRPr/>
          </a:p>
        </p:txBody>
      </p:sp>
      <p:sp>
        <p:nvSpPr>
          <p:cNvPr id="227" name="Google Shape;227;p5"/>
          <p:cNvSpPr txBox="1"/>
          <p:nvPr/>
        </p:nvSpPr>
        <p:spPr>
          <a:xfrm>
            <a:off x="713232" y="7031736"/>
            <a:ext cx="621792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late</a:t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1371600" y="2084831"/>
            <a:ext cx="438912" cy="438912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1380744" y="2231136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1810512" y="2084831"/>
            <a:ext cx="438912" cy="438912"/>
          </a:xfrm>
          <a:prstGeom prst="rect">
            <a:avLst/>
          </a:prstGeom>
          <a:solidFill>
            <a:srgbClr val="EEDEE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2249424" y="2084831"/>
            <a:ext cx="438912" cy="438912"/>
          </a:xfrm>
          <a:prstGeom prst="rect">
            <a:avLst/>
          </a:prstGeom>
          <a:solidFill>
            <a:srgbClr val="F2EE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2688336" y="2084831"/>
            <a:ext cx="438912" cy="438912"/>
          </a:xfrm>
          <a:prstGeom prst="rect">
            <a:avLst/>
          </a:prstGeom>
          <a:solidFill>
            <a:srgbClr val="F2EE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3127248" y="2084831"/>
            <a:ext cx="438912" cy="438912"/>
          </a:xfrm>
          <a:prstGeom prst="rect">
            <a:avLst/>
          </a:prstGeom>
          <a:solidFill>
            <a:srgbClr val="DFE6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3566160" y="2084831"/>
            <a:ext cx="438912" cy="438912"/>
          </a:xfrm>
          <a:prstGeom prst="rect">
            <a:avLst/>
          </a:prstGeom>
          <a:solidFill>
            <a:srgbClr val="E5E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4005072" y="2084831"/>
            <a:ext cx="438912" cy="438912"/>
          </a:xfrm>
          <a:prstGeom prst="rect">
            <a:avLst/>
          </a:prstGeom>
          <a:solidFill>
            <a:srgbClr val="E7EC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4443983" y="2084831"/>
            <a:ext cx="438912" cy="438912"/>
          </a:xfrm>
          <a:prstGeom prst="rect">
            <a:avLst/>
          </a:prstGeom>
          <a:solidFill>
            <a:srgbClr val="F3F5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4882896" y="2084831"/>
            <a:ext cx="438912" cy="438912"/>
          </a:xfrm>
          <a:prstGeom prst="rect">
            <a:avLst/>
          </a:prstGeom>
          <a:solidFill>
            <a:srgbClr val="F3F5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5321808" y="2084831"/>
            <a:ext cx="438912" cy="438912"/>
          </a:xfrm>
          <a:prstGeom prst="rect">
            <a:avLst/>
          </a:prstGeom>
          <a:solidFill>
            <a:srgbClr val="F3F5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5760720" y="2084831"/>
            <a:ext cx="438912" cy="438912"/>
          </a:xfrm>
          <a:prstGeom prst="rect">
            <a:avLst/>
          </a:prstGeom>
          <a:solidFill>
            <a:srgbClr val="F1F4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6199631" y="2084831"/>
            <a:ext cx="438912" cy="438912"/>
          </a:xfrm>
          <a:prstGeom prst="rect">
            <a:avLst/>
          </a:prstGeom>
          <a:solidFill>
            <a:srgbClr val="EDF1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1371600" y="2523744"/>
            <a:ext cx="438912" cy="438912"/>
          </a:xfrm>
          <a:prstGeom prst="rect">
            <a:avLst/>
          </a:prstGeom>
          <a:solidFill>
            <a:srgbClr val="EEDEE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1810512" y="2523744"/>
            <a:ext cx="438912" cy="438912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 txBox="1"/>
          <p:nvPr/>
        </p:nvSpPr>
        <p:spPr>
          <a:xfrm>
            <a:off x="1819656" y="2670048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244" name="Google Shape;244;p5"/>
          <p:cNvSpPr/>
          <p:nvPr/>
        </p:nvSpPr>
        <p:spPr>
          <a:xfrm>
            <a:off x="2249424" y="2523744"/>
            <a:ext cx="438912" cy="438912"/>
          </a:xfrm>
          <a:prstGeom prst="rect">
            <a:avLst/>
          </a:prstGeom>
          <a:solidFill>
            <a:srgbClr val="ECD8D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2688336" y="2523744"/>
            <a:ext cx="438912" cy="438912"/>
          </a:xfrm>
          <a:prstGeom prst="rect">
            <a:avLst/>
          </a:prstGeom>
          <a:solidFill>
            <a:srgbClr val="ECD8D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3127248" y="2523744"/>
            <a:ext cx="438912" cy="438912"/>
          </a:xfrm>
          <a:prstGeom prst="rect">
            <a:avLst/>
          </a:prstGeom>
          <a:solidFill>
            <a:srgbClr val="D3DEF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3566160" y="2523744"/>
            <a:ext cx="438912" cy="438912"/>
          </a:xfrm>
          <a:prstGeom prst="rect">
            <a:avLst/>
          </a:prstGeom>
          <a:solidFill>
            <a:srgbClr val="EDDC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4005072" y="2523744"/>
            <a:ext cx="438912" cy="438912"/>
          </a:xfrm>
          <a:prstGeom prst="rect">
            <a:avLst/>
          </a:prstGeom>
          <a:solidFill>
            <a:srgbClr val="C0C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4443983" y="2523744"/>
            <a:ext cx="438912" cy="438912"/>
          </a:xfrm>
          <a:prstGeom prst="rect">
            <a:avLst/>
          </a:prstGeom>
          <a:solidFill>
            <a:srgbClr val="D5DF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4882896" y="2523744"/>
            <a:ext cx="438912" cy="438912"/>
          </a:xfrm>
          <a:prstGeom prst="rect">
            <a:avLst/>
          </a:prstGeom>
          <a:solidFill>
            <a:srgbClr val="D5DF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5321808" y="2523744"/>
            <a:ext cx="438912" cy="438912"/>
          </a:xfrm>
          <a:prstGeom prst="rect">
            <a:avLst/>
          </a:prstGeom>
          <a:solidFill>
            <a:srgbClr val="ECD6D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5760720" y="2523744"/>
            <a:ext cx="438912" cy="438912"/>
          </a:xfrm>
          <a:prstGeom prst="rect">
            <a:avLst/>
          </a:prstGeom>
          <a:solidFill>
            <a:srgbClr val="EDDAD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6199631" y="2523744"/>
            <a:ext cx="438912" cy="438912"/>
          </a:xfrm>
          <a:prstGeom prst="rect">
            <a:avLst/>
          </a:prstGeom>
          <a:solidFill>
            <a:srgbClr val="E9EE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1371600" y="2962656"/>
            <a:ext cx="438912" cy="438912"/>
          </a:xfrm>
          <a:prstGeom prst="rect">
            <a:avLst/>
          </a:prstGeom>
          <a:solidFill>
            <a:srgbClr val="F2EE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1810512" y="2962656"/>
            <a:ext cx="438912" cy="438912"/>
          </a:xfrm>
          <a:prstGeom prst="rect">
            <a:avLst/>
          </a:prstGeom>
          <a:solidFill>
            <a:srgbClr val="ECD8D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2249424" y="2962656"/>
            <a:ext cx="438912" cy="438912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 txBox="1"/>
          <p:nvPr/>
        </p:nvSpPr>
        <p:spPr>
          <a:xfrm>
            <a:off x="2258568" y="3108960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258" name="Google Shape;258;p5"/>
          <p:cNvSpPr/>
          <p:nvPr/>
        </p:nvSpPr>
        <p:spPr>
          <a:xfrm>
            <a:off x="2688336" y="2962656"/>
            <a:ext cx="438912" cy="438912"/>
          </a:xfrm>
          <a:prstGeom prst="rect">
            <a:avLst/>
          </a:prstGeom>
          <a:solidFill>
            <a:srgbClr val="C7515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 txBox="1"/>
          <p:nvPr/>
        </p:nvSpPr>
        <p:spPr>
          <a:xfrm>
            <a:off x="2697479" y="3108960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0.82</a:t>
            </a: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3127248" y="2962656"/>
            <a:ext cx="438912" cy="438912"/>
          </a:xfrm>
          <a:prstGeom prst="rect">
            <a:avLst/>
          </a:prstGeom>
          <a:solidFill>
            <a:srgbClr val="DEA4A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3566160" y="2962656"/>
            <a:ext cx="438912" cy="438912"/>
          </a:xfrm>
          <a:prstGeom prst="rect">
            <a:avLst/>
          </a:prstGeom>
          <a:solidFill>
            <a:srgbClr val="E6C2C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4005072" y="2962656"/>
            <a:ext cx="438912" cy="438912"/>
          </a:xfrm>
          <a:prstGeom prst="rect">
            <a:avLst/>
          </a:prstGeom>
          <a:solidFill>
            <a:srgbClr val="E4BAC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4443983" y="2962656"/>
            <a:ext cx="438912" cy="438912"/>
          </a:xfrm>
          <a:prstGeom prst="rect">
            <a:avLst/>
          </a:prstGeom>
          <a:solidFill>
            <a:srgbClr val="CED9F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4882896" y="2962656"/>
            <a:ext cx="438912" cy="438912"/>
          </a:xfrm>
          <a:prstGeom prst="rect">
            <a:avLst/>
          </a:prstGeom>
          <a:solidFill>
            <a:srgbClr val="D3DEF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5321808" y="2962656"/>
            <a:ext cx="438912" cy="438912"/>
          </a:xfrm>
          <a:prstGeom prst="rect">
            <a:avLst/>
          </a:prstGeom>
          <a:solidFill>
            <a:srgbClr val="EBD2D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5760720" y="2962656"/>
            <a:ext cx="438912" cy="438912"/>
          </a:xfrm>
          <a:prstGeom prst="rect">
            <a:avLst/>
          </a:prstGeom>
          <a:solidFill>
            <a:srgbClr val="F2ECF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6199631" y="2962656"/>
            <a:ext cx="438912" cy="438912"/>
          </a:xfrm>
          <a:prstGeom prst="rect">
            <a:avLst/>
          </a:prstGeom>
          <a:solidFill>
            <a:srgbClr val="F1EAE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1371600" y="3401568"/>
            <a:ext cx="438912" cy="438912"/>
          </a:xfrm>
          <a:prstGeom prst="rect">
            <a:avLst/>
          </a:prstGeom>
          <a:solidFill>
            <a:srgbClr val="F2EE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1810512" y="3401568"/>
            <a:ext cx="438912" cy="438912"/>
          </a:xfrm>
          <a:prstGeom prst="rect">
            <a:avLst/>
          </a:prstGeom>
          <a:solidFill>
            <a:srgbClr val="ECD8D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2249424" y="3401568"/>
            <a:ext cx="438912" cy="438912"/>
          </a:xfrm>
          <a:prstGeom prst="rect">
            <a:avLst/>
          </a:prstGeom>
          <a:solidFill>
            <a:srgbClr val="C7515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 txBox="1"/>
          <p:nvPr/>
        </p:nvSpPr>
        <p:spPr>
          <a:xfrm>
            <a:off x="2258568" y="3547872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0.82</a:t>
            </a:r>
            <a:endParaRPr/>
          </a:p>
        </p:txBody>
      </p:sp>
      <p:sp>
        <p:nvSpPr>
          <p:cNvPr id="272" name="Google Shape;272;p5"/>
          <p:cNvSpPr/>
          <p:nvPr/>
        </p:nvSpPr>
        <p:spPr>
          <a:xfrm>
            <a:off x="2688336" y="3401568"/>
            <a:ext cx="438912" cy="438912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 txBox="1"/>
          <p:nvPr/>
        </p:nvSpPr>
        <p:spPr>
          <a:xfrm>
            <a:off x="2697479" y="3547872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274" name="Google Shape;274;p5"/>
          <p:cNvSpPr/>
          <p:nvPr/>
        </p:nvSpPr>
        <p:spPr>
          <a:xfrm>
            <a:off x="3127248" y="3401568"/>
            <a:ext cx="438912" cy="438912"/>
          </a:xfrm>
          <a:prstGeom prst="rect">
            <a:avLst/>
          </a:prstGeom>
          <a:solidFill>
            <a:srgbClr val="D78B9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 txBox="1"/>
          <p:nvPr/>
        </p:nvSpPr>
        <p:spPr>
          <a:xfrm>
            <a:off x="3136391" y="3547872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0.53</a:t>
            </a:r>
            <a:endParaRPr/>
          </a:p>
        </p:txBody>
      </p:sp>
      <p:sp>
        <p:nvSpPr>
          <p:cNvPr id="276" name="Google Shape;276;p5"/>
          <p:cNvSpPr/>
          <p:nvPr/>
        </p:nvSpPr>
        <p:spPr>
          <a:xfrm>
            <a:off x="3566160" y="3401568"/>
            <a:ext cx="438912" cy="438912"/>
          </a:xfrm>
          <a:prstGeom prst="rect">
            <a:avLst/>
          </a:prstGeom>
          <a:solidFill>
            <a:srgbClr val="E7C6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4005072" y="3401568"/>
            <a:ext cx="438912" cy="438912"/>
          </a:xfrm>
          <a:prstGeom prst="rect">
            <a:avLst/>
          </a:prstGeom>
          <a:solidFill>
            <a:srgbClr val="E5BEC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4443983" y="3401568"/>
            <a:ext cx="438912" cy="438912"/>
          </a:xfrm>
          <a:prstGeom prst="rect">
            <a:avLst/>
          </a:prstGeom>
          <a:solidFill>
            <a:srgbClr val="D1DCF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4882896" y="3401568"/>
            <a:ext cx="438912" cy="438912"/>
          </a:xfrm>
          <a:prstGeom prst="rect">
            <a:avLst/>
          </a:prstGeom>
          <a:solidFill>
            <a:srgbClr val="CED9F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5321808" y="3401568"/>
            <a:ext cx="438912" cy="438912"/>
          </a:xfrm>
          <a:prstGeom prst="rect">
            <a:avLst/>
          </a:prstGeom>
          <a:solidFill>
            <a:srgbClr val="EDDAD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5760720" y="3401568"/>
            <a:ext cx="438912" cy="438912"/>
          </a:xfrm>
          <a:prstGeom prst="rect">
            <a:avLst/>
          </a:prstGeom>
          <a:solidFill>
            <a:srgbClr val="EBD4D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6199631" y="3401568"/>
            <a:ext cx="438912" cy="438912"/>
          </a:xfrm>
          <a:prstGeom prst="rect">
            <a:avLst/>
          </a:prstGeom>
          <a:solidFill>
            <a:srgbClr val="EDDAD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1371600" y="3840479"/>
            <a:ext cx="438912" cy="438912"/>
          </a:xfrm>
          <a:prstGeom prst="rect">
            <a:avLst/>
          </a:prstGeom>
          <a:solidFill>
            <a:srgbClr val="DFE6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1810512" y="3840479"/>
            <a:ext cx="438912" cy="438912"/>
          </a:xfrm>
          <a:prstGeom prst="rect">
            <a:avLst/>
          </a:prstGeom>
          <a:solidFill>
            <a:srgbClr val="D3DEF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2249424" y="3840479"/>
            <a:ext cx="438912" cy="438912"/>
          </a:xfrm>
          <a:prstGeom prst="rect">
            <a:avLst/>
          </a:prstGeom>
          <a:solidFill>
            <a:srgbClr val="DEA4A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5"/>
          <p:cNvSpPr/>
          <p:nvPr/>
        </p:nvSpPr>
        <p:spPr>
          <a:xfrm>
            <a:off x="2688336" y="3840479"/>
            <a:ext cx="438912" cy="438912"/>
          </a:xfrm>
          <a:prstGeom prst="rect">
            <a:avLst/>
          </a:prstGeom>
          <a:solidFill>
            <a:srgbClr val="D78B9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5"/>
          <p:cNvSpPr txBox="1"/>
          <p:nvPr/>
        </p:nvSpPr>
        <p:spPr>
          <a:xfrm>
            <a:off x="2697479" y="3986783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0.53</a:t>
            </a:r>
            <a:endParaRPr/>
          </a:p>
        </p:txBody>
      </p:sp>
      <p:sp>
        <p:nvSpPr>
          <p:cNvPr id="288" name="Google Shape;288;p5"/>
          <p:cNvSpPr/>
          <p:nvPr/>
        </p:nvSpPr>
        <p:spPr>
          <a:xfrm>
            <a:off x="3127248" y="3840479"/>
            <a:ext cx="438912" cy="438912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5"/>
          <p:cNvSpPr txBox="1"/>
          <p:nvPr/>
        </p:nvSpPr>
        <p:spPr>
          <a:xfrm>
            <a:off x="3136391" y="3986783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290" name="Google Shape;290;p5"/>
          <p:cNvSpPr/>
          <p:nvPr/>
        </p:nvSpPr>
        <p:spPr>
          <a:xfrm>
            <a:off x="3566160" y="3840479"/>
            <a:ext cx="438912" cy="438912"/>
          </a:xfrm>
          <a:prstGeom prst="rect">
            <a:avLst/>
          </a:prstGeom>
          <a:solidFill>
            <a:srgbClr val="DDA0A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4005072" y="3840479"/>
            <a:ext cx="438912" cy="438912"/>
          </a:xfrm>
          <a:prstGeom prst="rect">
            <a:avLst/>
          </a:prstGeom>
          <a:solidFill>
            <a:srgbClr val="D6879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5"/>
          <p:cNvSpPr txBox="1"/>
          <p:nvPr/>
        </p:nvSpPr>
        <p:spPr>
          <a:xfrm>
            <a:off x="4014215" y="3986783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0.55</a:t>
            </a:r>
            <a:endParaRPr/>
          </a:p>
        </p:txBody>
      </p:sp>
      <p:sp>
        <p:nvSpPr>
          <p:cNvPr id="293" name="Google Shape;293;p5"/>
          <p:cNvSpPr/>
          <p:nvPr/>
        </p:nvSpPr>
        <p:spPr>
          <a:xfrm>
            <a:off x="4443983" y="3840479"/>
            <a:ext cx="438912" cy="438912"/>
          </a:xfrm>
          <a:prstGeom prst="rect">
            <a:avLst/>
          </a:prstGeom>
          <a:solidFill>
            <a:srgbClr val="F1F4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5"/>
          <p:cNvSpPr/>
          <p:nvPr/>
        </p:nvSpPr>
        <p:spPr>
          <a:xfrm>
            <a:off x="4882896" y="3840479"/>
            <a:ext cx="438912" cy="438912"/>
          </a:xfrm>
          <a:prstGeom prst="rect">
            <a:avLst/>
          </a:prstGeom>
          <a:solidFill>
            <a:srgbClr val="EFF2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5321808" y="3840479"/>
            <a:ext cx="438912" cy="438912"/>
          </a:xfrm>
          <a:prstGeom prst="rect">
            <a:avLst/>
          </a:prstGeom>
          <a:solidFill>
            <a:srgbClr val="EFF2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5760720" y="3840479"/>
            <a:ext cx="438912" cy="438912"/>
          </a:xfrm>
          <a:prstGeom prst="rect">
            <a:avLst/>
          </a:prstGeom>
          <a:solidFill>
            <a:srgbClr val="E3B8B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5"/>
          <p:cNvSpPr/>
          <p:nvPr/>
        </p:nvSpPr>
        <p:spPr>
          <a:xfrm>
            <a:off x="6199631" y="3840479"/>
            <a:ext cx="438912" cy="438912"/>
          </a:xfrm>
          <a:prstGeom prst="rect">
            <a:avLst/>
          </a:prstGeom>
          <a:solidFill>
            <a:srgbClr val="E1AEB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5"/>
          <p:cNvSpPr/>
          <p:nvPr/>
        </p:nvSpPr>
        <p:spPr>
          <a:xfrm>
            <a:off x="1371600" y="4279392"/>
            <a:ext cx="438912" cy="438912"/>
          </a:xfrm>
          <a:prstGeom prst="rect">
            <a:avLst/>
          </a:prstGeom>
          <a:solidFill>
            <a:srgbClr val="E5E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5"/>
          <p:cNvSpPr/>
          <p:nvPr/>
        </p:nvSpPr>
        <p:spPr>
          <a:xfrm>
            <a:off x="1810512" y="4279392"/>
            <a:ext cx="438912" cy="438912"/>
          </a:xfrm>
          <a:prstGeom prst="rect">
            <a:avLst/>
          </a:prstGeom>
          <a:solidFill>
            <a:srgbClr val="EDDC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2249424" y="4279392"/>
            <a:ext cx="438912" cy="438912"/>
          </a:xfrm>
          <a:prstGeom prst="rect">
            <a:avLst/>
          </a:prstGeom>
          <a:solidFill>
            <a:srgbClr val="E6C2C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"/>
          <p:cNvSpPr/>
          <p:nvPr/>
        </p:nvSpPr>
        <p:spPr>
          <a:xfrm>
            <a:off x="2688336" y="4279392"/>
            <a:ext cx="438912" cy="438912"/>
          </a:xfrm>
          <a:prstGeom prst="rect">
            <a:avLst/>
          </a:prstGeom>
          <a:solidFill>
            <a:srgbClr val="E7C6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5"/>
          <p:cNvSpPr/>
          <p:nvPr/>
        </p:nvSpPr>
        <p:spPr>
          <a:xfrm>
            <a:off x="3127248" y="4279392"/>
            <a:ext cx="438912" cy="438912"/>
          </a:xfrm>
          <a:prstGeom prst="rect">
            <a:avLst/>
          </a:prstGeom>
          <a:solidFill>
            <a:srgbClr val="DDA0A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5"/>
          <p:cNvSpPr/>
          <p:nvPr/>
        </p:nvSpPr>
        <p:spPr>
          <a:xfrm>
            <a:off x="3566160" y="4279392"/>
            <a:ext cx="438912" cy="438912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5"/>
          <p:cNvSpPr txBox="1"/>
          <p:nvPr/>
        </p:nvSpPr>
        <p:spPr>
          <a:xfrm>
            <a:off x="3575303" y="4425696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305" name="Google Shape;305;p5"/>
          <p:cNvSpPr/>
          <p:nvPr/>
        </p:nvSpPr>
        <p:spPr>
          <a:xfrm>
            <a:off x="4005072" y="4279392"/>
            <a:ext cx="438912" cy="438912"/>
          </a:xfrm>
          <a:prstGeom prst="rect">
            <a:avLst/>
          </a:prstGeom>
          <a:solidFill>
            <a:srgbClr val="ECD6D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5"/>
          <p:cNvSpPr/>
          <p:nvPr/>
        </p:nvSpPr>
        <p:spPr>
          <a:xfrm>
            <a:off x="4443983" y="4279392"/>
            <a:ext cx="438912" cy="438912"/>
          </a:xfrm>
          <a:prstGeom prst="rect">
            <a:avLst/>
          </a:prstGeom>
          <a:solidFill>
            <a:srgbClr val="D3DEF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5"/>
          <p:cNvSpPr/>
          <p:nvPr/>
        </p:nvSpPr>
        <p:spPr>
          <a:xfrm>
            <a:off x="4882896" y="4279392"/>
            <a:ext cx="438912" cy="438912"/>
          </a:xfrm>
          <a:prstGeom prst="rect">
            <a:avLst/>
          </a:prstGeom>
          <a:solidFill>
            <a:srgbClr val="D5DF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5"/>
          <p:cNvSpPr/>
          <p:nvPr/>
        </p:nvSpPr>
        <p:spPr>
          <a:xfrm>
            <a:off x="5321808" y="4279392"/>
            <a:ext cx="438912" cy="438912"/>
          </a:xfrm>
          <a:prstGeom prst="rect">
            <a:avLst/>
          </a:prstGeom>
          <a:solidFill>
            <a:srgbClr val="F3F2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5"/>
          <p:cNvSpPr/>
          <p:nvPr/>
        </p:nvSpPr>
        <p:spPr>
          <a:xfrm>
            <a:off x="5760720" y="4279392"/>
            <a:ext cx="438912" cy="438912"/>
          </a:xfrm>
          <a:prstGeom prst="rect">
            <a:avLst/>
          </a:prstGeom>
          <a:solidFill>
            <a:srgbClr val="E8CAD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5"/>
          <p:cNvSpPr/>
          <p:nvPr/>
        </p:nvSpPr>
        <p:spPr>
          <a:xfrm>
            <a:off x="6199631" y="4279392"/>
            <a:ext cx="438912" cy="438912"/>
          </a:xfrm>
          <a:prstGeom prst="rect">
            <a:avLst/>
          </a:prstGeom>
          <a:solidFill>
            <a:srgbClr val="F2ECF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5"/>
          <p:cNvSpPr/>
          <p:nvPr/>
        </p:nvSpPr>
        <p:spPr>
          <a:xfrm>
            <a:off x="1371600" y="4718304"/>
            <a:ext cx="438912" cy="438912"/>
          </a:xfrm>
          <a:prstGeom prst="rect">
            <a:avLst/>
          </a:prstGeom>
          <a:solidFill>
            <a:srgbClr val="E7EC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5"/>
          <p:cNvSpPr/>
          <p:nvPr/>
        </p:nvSpPr>
        <p:spPr>
          <a:xfrm>
            <a:off x="1810512" y="4718304"/>
            <a:ext cx="438912" cy="438912"/>
          </a:xfrm>
          <a:prstGeom prst="rect">
            <a:avLst/>
          </a:prstGeom>
          <a:solidFill>
            <a:srgbClr val="C0C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5"/>
          <p:cNvSpPr/>
          <p:nvPr/>
        </p:nvSpPr>
        <p:spPr>
          <a:xfrm>
            <a:off x="2249424" y="4718304"/>
            <a:ext cx="438912" cy="438912"/>
          </a:xfrm>
          <a:prstGeom prst="rect">
            <a:avLst/>
          </a:prstGeom>
          <a:solidFill>
            <a:srgbClr val="E4BAC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5"/>
          <p:cNvSpPr/>
          <p:nvPr/>
        </p:nvSpPr>
        <p:spPr>
          <a:xfrm>
            <a:off x="2688336" y="4718304"/>
            <a:ext cx="438912" cy="438912"/>
          </a:xfrm>
          <a:prstGeom prst="rect">
            <a:avLst/>
          </a:prstGeom>
          <a:solidFill>
            <a:srgbClr val="E5BEC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5"/>
          <p:cNvSpPr/>
          <p:nvPr/>
        </p:nvSpPr>
        <p:spPr>
          <a:xfrm>
            <a:off x="3127248" y="4718304"/>
            <a:ext cx="438912" cy="438912"/>
          </a:xfrm>
          <a:prstGeom prst="rect">
            <a:avLst/>
          </a:prstGeom>
          <a:solidFill>
            <a:srgbClr val="D6879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5"/>
          <p:cNvSpPr txBox="1"/>
          <p:nvPr/>
        </p:nvSpPr>
        <p:spPr>
          <a:xfrm>
            <a:off x="3136391" y="4864608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0.55</a:t>
            </a:r>
            <a:endParaRPr/>
          </a:p>
        </p:txBody>
      </p:sp>
      <p:sp>
        <p:nvSpPr>
          <p:cNvPr id="317" name="Google Shape;317;p5"/>
          <p:cNvSpPr/>
          <p:nvPr/>
        </p:nvSpPr>
        <p:spPr>
          <a:xfrm>
            <a:off x="3566160" y="4718304"/>
            <a:ext cx="438912" cy="438912"/>
          </a:xfrm>
          <a:prstGeom prst="rect">
            <a:avLst/>
          </a:prstGeom>
          <a:solidFill>
            <a:srgbClr val="ECD6D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5"/>
          <p:cNvSpPr/>
          <p:nvPr/>
        </p:nvSpPr>
        <p:spPr>
          <a:xfrm>
            <a:off x="4005072" y="4718304"/>
            <a:ext cx="438912" cy="438912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5"/>
          <p:cNvSpPr txBox="1"/>
          <p:nvPr/>
        </p:nvSpPr>
        <p:spPr>
          <a:xfrm>
            <a:off x="4014215" y="4864608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320" name="Google Shape;320;p5"/>
          <p:cNvSpPr/>
          <p:nvPr/>
        </p:nvSpPr>
        <p:spPr>
          <a:xfrm>
            <a:off x="4443983" y="4718304"/>
            <a:ext cx="438912" cy="438912"/>
          </a:xfrm>
          <a:prstGeom prst="rect">
            <a:avLst/>
          </a:prstGeom>
          <a:solidFill>
            <a:srgbClr val="EDDC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5"/>
          <p:cNvSpPr/>
          <p:nvPr/>
        </p:nvSpPr>
        <p:spPr>
          <a:xfrm>
            <a:off x="4882896" y="4718304"/>
            <a:ext cx="438912" cy="438912"/>
          </a:xfrm>
          <a:prstGeom prst="rect">
            <a:avLst/>
          </a:prstGeom>
          <a:solidFill>
            <a:srgbClr val="EDDC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5"/>
          <p:cNvSpPr/>
          <p:nvPr/>
        </p:nvSpPr>
        <p:spPr>
          <a:xfrm>
            <a:off x="5321808" y="4718304"/>
            <a:ext cx="438912" cy="438912"/>
          </a:xfrm>
          <a:prstGeom prst="rect">
            <a:avLst/>
          </a:prstGeom>
          <a:solidFill>
            <a:srgbClr val="F4F4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5"/>
          <p:cNvSpPr/>
          <p:nvPr/>
        </p:nvSpPr>
        <p:spPr>
          <a:xfrm>
            <a:off x="5760720" y="4718304"/>
            <a:ext cx="438912" cy="438912"/>
          </a:xfrm>
          <a:prstGeom prst="rect">
            <a:avLst/>
          </a:prstGeom>
          <a:solidFill>
            <a:srgbClr val="7C9BD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5"/>
          <p:cNvSpPr txBox="1"/>
          <p:nvPr/>
        </p:nvSpPr>
        <p:spPr>
          <a:xfrm>
            <a:off x="5769864" y="4864608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-0.62</a:t>
            </a:r>
            <a:endParaRPr/>
          </a:p>
        </p:txBody>
      </p:sp>
      <p:sp>
        <p:nvSpPr>
          <p:cNvPr id="325" name="Google Shape;325;p5"/>
          <p:cNvSpPr/>
          <p:nvPr/>
        </p:nvSpPr>
        <p:spPr>
          <a:xfrm>
            <a:off x="6199631" y="4718304"/>
            <a:ext cx="438912" cy="438912"/>
          </a:xfrm>
          <a:prstGeom prst="rect">
            <a:avLst/>
          </a:prstGeom>
          <a:solidFill>
            <a:srgbClr val="D9E2F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5"/>
          <p:cNvSpPr/>
          <p:nvPr/>
        </p:nvSpPr>
        <p:spPr>
          <a:xfrm>
            <a:off x="1371600" y="5157216"/>
            <a:ext cx="438912" cy="438912"/>
          </a:xfrm>
          <a:prstGeom prst="rect">
            <a:avLst/>
          </a:prstGeom>
          <a:solidFill>
            <a:srgbClr val="F3F5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5"/>
          <p:cNvSpPr/>
          <p:nvPr/>
        </p:nvSpPr>
        <p:spPr>
          <a:xfrm>
            <a:off x="1810512" y="5157216"/>
            <a:ext cx="438912" cy="438912"/>
          </a:xfrm>
          <a:prstGeom prst="rect">
            <a:avLst/>
          </a:prstGeom>
          <a:solidFill>
            <a:srgbClr val="D5DF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5"/>
          <p:cNvSpPr/>
          <p:nvPr/>
        </p:nvSpPr>
        <p:spPr>
          <a:xfrm>
            <a:off x="2249424" y="5157216"/>
            <a:ext cx="438912" cy="438912"/>
          </a:xfrm>
          <a:prstGeom prst="rect">
            <a:avLst/>
          </a:prstGeom>
          <a:solidFill>
            <a:srgbClr val="CED9F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5"/>
          <p:cNvSpPr/>
          <p:nvPr/>
        </p:nvSpPr>
        <p:spPr>
          <a:xfrm>
            <a:off x="2688336" y="5157216"/>
            <a:ext cx="438912" cy="438912"/>
          </a:xfrm>
          <a:prstGeom prst="rect">
            <a:avLst/>
          </a:prstGeom>
          <a:solidFill>
            <a:srgbClr val="D1DCF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5"/>
          <p:cNvSpPr/>
          <p:nvPr/>
        </p:nvSpPr>
        <p:spPr>
          <a:xfrm>
            <a:off x="3127248" y="5157216"/>
            <a:ext cx="438912" cy="438912"/>
          </a:xfrm>
          <a:prstGeom prst="rect">
            <a:avLst/>
          </a:prstGeom>
          <a:solidFill>
            <a:srgbClr val="F1F4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5"/>
          <p:cNvSpPr/>
          <p:nvPr/>
        </p:nvSpPr>
        <p:spPr>
          <a:xfrm>
            <a:off x="3566160" y="5157216"/>
            <a:ext cx="438912" cy="438912"/>
          </a:xfrm>
          <a:prstGeom prst="rect">
            <a:avLst/>
          </a:prstGeom>
          <a:solidFill>
            <a:srgbClr val="D3DEF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5"/>
          <p:cNvSpPr/>
          <p:nvPr/>
        </p:nvSpPr>
        <p:spPr>
          <a:xfrm>
            <a:off x="4005072" y="5157216"/>
            <a:ext cx="438912" cy="438912"/>
          </a:xfrm>
          <a:prstGeom prst="rect">
            <a:avLst/>
          </a:prstGeom>
          <a:solidFill>
            <a:srgbClr val="EDDC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5"/>
          <p:cNvSpPr/>
          <p:nvPr/>
        </p:nvSpPr>
        <p:spPr>
          <a:xfrm>
            <a:off x="4443983" y="5157216"/>
            <a:ext cx="438912" cy="438912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5"/>
          <p:cNvSpPr txBox="1"/>
          <p:nvPr/>
        </p:nvSpPr>
        <p:spPr>
          <a:xfrm>
            <a:off x="4453127" y="5303520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335" name="Google Shape;335;p5"/>
          <p:cNvSpPr/>
          <p:nvPr/>
        </p:nvSpPr>
        <p:spPr>
          <a:xfrm>
            <a:off x="4882896" y="5157216"/>
            <a:ext cx="438912" cy="438912"/>
          </a:xfrm>
          <a:prstGeom prst="rect">
            <a:avLst/>
          </a:prstGeom>
          <a:solidFill>
            <a:srgbClr val="C5495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5"/>
          <p:cNvSpPr txBox="1"/>
          <p:nvPr/>
        </p:nvSpPr>
        <p:spPr>
          <a:xfrm>
            <a:off x="4892040" y="5303520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0.86</a:t>
            </a:r>
            <a:endParaRPr/>
          </a:p>
        </p:txBody>
      </p:sp>
      <p:sp>
        <p:nvSpPr>
          <p:cNvPr id="337" name="Google Shape;337;p5"/>
          <p:cNvSpPr/>
          <p:nvPr/>
        </p:nvSpPr>
        <p:spPr>
          <a:xfrm>
            <a:off x="5321808" y="5157216"/>
            <a:ext cx="438912" cy="438912"/>
          </a:xfrm>
          <a:prstGeom prst="rect">
            <a:avLst/>
          </a:prstGeom>
          <a:solidFill>
            <a:srgbClr val="E3E9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5"/>
          <p:cNvSpPr/>
          <p:nvPr/>
        </p:nvSpPr>
        <p:spPr>
          <a:xfrm>
            <a:off x="5760720" y="5157216"/>
            <a:ext cx="438912" cy="438912"/>
          </a:xfrm>
          <a:prstGeom prst="rect">
            <a:avLst/>
          </a:prstGeom>
          <a:solidFill>
            <a:srgbClr val="D3DEF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5"/>
          <p:cNvSpPr/>
          <p:nvPr/>
        </p:nvSpPr>
        <p:spPr>
          <a:xfrm>
            <a:off x="6199631" y="5157216"/>
            <a:ext cx="438912" cy="438912"/>
          </a:xfrm>
          <a:prstGeom prst="rect">
            <a:avLst/>
          </a:prstGeom>
          <a:solidFill>
            <a:srgbClr val="F3F5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5"/>
          <p:cNvSpPr/>
          <p:nvPr/>
        </p:nvSpPr>
        <p:spPr>
          <a:xfrm>
            <a:off x="1371600" y="5596127"/>
            <a:ext cx="438912" cy="438912"/>
          </a:xfrm>
          <a:prstGeom prst="rect">
            <a:avLst/>
          </a:prstGeom>
          <a:solidFill>
            <a:srgbClr val="F3F5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5"/>
          <p:cNvSpPr/>
          <p:nvPr/>
        </p:nvSpPr>
        <p:spPr>
          <a:xfrm>
            <a:off x="1810512" y="5596127"/>
            <a:ext cx="438912" cy="438912"/>
          </a:xfrm>
          <a:prstGeom prst="rect">
            <a:avLst/>
          </a:prstGeom>
          <a:solidFill>
            <a:srgbClr val="D5DF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5"/>
          <p:cNvSpPr/>
          <p:nvPr/>
        </p:nvSpPr>
        <p:spPr>
          <a:xfrm>
            <a:off x="2249424" y="5596127"/>
            <a:ext cx="438912" cy="438912"/>
          </a:xfrm>
          <a:prstGeom prst="rect">
            <a:avLst/>
          </a:prstGeom>
          <a:solidFill>
            <a:srgbClr val="D3DEF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5"/>
          <p:cNvSpPr/>
          <p:nvPr/>
        </p:nvSpPr>
        <p:spPr>
          <a:xfrm>
            <a:off x="2688336" y="5596127"/>
            <a:ext cx="438912" cy="438912"/>
          </a:xfrm>
          <a:prstGeom prst="rect">
            <a:avLst/>
          </a:prstGeom>
          <a:solidFill>
            <a:srgbClr val="CED9F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5"/>
          <p:cNvSpPr/>
          <p:nvPr/>
        </p:nvSpPr>
        <p:spPr>
          <a:xfrm>
            <a:off x="3127248" y="5596127"/>
            <a:ext cx="438912" cy="438912"/>
          </a:xfrm>
          <a:prstGeom prst="rect">
            <a:avLst/>
          </a:prstGeom>
          <a:solidFill>
            <a:srgbClr val="EFF2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5"/>
          <p:cNvSpPr/>
          <p:nvPr/>
        </p:nvSpPr>
        <p:spPr>
          <a:xfrm>
            <a:off x="3566160" y="5596127"/>
            <a:ext cx="438912" cy="438912"/>
          </a:xfrm>
          <a:prstGeom prst="rect">
            <a:avLst/>
          </a:prstGeom>
          <a:solidFill>
            <a:srgbClr val="D5DF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5"/>
          <p:cNvSpPr/>
          <p:nvPr/>
        </p:nvSpPr>
        <p:spPr>
          <a:xfrm>
            <a:off x="4005072" y="5596127"/>
            <a:ext cx="438912" cy="438912"/>
          </a:xfrm>
          <a:prstGeom prst="rect">
            <a:avLst/>
          </a:prstGeom>
          <a:solidFill>
            <a:srgbClr val="EDDC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5"/>
          <p:cNvSpPr/>
          <p:nvPr/>
        </p:nvSpPr>
        <p:spPr>
          <a:xfrm>
            <a:off x="4443983" y="5596127"/>
            <a:ext cx="438912" cy="438912"/>
          </a:xfrm>
          <a:prstGeom prst="rect">
            <a:avLst/>
          </a:prstGeom>
          <a:solidFill>
            <a:srgbClr val="C5495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"/>
          <p:cNvSpPr txBox="1"/>
          <p:nvPr/>
        </p:nvSpPr>
        <p:spPr>
          <a:xfrm>
            <a:off x="4453127" y="5742431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0.86</a:t>
            </a:r>
            <a:endParaRPr/>
          </a:p>
        </p:txBody>
      </p:sp>
      <p:sp>
        <p:nvSpPr>
          <p:cNvPr id="349" name="Google Shape;349;p5"/>
          <p:cNvSpPr/>
          <p:nvPr/>
        </p:nvSpPr>
        <p:spPr>
          <a:xfrm>
            <a:off x="4882896" y="5596127"/>
            <a:ext cx="438912" cy="438912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5"/>
          <p:cNvSpPr txBox="1"/>
          <p:nvPr/>
        </p:nvSpPr>
        <p:spPr>
          <a:xfrm>
            <a:off x="4892040" y="5742431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351" name="Google Shape;351;p5"/>
          <p:cNvSpPr/>
          <p:nvPr/>
        </p:nvSpPr>
        <p:spPr>
          <a:xfrm>
            <a:off x="5321808" y="5596127"/>
            <a:ext cx="438912" cy="438912"/>
          </a:xfrm>
          <a:prstGeom prst="rect">
            <a:avLst/>
          </a:prstGeom>
          <a:solidFill>
            <a:srgbClr val="E3E9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5"/>
          <p:cNvSpPr/>
          <p:nvPr/>
        </p:nvSpPr>
        <p:spPr>
          <a:xfrm>
            <a:off x="5760720" y="5596127"/>
            <a:ext cx="438912" cy="438912"/>
          </a:xfrm>
          <a:prstGeom prst="rect">
            <a:avLst/>
          </a:prstGeom>
          <a:solidFill>
            <a:srgbClr val="D1DCF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5"/>
          <p:cNvSpPr/>
          <p:nvPr/>
        </p:nvSpPr>
        <p:spPr>
          <a:xfrm>
            <a:off x="6199631" y="5596127"/>
            <a:ext cx="438912" cy="438912"/>
          </a:xfrm>
          <a:prstGeom prst="rect">
            <a:avLst/>
          </a:prstGeom>
          <a:solidFill>
            <a:srgbClr val="F1F4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5"/>
          <p:cNvSpPr/>
          <p:nvPr/>
        </p:nvSpPr>
        <p:spPr>
          <a:xfrm>
            <a:off x="1371600" y="6035040"/>
            <a:ext cx="438912" cy="438912"/>
          </a:xfrm>
          <a:prstGeom prst="rect">
            <a:avLst/>
          </a:prstGeom>
          <a:solidFill>
            <a:srgbClr val="F3F5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5"/>
          <p:cNvSpPr/>
          <p:nvPr/>
        </p:nvSpPr>
        <p:spPr>
          <a:xfrm>
            <a:off x="1810512" y="6035040"/>
            <a:ext cx="438912" cy="438912"/>
          </a:xfrm>
          <a:prstGeom prst="rect">
            <a:avLst/>
          </a:prstGeom>
          <a:solidFill>
            <a:srgbClr val="ECD6D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5"/>
          <p:cNvSpPr/>
          <p:nvPr/>
        </p:nvSpPr>
        <p:spPr>
          <a:xfrm>
            <a:off x="2249424" y="6035040"/>
            <a:ext cx="438912" cy="438912"/>
          </a:xfrm>
          <a:prstGeom prst="rect">
            <a:avLst/>
          </a:prstGeom>
          <a:solidFill>
            <a:srgbClr val="EBD2D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5"/>
          <p:cNvSpPr/>
          <p:nvPr/>
        </p:nvSpPr>
        <p:spPr>
          <a:xfrm>
            <a:off x="2688336" y="6035040"/>
            <a:ext cx="438912" cy="438912"/>
          </a:xfrm>
          <a:prstGeom prst="rect">
            <a:avLst/>
          </a:prstGeom>
          <a:solidFill>
            <a:srgbClr val="EDDAD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5"/>
          <p:cNvSpPr/>
          <p:nvPr/>
        </p:nvSpPr>
        <p:spPr>
          <a:xfrm>
            <a:off x="3127248" y="6035040"/>
            <a:ext cx="438912" cy="438912"/>
          </a:xfrm>
          <a:prstGeom prst="rect">
            <a:avLst/>
          </a:prstGeom>
          <a:solidFill>
            <a:srgbClr val="EFF2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5"/>
          <p:cNvSpPr/>
          <p:nvPr/>
        </p:nvSpPr>
        <p:spPr>
          <a:xfrm>
            <a:off x="3566160" y="6035040"/>
            <a:ext cx="438912" cy="438912"/>
          </a:xfrm>
          <a:prstGeom prst="rect">
            <a:avLst/>
          </a:prstGeom>
          <a:solidFill>
            <a:srgbClr val="F3F2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5"/>
          <p:cNvSpPr/>
          <p:nvPr/>
        </p:nvSpPr>
        <p:spPr>
          <a:xfrm>
            <a:off x="4005072" y="6035040"/>
            <a:ext cx="438912" cy="438912"/>
          </a:xfrm>
          <a:prstGeom prst="rect">
            <a:avLst/>
          </a:prstGeom>
          <a:solidFill>
            <a:srgbClr val="F4F4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5"/>
          <p:cNvSpPr/>
          <p:nvPr/>
        </p:nvSpPr>
        <p:spPr>
          <a:xfrm>
            <a:off x="4443983" y="6035040"/>
            <a:ext cx="438912" cy="438912"/>
          </a:xfrm>
          <a:prstGeom prst="rect">
            <a:avLst/>
          </a:prstGeom>
          <a:solidFill>
            <a:srgbClr val="E3E9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5"/>
          <p:cNvSpPr/>
          <p:nvPr/>
        </p:nvSpPr>
        <p:spPr>
          <a:xfrm>
            <a:off x="4882896" y="6035040"/>
            <a:ext cx="438912" cy="438912"/>
          </a:xfrm>
          <a:prstGeom prst="rect">
            <a:avLst/>
          </a:prstGeom>
          <a:solidFill>
            <a:srgbClr val="E3E9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5"/>
          <p:cNvSpPr/>
          <p:nvPr/>
        </p:nvSpPr>
        <p:spPr>
          <a:xfrm>
            <a:off x="5321808" y="6035040"/>
            <a:ext cx="438912" cy="438912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5"/>
          <p:cNvSpPr txBox="1"/>
          <p:nvPr/>
        </p:nvSpPr>
        <p:spPr>
          <a:xfrm>
            <a:off x="5330952" y="6181344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365" name="Google Shape;365;p5"/>
          <p:cNvSpPr/>
          <p:nvPr/>
        </p:nvSpPr>
        <p:spPr>
          <a:xfrm>
            <a:off x="5760720" y="6035040"/>
            <a:ext cx="438912" cy="438912"/>
          </a:xfrm>
          <a:prstGeom prst="rect">
            <a:avLst/>
          </a:prstGeom>
          <a:solidFill>
            <a:srgbClr val="EDF1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5"/>
          <p:cNvSpPr/>
          <p:nvPr/>
        </p:nvSpPr>
        <p:spPr>
          <a:xfrm>
            <a:off x="6199631" y="6035040"/>
            <a:ext cx="438912" cy="438912"/>
          </a:xfrm>
          <a:prstGeom prst="rect">
            <a:avLst/>
          </a:prstGeom>
          <a:solidFill>
            <a:srgbClr val="F3F2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5"/>
          <p:cNvSpPr/>
          <p:nvPr/>
        </p:nvSpPr>
        <p:spPr>
          <a:xfrm>
            <a:off x="1371600" y="6473952"/>
            <a:ext cx="438912" cy="438912"/>
          </a:xfrm>
          <a:prstGeom prst="rect">
            <a:avLst/>
          </a:prstGeom>
          <a:solidFill>
            <a:srgbClr val="F1F4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5"/>
          <p:cNvSpPr/>
          <p:nvPr/>
        </p:nvSpPr>
        <p:spPr>
          <a:xfrm>
            <a:off x="1810512" y="6473952"/>
            <a:ext cx="438912" cy="438912"/>
          </a:xfrm>
          <a:prstGeom prst="rect">
            <a:avLst/>
          </a:prstGeom>
          <a:solidFill>
            <a:srgbClr val="EDDAD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5"/>
          <p:cNvSpPr/>
          <p:nvPr/>
        </p:nvSpPr>
        <p:spPr>
          <a:xfrm>
            <a:off x="2249424" y="6473952"/>
            <a:ext cx="438912" cy="438912"/>
          </a:xfrm>
          <a:prstGeom prst="rect">
            <a:avLst/>
          </a:prstGeom>
          <a:solidFill>
            <a:srgbClr val="F2ECF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5"/>
          <p:cNvSpPr/>
          <p:nvPr/>
        </p:nvSpPr>
        <p:spPr>
          <a:xfrm>
            <a:off x="2688336" y="6473952"/>
            <a:ext cx="438912" cy="438912"/>
          </a:xfrm>
          <a:prstGeom prst="rect">
            <a:avLst/>
          </a:prstGeom>
          <a:solidFill>
            <a:srgbClr val="EBD4D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5"/>
          <p:cNvSpPr/>
          <p:nvPr/>
        </p:nvSpPr>
        <p:spPr>
          <a:xfrm>
            <a:off x="3127248" y="6473952"/>
            <a:ext cx="438912" cy="438912"/>
          </a:xfrm>
          <a:prstGeom prst="rect">
            <a:avLst/>
          </a:prstGeom>
          <a:solidFill>
            <a:srgbClr val="E3B8B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5"/>
          <p:cNvSpPr txBox="1"/>
          <p:nvPr/>
        </p:nvSpPr>
        <p:spPr>
          <a:xfrm>
            <a:off x="3136391" y="6620256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0.31</a:t>
            </a:r>
            <a:endParaRPr/>
          </a:p>
        </p:txBody>
      </p:sp>
      <p:sp>
        <p:nvSpPr>
          <p:cNvPr id="373" name="Google Shape;373;p5"/>
          <p:cNvSpPr/>
          <p:nvPr/>
        </p:nvSpPr>
        <p:spPr>
          <a:xfrm>
            <a:off x="3566160" y="6473952"/>
            <a:ext cx="438912" cy="438912"/>
          </a:xfrm>
          <a:prstGeom prst="rect">
            <a:avLst/>
          </a:prstGeom>
          <a:solidFill>
            <a:srgbClr val="E8CAD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5"/>
          <p:cNvSpPr/>
          <p:nvPr/>
        </p:nvSpPr>
        <p:spPr>
          <a:xfrm>
            <a:off x="4005072" y="6473952"/>
            <a:ext cx="438912" cy="438912"/>
          </a:xfrm>
          <a:prstGeom prst="rect">
            <a:avLst/>
          </a:prstGeom>
          <a:solidFill>
            <a:srgbClr val="7C9BD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5"/>
          <p:cNvSpPr txBox="1"/>
          <p:nvPr/>
        </p:nvSpPr>
        <p:spPr>
          <a:xfrm>
            <a:off x="4014215" y="6620256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-0.62</a:t>
            </a:r>
            <a:endParaRPr/>
          </a:p>
        </p:txBody>
      </p:sp>
      <p:sp>
        <p:nvSpPr>
          <p:cNvPr id="376" name="Google Shape;376;p5"/>
          <p:cNvSpPr/>
          <p:nvPr/>
        </p:nvSpPr>
        <p:spPr>
          <a:xfrm>
            <a:off x="4443983" y="6473952"/>
            <a:ext cx="438912" cy="438912"/>
          </a:xfrm>
          <a:prstGeom prst="rect">
            <a:avLst/>
          </a:prstGeom>
          <a:solidFill>
            <a:srgbClr val="D3DEF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5"/>
          <p:cNvSpPr/>
          <p:nvPr/>
        </p:nvSpPr>
        <p:spPr>
          <a:xfrm>
            <a:off x="4882896" y="6473952"/>
            <a:ext cx="438912" cy="438912"/>
          </a:xfrm>
          <a:prstGeom prst="rect">
            <a:avLst/>
          </a:prstGeom>
          <a:solidFill>
            <a:srgbClr val="D1DCF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5"/>
          <p:cNvSpPr/>
          <p:nvPr/>
        </p:nvSpPr>
        <p:spPr>
          <a:xfrm>
            <a:off x="5321808" y="6473952"/>
            <a:ext cx="438912" cy="438912"/>
          </a:xfrm>
          <a:prstGeom prst="rect">
            <a:avLst/>
          </a:prstGeom>
          <a:solidFill>
            <a:srgbClr val="EDF1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5"/>
          <p:cNvSpPr/>
          <p:nvPr/>
        </p:nvSpPr>
        <p:spPr>
          <a:xfrm>
            <a:off x="5760720" y="6473952"/>
            <a:ext cx="438912" cy="438912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5"/>
          <p:cNvSpPr txBox="1"/>
          <p:nvPr/>
        </p:nvSpPr>
        <p:spPr>
          <a:xfrm>
            <a:off x="5769864" y="6620256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381" name="Google Shape;381;p5"/>
          <p:cNvSpPr/>
          <p:nvPr/>
        </p:nvSpPr>
        <p:spPr>
          <a:xfrm>
            <a:off x="6199631" y="6473952"/>
            <a:ext cx="438912" cy="438912"/>
          </a:xfrm>
          <a:prstGeom prst="rect">
            <a:avLst/>
          </a:prstGeom>
          <a:solidFill>
            <a:srgbClr val="D9929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5"/>
          <p:cNvSpPr txBox="1"/>
          <p:nvPr/>
        </p:nvSpPr>
        <p:spPr>
          <a:xfrm>
            <a:off x="6208775" y="6620256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0.50</a:t>
            </a:r>
            <a:endParaRPr/>
          </a:p>
        </p:txBody>
      </p:sp>
      <p:sp>
        <p:nvSpPr>
          <p:cNvPr id="383" name="Google Shape;383;p5"/>
          <p:cNvSpPr/>
          <p:nvPr/>
        </p:nvSpPr>
        <p:spPr>
          <a:xfrm>
            <a:off x="1371600" y="6912863"/>
            <a:ext cx="438912" cy="438912"/>
          </a:xfrm>
          <a:prstGeom prst="rect">
            <a:avLst/>
          </a:prstGeom>
          <a:solidFill>
            <a:srgbClr val="EDF1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5"/>
          <p:cNvSpPr/>
          <p:nvPr/>
        </p:nvSpPr>
        <p:spPr>
          <a:xfrm>
            <a:off x="1810512" y="6912863"/>
            <a:ext cx="438912" cy="438912"/>
          </a:xfrm>
          <a:prstGeom prst="rect">
            <a:avLst/>
          </a:prstGeom>
          <a:solidFill>
            <a:srgbClr val="E9EE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5"/>
          <p:cNvSpPr/>
          <p:nvPr/>
        </p:nvSpPr>
        <p:spPr>
          <a:xfrm>
            <a:off x="2249424" y="6912863"/>
            <a:ext cx="438912" cy="438912"/>
          </a:xfrm>
          <a:prstGeom prst="rect">
            <a:avLst/>
          </a:prstGeom>
          <a:solidFill>
            <a:srgbClr val="F1EAE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5"/>
          <p:cNvSpPr/>
          <p:nvPr/>
        </p:nvSpPr>
        <p:spPr>
          <a:xfrm>
            <a:off x="2688336" y="6912863"/>
            <a:ext cx="438912" cy="438912"/>
          </a:xfrm>
          <a:prstGeom prst="rect">
            <a:avLst/>
          </a:prstGeom>
          <a:solidFill>
            <a:srgbClr val="EDDAD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5"/>
          <p:cNvSpPr/>
          <p:nvPr/>
        </p:nvSpPr>
        <p:spPr>
          <a:xfrm>
            <a:off x="3127248" y="6912863"/>
            <a:ext cx="438912" cy="438912"/>
          </a:xfrm>
          <a:prstGeom prst="rect">
            <a:avLst/>
          </a:prstGeom>
          <a:solidFill>
            <a:srgbClr val="E1AEB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5"/>
          <p:cNvSpPr txBox="1"/>
          <p:nvPr/>
        </p:nvSpPr>
        <p:spPr>
          <a:xfrm>
            <a:off x="3136391" y="7059167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0.36</a:t>
            </a:r>
            <a:endParaRPr/>
          </a:p>
        </p:txBody>
      </p:sp>
      <p:sp>
        <p:nvSpPr>
          <p:cNvPr id="389" name="Google Shape;389;p5"/>
          <p:cNvSpPr/>
          <p:nvPr/>
        </p:nvSpPr>
        <p:spPr>
          <a:xfrm>
            <a:off x="3566160" y="6912863"/>
            <a:ext cx="438912" cy="438912"/>
          </a:xfrm>
          <a:prstGeom prst="rect">
            <a:avLst/>
          </a:prstGeom>
          <a:solidFill>
            <a:srgbClr val="F2ECF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5"/>
          <p:cNvSpPr/>
          <p:nvPr/>
        </p:nvSpPr>
        <p:spPr>
          <a:xfrm>
            <a:off x="4005072" y="6912863"/>
            <a:ext cx="438912" cy="438912"/>
          </a:xfrm>
          <a:prstGeom prst="rect">
            <a:avLst/>
          </a:prstGeom>
          <a:solidFill>
            <a:srgbClr val="D9E2F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5"/>
          <p:cNvSpPr/>
          <p:nvPr/>
        </p:nvSpPr>
        <p:spPr>
          <a:xfrm>
            <a:off x="4443983" y="6912863"/>
            <a:ext cx="438912" cy="438912"/>
          </a:xfrm>
          <a:prstGeom prst="rect">
            <a:avLst/>
          </a:prstGeom>
          <a:solidFill>
            <a:srgbClr val="F3F5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5"/>
          <p:cNvSpPr/>
          <p:nvPr/>
        </p:nvSpPr>
        <p:spPr>
          <a:xfrm>
            <a:off x="4882896" y="6912863"/>
            <a:ext cx="438912" cy="438912"/>
          </a:xfrm>
          <a:prstGeom prst="rect">
            <a:avLst/>
          </a:prstGeom>
          <a:solidFill>
            <a:srgbClr val="F1F4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5"/>
          <p:cNvSpPr/>
          <p:nvPr/>
        </p:nvSpPr>
        <p:spPr>
          <a:xfrm>
            <a:off x="5321808" y="6912863"/>
            <a:ext cx="438912" cy="438912"/>
          </a:xfrm>
          <a:prstGeom prst="rect">
            <a:avLst/>
          </a:prstGeom>
          <a:solidFill>
            <a:srgbClr val="F3F2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5"/>
          <p:cNvSpPr/>
          <p:nvPr/>
        </p:nvSpPr>
        <p:spPr>
          <a:xfrm>
            <a:off x="5760720" y="6912863"/>
            <a:ext cx="438912" cy="438912"/>
          </a:xfrm>
          <a:prstGeom prst="rect">
            <a:avLst/>
          </a:prstGeom>
          <a:solidFill>
            <a:srgbClr val="D9929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5"/>
          <p:cNvSpPr txBox="1"/>
          <p:nvPr/>
        </p:nvSpPr>
        <p:spPr>
          <a:xfrm>
            <a:off x="5769864" y="7059167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0.50</a:t>
            </a:r>
            <a:endParaRPr/>
          </a:p>
        </p:txBody>
      </p:sp>
      <p:sp>
        <p:nvSpPr>
          <p:cNvPr id="396" name="Google Shape;396;p5"/>
          <p:cNvSpPr/>
          <p:nvPr/>
        </p:nvSpPr>
        <p:spPr>
          <a:xfrm>
            <a:off x="6199631" y="6912863"/>
            <a:ext cx="438912" cy="438912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5"/>
          <p:cNvSpPr txBox="1"/>
          <p:nvPr/>
        </p:nvSpPr>
        <p:spPr>
          <a:xfrm>
            <a:off x="6208775" y="7059167"/>
            <a:ext cx="4206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398" name="Google Shape;398;p5"/>
          <p:cNvSpPr txBox="1"/>
          <p:nvPr/>
        </p:nvSpPr>
        <p:spPr>
          <a:xfrm>
            <a:off x="6858000" y="2011680"/>
            <a:ext cx="6995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Tres lecturas clave</a:t>
            </a:r>
            <a:endParaRPr/>
          </a:p>
        </p:txBody>
      </p:sp>
      <p:sp>
        <p:nvSpPr>
          <p:cNvPr id="399" name="Google Shape;399;p5"/>
          <p:cNvSpPr/>
          <p:nvPr/>
        </p:nvSpPr>
        <p:spPr>
          <a:xfrm>
            <a:off x="6858000" y="2487168"/>
            <a:ext cx="6995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"/>
          <p:cNvSpPr/>
          <p:nvPr/>
        </p:nvSpPr>
        <p:spPr>
          <a:xfrm>
            <a:off x="7022592" y="2743200"/>
            <a:ext cx="457200" cy="457200"/>
          </a:xfrm>
          <a:prstGeom prst="ellipse">
            <a:avLst/>
          </a:prstGeom>
          <a:solidFill>
            <a:srgbClr val="2463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5"/>
          <p:cNvSpPr txBox="1"/>
          <p:nvPr/>
        </p:nvSpPr>
        <p:spPr>
          <a:xfrm>
            <a:off x="7022592" y="2834640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2" name="Google Shape;402;p5"/>
          <p:cNvSpPr txBox="1"/>
          <p:nvPr/>
        </p:nvSpPr>
        <p:spPr>
          <a:xfrm>
            <a:off x="7644383" y="2651760"/>
            <a:ext cx="5989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No hay una correlación única dominante con delayed</a:t>
            </a:r>
            <a:endParaRPr/>
          </a:p>
        </p:txBody>
      </p:sp>
      <p:sp>
        <p:nvSpPr>
          <p:cNvPr id="403" name="Google Shape;403;p5"/>
          <p:cNvSpPr txBox="1"/>
          <p:nvPr/>
        </p:nvSpPr>
        <p:spPr>
          <a:xfrm>
            <a:off x="7644383" y="2962656"/>
            <a:ext cx="5897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La clase atrasada no se explica por una sola variable original.</a:t>
            </a:r>
            <a:endParaRPr/>
          </a:p>
        </p:txBody>
      </p:sp>
      <p:sp>
        <p:nvSpPr>
          <p:cNvPr id="404" name="Google Shape;404;p5"/>
          <p:cNvSpPr/>
          <p:nvPr/>
        </p:nvSpPr>
        <p:spPr>
          <a:xfrm>
            <a:off x="6858000" y="3767328"/>
            <a:ext cx="6995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F299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5"/>
          <p:cNvSpPr/>
          <p:nvPr/>
        </p:nvSpPr>
        <p:spPr>
          <a:xfrm>
            <a:off x="7022592" y="4023360"/>
            <a:ext cx="457200" cy="457200"/>
          </a:xfrm>
          <a:prstGeom prst="ellipse">
            <a:avLst/>
          </a:prstGeom>
          <a:solidFill>
            <a:srgbClr val="F299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5"/>
          <p:cNvSpPr txBox="1"/>
          <p:nvPr/>
        </p:nvSpPr>
        <p:spPr>
          <a:xfrm>
            <a:off x="7022592" y="4114800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07" name="Google Shape;407;p5"/>
          <p:cNvSpPr txBox="1"/>
          <p:nvPr/>
        </p:nvSpPr>
        <p:spPr>
          <a:xfrm>
            <a:off x="7644383" y="3931920"/>
            <a:ext cx="5989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Hay redundancias y relaciones mecánicas</a:t>
            </a:r>
            <a:endParaRPr/>
          </a:p>
        </p:txBody>
      </p:sp>
      <p:sp>
        <p:nvSpPr>
          <p:cNvPr id="408" name="Google Shape;408;p5"/>
          <p:cNvSpPr txBox="1"/>
          <p:nvPr/>
        </p:nvSpPr>
        <p:spPr>
          <a:xfrm>
            <a:off x="7644383" y="4242816"/>
            <a:ext cx="5897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IndexP/IndexA, DistanceP/DistanceA y Latest Time vs delay deben leerse con cuidado.</a:t>
            </a:r>
            <a:endParaRPr/>
          </a:p>
        </p:txBody>
      </p:sp>
      <p:sp>
        <p:nvSpPr>
          <p:cNvPr id="409" name="Google Shape;409;p5"/>
          <p:cNvSpPr/>
          <p:nvPr/>
        </p:nvSpPr>
        <p:spPr>
          <a:xfrm>
            <a:off x="6858000" y="5047488"/>
            <a:ext cx="6995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5"/>
          <p:cNvSpPr/>
          <p:nvPr/>
        </p:nvSpPr>
        <p:spPr>
          <a:xfrm>
            <a:off x="7022592" y="5303520"/>
            <a:ext cx="457200" cy="457200"/>
          </a:xfrm>
          <a:prstGeom prst="ellipse">
            <a:avLst/>
          </a:prstGeom>
          <a:solidFill>
            <a:srgbClr val="28A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5"/>
          <p:cNvSpPr txBox="1"/>
          <p:nvPr/>
        </p:nvSpPr>
        <p:spPr>
          <a:xfrm>
            <a:off x="7022592" y="5394959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12" name="Google Shape;412;p5"/>
          <p:cNvSpPr txBox="1"/>
          <p:nvPr/>
        </p:nvSpPr>
        <p:spPr>
          <a:xfrm>
            <a:off x="7644383" y="5212079"/>
            <a:ext cx="5989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La señal aparece al construir contexto</a:t>
            </a:r>
            <a:endParaRPr/>
          </a:p>
        </p:txBody>
      </p:sp>
      <p:sp>
        <p:nvSpPr>
          <p:cNvPr id="413" name="Google Shape;413;p5"/>
          <p:cNvSpPr txBox="1"/>
          <p:nvPr/>
        </p:nvSpPr>
        <p:spPr>
          <a:xfrm>
            <a:off x="7644383" y="5522975"/>
            <a:ext cx="5897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Por eso se crean ventana, historial del conductor y acumulación de atrasos en ruta.</a:t>
            </a:r>
            <a:endParaRPr/>
          </a:p>
        </p:txBody>
      </p:sp>
      <p:sp>
        <p:nvSpPr>
          <p:cNvPr id="414" name="Google Shape;414;p5"/>
          <p:cNvSpPr/>
          <p:nvPr/>
        </p:nvSpPr>
        <p:spPr>
          <a:xfrm>
            <a:off x="6858000" y="6419088"/>
            <a:ext cx="6995160" cy="475488"/>
          </a:xfrm>
          <a:prstGeom prst="roundRect">
            <a:avLst>
              <a:gd fmla="val 16667" name="adj"/>
            </a:avLst>
          </a:prstGeom>
          <a:solidFill>
            <a:srgbClr val="142B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5"/>
          <p:cNvSpPr txBox="1"/>
          <p:nvPr/>
        </p:nvSpPr>
        <p:spPr>
          <a:xfrm>
            <a:off x="7040880" y="6537960"/>
            <a:ext cx="6629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IDs, Depot y Day of Week se analizaron fuera de esta matriz principal.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"/>
          <p:cNvSpPr txBox="1"/>
          <p:nvPr/>
        </p:nvSpPr>
        <p:spPr>
          <a:xfrm>
            <a:off x="685800" y="3200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DATA PREPARATION</a:t>
            </a:r>
            <a:endParaRPr/>
          </a:p>
        </p:txBody>
      </p:sp>
      <p:sp>
        <p:nvSpPr>
          <p:cNvPr id="421" name="Google Shape;421;p6"/>
          <p:cNvSpPr txBox="1"/>
          <p:nvPr/>
        </p:nvSpPr>
        <p:spPr>
          <a:xfrm>
            <a:off x="685800" y="676656"/>
            <a:ext cx="11155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Preparar datos sin borrar realidad operacional</a:t>
            </a:r>
            <a:endParaRPr/>
          </a:p>
        </p:txBody>
      </p:sp>
      <p:sp>
        <p:nvSpPr>
          <p:cNvPr id="422" name="Google Shape;422;p6"/>
          <p:cNvSpPr txBox="1"/>
          <p:nvPr/>
        </p:nvSpPr>
        <p:spPr>
          <a:xfrm>
            <a:off x="713232" y="1188720"/>
            <a:ext cx="1188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La limpieza elimina inconsistencias claras, pero conserva extremos plausibles que representan rutas reales.</a:t>
            </a:r>
            <a:endParaRPr/>
          </a:p>
        </p:txBody>
      </p:sp>
      <p:sp>
        <p:nvSpPr>
          <p:cNvPr id="423" name="Google Shape;423;p6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6"/>
          <p:cNvSpPr/>
          <p:nvPr/>
        </p:nvSpPr>
        <p:spPr>
          <a:xfrm>
            <a:off x="822960" y="2331720"/>
            <a:ext cx="288036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D645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6"/>
          <p:cNvSpPr/>
          <p:nvPr/>
        </p:nvSpPr>
        <p:spPr>
          <a:xfrm>
            <a:off x="1051560" y="2606040"/>
            <a:ext cx="530352" cy="530352"/>
          </a:xfrm>
          <a:prstGeom prst="ellipse">
            <a:avLst/>
          </a:prstGeom>
          <a:solidFill>
            <a:srgbClr val="D645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6"/>
          <p:cNvSpPr txBox="1"/>
          <p:nvPr/>
        </p:nvSpPr>
        <p:spPr>
          <a:xfrm>
            <a:off x="1051560" y="2724912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27" name="Google Shape;427;p6"/>
          <p:cNvSpPr txBox="1"/>
          <p:nvPr/>
        </p:nvSpPr>
        <p:spPr>
          <a:xfrm>
            <a:off x="1051560" y="333756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Limpiar invalidos</a:t>
            </a:r>
            <a:endParaRPr/>
          </a:p>
        </p:txBody>
      </p:sp>
      <p:sp>
        <p:nvSpPr>
          <p:cNvPr id="428" name="Google Shape;428;p6"/>
          <p:cNvSpPr txBox="1"/>
          <p:nvPr/>
        </p:nvSpPr>
        <p:spPr>
          <a:xfrm>
            <a:off x="1078992" y="3931920"/>
            <a:ext cx="23591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Tiempos imposibles, ventanas invalidas y registros fuera de escala.</a:t>
            </a:r>
            <a:endParaRPr/>
          </a:p>
        </p:txBody>
      </p:sp>
      <p:sp>
        <p:nvSpPr>
          <p:cNvPr id="429" name="Google Shape;429;p6"/>
          <p:cNvSpPr/>
          <p:nvPr/>
        </p:nvSpPr>
        <p:spPr>
          <a:xfrm>
            <a:off x="4251960" y="2331720"/>
            <a:ext cx="288036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F299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6"/>
          <p:cNvSpPr/>
          <p:nvPr/>
        </p:nvSpPr>
        <p:spPr>
          <a:xfrm>
            <a:off x="4480560" y="2606040"/>
            <a:ext cx="530352" cy="530352"/>
          </a:xfrm>
          <a:prstGeom prst="ellipse">
            <a:avLst/>
          </a:prstGeom>
          <a:solidFill>
            <a:srgbClr val="F299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6"/>
          <p:cNvSpPr txBox="1"/>
          <p:nvPr/>
        </p:nvSpPr>
        <p:spPr>
          <a:xfrm>
            <a:off x="4480560" y="2724912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32" name="Google Shape;432;p6"/>
          <p:cNvSpPr txBox="1"/>
          <p:nvPr/>
        </p:nvSpPr>
        <p:spPr>
          <a:xfrm>
            <a:off x="4480560" y="333756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Conservar outliers plausibles</a:t>
            </a:r>
            <a:endParaRPr/>
          </a:p>
        </p:txBody>
      </p:sp>
      <p:sp>
        <p:nvSpPr>
          <p:cNvPr id="433" name="Google Shape;433;p6"/>
          <p:cNvSpPr txBox="1"/>
          <p:nvPr/>
        </p:nvSpPr>
        <p:spPr>
          <a:xfrm>
            <a:off x="4507992" y="3931920"/>
            <a:ext cx="23591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Distancias largas, muchas paradas o desviaciones pueden ser operación real.</a:t>
            </a:r>
            <a:endParaRPr/>
          </a:p>
        </p:txBody>
      </p:sp>
      <p:sp>
        <p:nvSpPr>
          <p:cNvPr id="434" name="Google Shape;434;p6"/>
          <p:cNvSpPr/>
          <p:nvPr/>
        </p:nvSpPr>
        <p:spPr>
          <a:xfrm>
            <a:off x="7680960" y="2331720"/>
            <a:ext cx="288036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6"/>
          <p:cNvSpPr/>
          <p:nvPr/>
        </p:nvSpPr>
        <p:spPr>
          <a:xfrm>
            <a:off x="7909560" y="2606040"/>
            <a:ext cx="530352" cy="530352"/>
          </a:xfrm>
          <a:prstGeom prst="ellipse">
            <a:avLst/>
          </a:prstGeom>
          <a:solidFill>
            <a:srgbClr val="2463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6"/>
          <p:cNvSpPr txBox="1"/>
          <p:nvPr/>
        </p:nvSpPr>
        <p:spPr>
          <a:xfrm>
            <a:off x="7909560" y="2724912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37" name="Google Shape;437;p6"/>
          <p:cNvSpPr txBox="1"/>
          <p:nvPr/>
        </p:nvSpPr>
        <p:spPr>
          <a:xfrm>
            <a:off x="7909560" y="333756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Validar y transformar</a:t>
            </a:r>
            <a:endParaRPr/>
          </a:p>
        </p:txBody>
      </p:sp>
      <p:sp>
        <p:nvSpPr>
          <p:cNvPr id="438" name="Google Shape;438;p6"/>
          <p:cNvSpPr txBox="1"/>
          <p:nvPr/>
        </p:nvSpPr>
        <p:spPr>
          <a:xfrm>
            <a:off x="7936992" y="3931920"/>
            <a:ext cx="23591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 nulos en X, Day of Week con OHE y escalado solo desde train.</a:t>
            </a:r>
            <a:endParaRPr/>
          </a:p>
        </p:txBody>
      </p:sp>
      <p:sp>
        <p:nvSpPr>
          <p:cNvPr id="439" name="Google Shape;439;p6"/>
          <p:cNvSpPr/>
          <p:nvPr/>
        </p:nvSpPr>
        <p:spPr>
          <a:xfrm>
            <a:off x="11109960" y="2331720"/>
            <a:ext cx="288036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6"/>
          <p:cNvSpPr/>
          <p:nvPr/>
        </p:nvSpPr>
        <p:spPr>
          <a:xfrm>
            <a:off x="11338560" y="2606040"/>
            <a:ext cx="530352" cy="530352"/>
          </a:xfrm>
          <a:prstGeom prst="ellipse">
            <a:avLst/>
          </a:prstGeom>
          <a:solidFill>
            <a:srgbClr val="28A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6"/>
          <p:cNvSpPr txBox="1"/>
          <p:nvPr/>
        </p:nvSpPr>
        <p:spPr>
          <a:xfrm>
            <a:off x="11338560" y="2724912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42" name="Google Shape;442;p6"/>
          <p:cNvSpPr txBox="1"/>
          <p:nvPr/>
        </p:nvSpPr>
        <p:spPr>
          <a:xfrm>
            <a:off x="11338560" y="333756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Separar temporalmente</a:t>
            </a:r>
            <a:endParaRPr/>
          </a:p>
        </p:txBody>
      </p:sp>
      <p:sp>
        <p:nvSpPr>
          <p:cNvPr id="443" name="Google Shape;443;p6"/>
          <p:cNvSpPr txBox="1"/>
          <p:nvPr/>
        </p:nvSpPr>
        <p:spPr>
          <a:xfrm>
            <a:off x="11365992" y="3931920"/>
            <a:ext cx="23591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Entrenar con semanas anteriores y evaluar semanas posteriores.</a:t>
            </a:r>
            <a:endParaRPr/>
          </a:p>
        </p:txBody>
      </p:sp>
      <p:sp>
        <p:nvSpPr>
          <p:cNvPr id="444" name="Google Shape;444;p6"/>
          <p:cNvSpPr/>
          <p:nvPr/>
        </p:nvSpPr>
        <p:spPr>
          <a:xfrm>
            <a:off x="822960" y="5669280"/>
            <a:ext cx="13167360" cy="1051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6"/>
          <p:cNvSpPr txBox="1"/>
          <p:nvPr/>
        </p:nvSpPr>
        <p:spPr>
          <a:xfrm>
            <a:off x="1051560" y="5833872"/>
            <a:ext cx="1271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Salida para modelado</a:t>
            </a:r>
            <a:endParaRPr/>
          </a:p>
        </p:txBody>
      </p:sp>
      <p:sp>
        <p:nvSpPr>
          <p:cNvPr id="446" name="Google Shape;446;p6"/>
          <p:cNvSpPr txBox="1"/>
          <p:nvPr/>
        </p:nvSpPr>
        <p:spPr>
          <a:xfrm>
            <a:off x="1097280" y="6199632"/>
            <a:ext cx="1261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Dos versiones de X: escalada para modelos lineales y sin escalar para árboles. En ambos casos, el scaler se ajusta solo con train.</a:t>
            </a:r>
            <a:endParaRPr/>
          </a:p>
        </p:txBody>
      </p:sp>
      <p:sp>
        <p:nvSpPr>
          <p:cNvPr id="447" name="Google Shape;447;p6"/>
          <p:cNvSpPr/>
          <p:nvPr/>
        </p:nvSpPr>
        <p:spPr>
          <a:xfrm>
            <a:off x="822960" y="7040880"/>
            <a:ext cx="13167360" cy="365760"/>
          </a:xfrm>
          <a:prstGeom prst="roundRect">
            <a:avLst>
              <a:gd fmla="val 16667" name="adj"/>
            </a:avLst>
          </a:prstGeom>
          <a:solidFill>
            <a:srgbClr val="142B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6"/>
          <p:cNvSpPr txBox="1"/>
          <p:nvPr/>
        </p:nvSpPr>
        <p:spPr>
          <a:xfrm>
            <a:off x="1005840" y="7114032"/>
            <a:ext cx="128016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Criterio central: limpiar errores, no simplificar artificialmente la operación.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"/>
          <p:cNvSpPr txBox="1"/>
          <p:nvPr/>
        </p:nvSpPr>
        <p:spPr>
          <a:xfrm>
            <a:off x="685800" y="3200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/>
          </a:p>
        </p:txBody>
      </p:sp>
      <p:sp>
        <p:nvSpPr>
          <p:cNvPr id="454" name="Google Shape;454;p7"/>
          <p:cNvSpPr txBox="1"/>
          <p:nvPr/>
        </p:nvSpPr>
        <p:spPr>
          <a:xfrm>
            <a:off x="685800" y="676656"/>
            <a:ext cx="11704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Las variables derivadas revelan señales que no estaban claras</a:t>
            </a:r>
            <a:endParaRPr/>
          </a:p>
        </p:txBody>
      </p:sp>
      <p:sp>
        <p:nvSpPr>
          <p:cNvPr id="455" name="Google Shape;455;p7"/>
          <p:cNvSpPr txBox="1"/>
          <p:nvPr/>
        </p:nvSpPr>
        <p:spPr>
          <a:xfrm>
            <a:off x="713232" y="1170432"/>
            <a:ext cx="1225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Después de la matriz original, se construyen variables que capturan margen horario, acumulación de atrasos e historial operativo.</a:t>
            </a:r>
            <a:endParaRPr/>
          </a:p>
        </p:txBody>
      </p:sp>
      <p:sp>
        <p:nvSpPr>
          <p:cNvPr id="456" name="Google Shape;456;p7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7"/>
          <p:cNvSpPr/>
          <p:nvPr/>
        </p:nvSpPr>
        <p:spPr>
          <a:xfrm>
            <a:off x="777240" y="2176272"/>
            <a:ext cx="425196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325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7"/>
          <p:cNvSpPr txBox="1"/>
          <p:nvPr/>
        </p:nvSpPr>
        <p:spPr>
          <a:xfrm>
            <a:off x="1005840" y="2286000"/>
            <a:ext cx="37490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Ventana</a:t>
            </a:r>
            <a:endParaRPr/>
          </a:p>
        </p:txBody>
      </p:sp>
      <p:sp>
        <p:nvSpPr>
          <p:cNvPr id="459" name="Google Shape;459;p7"/>
          <p:cNvSpPr txBox="1"/>
          <p:nvPr/>
        </p:nvSpPr>
        <p:spPr>
          <a:xfrm>
            <a:off x="1005840" y="2569464"/>
            <a:ext cx="37490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margen horario</a:t>
            </a:r>
            <a:endParaRPr/>
          </a:p>
        </p:txBody>
      </p:sp>
      <p:sp>
        <p:nvSpPr>
          <p:cNvPr id="460" name="Google Shape;460;p7"/>
          <p:cNvSpPr/>
          <p:nvPr/>
        </p:nvSpPr>
        <p:spPr>
          <a:xfrm>
            <a:off x="777240" y="3072384"/>
            <a:ext cx="425196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325">
            <a:solidFill>
              <a:srgbClr val="F299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7"/>
          <p:cNvSpPr txBox="1"/>
          <p:nvPr/>
        </p:nvSpPr>
        <p:spPr>
          <a:xfrm>
            <a:off x="1005840" y="3182112"/>
            <a:ext cx="37490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Plan vs ejecución</a:t>
            </a:r>
            <a:endParaRPr/>
          </a:p>
        </p:txBody>
      </p:sp>
      <p:sp>
        <p:nvSpPr>
          <p:cNvPr id="462" name="Google Shape;462;p7"/>
          <p:cNvSpPr txBox="1"/>
          <p:nvPr/>
        </p:nvSpPr>
        <p:spPr>
          <a:xfrm>
            <a:off x="1005840" y="3465576"/>
            <a:ext cx="37490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diferencias plan/real</a:t>
            </a:r>
            <a:endParaRPr/>
          </a:p>
        </p:txBody>
      </p:sp>
      <p:sp>
        <p:nvSpPr>
          <p:cNvPr id="463" name="Google Shape;463;p7"/>
          <p:cNvSpPr/>
          <p:nvPr/>
        </p:nvSpPr>
        <p:spPr>
          <a:xfrm>
            <a:off x="777240" y="3968496"/>
            <a:ext cx="425196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325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7"/>
          <p:cNvSpPr txBox="1"/>
          <p:nvPr/>
        </p:nvSpPr>
        <p:spPr>
          <a:xfrm>
            <a:off x="1005840" y="4078224"/>
            <a:ext cx="37490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Ruta en curso</a:t>
            </a:r>
            <a:endParaRPr/>
          </a:p>
        </p:txBody>
      </p:sp>
      <p:sp>
        <p:nvSpPr>
          <p:cNvPr id="465" name="Google Shape;465;p7"/>
          <p:cNvSpPr txBox="1"/>
          <p:nvPr/>
        </p:nvSpPr>
        <p:spPr>
          <a:xfrm>
            <a:off x="1005840" y="4361688"/>
            <a:ext cx="37490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atraso acumulado</a:t>
            </a:r>
            <a:endParaRPr/>
          </a:p>
        </p:txBody>
      </p:sp>
      <p:sp>
        <p:nvSpPr>
          <p:cNvPr id="466" name="Google Shape;466;p7"/>
          <p:cNvSpPr/>
          <p:nvPr/>
        </p:nvSpPr>
        <p:spPr>
          <a:xfrm>
            <a:off x="777240" y="4864608"/>
            <a:ext cx="425196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325">
            <a:solidFill>
              <a:srgbClr val="6F42C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7"/>
          <p:cNvSpPr txBox="1"/>
          <p:nvPr/>
        </p:nvSpPr>
        <p:spPr>
          <a:xfrm>
            <a:off x="1005840" y="4974336"/>
            <a:ext cx="37490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F42C1"/>
                </a:solidFill>
                <a:latin typeface="Calibri"/>
                <a:ea typeface="Calibri"/>
                <a:cs typeface="Calibri"/>
                <a:sym typeface="Calibri"/>
              </a:rPr>
              <a:t>Historial conductor</a:t>
            </a:r>
            <a:endParaRPr/>
          </a:p>
        </p:txBody>
      </p:sp>
      <p:sp>
        <p:nvSpPr>
          <p:cNvPr id="468" name="Google Shape;468;p7"/>
          <p:cNvSpPr txBox="1"/>
          <p:nvPr/>
        </p:nvSpPr>
        <p:spPr>
          <a:xfrm>
            <a:off x="1005840" y="5257800"/>
            <a:ext cx="37490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comportamiento previo</a:t>
            </a:r>
            <a:endParaRPr/>
          </a:p>
        </p:txBody>
      </p:sp>
      <p:sp>
        <p:nvSpPr>
          <p:cNvPr id="469" name="Google Shape;469;p7"/>
          <p:cNvSpPr/>
          <p:nvPr/>
        </p:nvSpPr>
        <p:spPr>
          <a:xfrm>
            <a:off x="777240" y="5989320"/>
            <a:ext cx="4251960" cy="777240"/>
          </a:xfrm>
          <a:prstGeom prst="roundRect">
            <a:avLst>
              <a:gd fmla="val 16667" name="adj"/>
            </a:avLst>
          </a:prstGeom>
          <a:solidFill>
            <a:srgbClr val="142B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7"/>
          <p:cNvSpPr txBox="1"/>
          <p:nvPr/>
        </p:nvSpPr>
        <p:spPr>
          <a:xfrm>
            <a:off x="960120" y="6144768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mejora viene del contexto acumulado, no solo de variables crudas.</a:t>
            </a:r>
            <a:endParaRPr/>
          </a:p>
        </p:txBody>
      </p:sp>
      <p:sp>
        <p:nvSpPr>
          <p:cNvPr id="471" name="Google Shape;471;p7"/>
          <p:cNvSpPr txBox="1"/>
          <p:nvPr/>
        </p:nvSpPr>
        <p:spPr>
          <a:xfrm>
            <a:off x="6172200" y="2048256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vent</a:t>
            </a:r>
            <a:endParaRPr/>
          </a:p>
        </p:txBody>
      </p:sp>
      <p:sp>
        <p:nvSpPr>
          <p:cNvPr id="472" name="Google Shape;472;p7"/>
          <p:cNvSpPr txBox="1"/>
          <p:nvPr/>
        </p:nvSpPr>
        <p:spPr>
          <a:xfrm>
            <a:off x="6775704" y="2048256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idxD</a:t>
            </a:r>
            <a:endParaRPr/>
          </a:p>
        </p:txBody>
      </p:sp>
      <p:sp>
        <p:nvSpPr>
          <p:cNvPr id="473" name="Google Shape;473;p7"/>
          <p:cNvSpPr txBox="1"/>
          <p:nvPr/>
        </p:nvSpPr>
        <p:spPr>
          <a:xfrm>
            <a:off x="7379208" y="2048256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distR</a:t>
            </a:r>
            <a:endParaRPr/>
          </a:p>
        </p:txBody>
      </p:sp>
      <p:sp>
        <p:nvSpPr>
          <p:cNvPr id="474" name="Google Shape;474;p7"/>
          <p:cNvSpPr txBox="1"/>
          <p:nvPr/>
        </p:nvSpPr>
        <p:spPr>
          <a:xfrm>
            <a:off x="7982712" y="2048256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prev</a:t>
            </a:r>
            <a:endParaRPr/>
          </a:p>
        </p:txBody>
      </p:sp>
      <p:sp>
        <p:nvSpPr>
          <p:cNvPr id="475" name="Google Shape;475;p7"/>
          <p:cNvSpPr txBox="1"/>
          <p:nvPr/>
        </p:nvSpPr>
        <p:spPr>
          <a:xfrm>
            <a:off x="8586216" y="2048256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cumR</a:t>
            </a:r>
            <a:endParaRPr/>
          </a:p>
        </p:txBody>
      </p:sp>
      <p:sp>
        <p:nvSpPr>
          <p:cNvPr id="476" name="Google Shape;476;p7"/>
          <p:cNvSpPr txBox="1"/>
          <p:nvPr/>
        </p:nvSpPr>
        <p:spPr>
          <a:xfrm>
            <a:off x="9189720" y="2048256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stops</a:t>
            </a:r>
            <a:endParaRPr/>
          </a:p>
        </p:txBody>
      </p:sp>
      <p:sp>
        <p:nvSpPr>
          <p:cNvPr id="477" name="Google Shape;477;p7"/>
          <p:cNvSpPr txBox="1"/>
          <p:nvPr/>
        </p:nvSpPr>
        <p:spPr>
          <a:xfrm>
            <a:off x="9793224" y="2048256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hist</a:t>
            </a:r>
            <a:endParaRPr/>
          </a:p>
        </p:txBody>
      </p:sp>
      <p:sp>
        <p:nvSpPr>
          <p:cNvPr id="478" name="Google Shape;478;p7"/>
          <p:cNvSpPr txBox="1"/>
          <p:nvPr/>
        </p:nvSpPr>
        <p:spPr>
          <a:xfrm>
            <a:off x="10396728" y="2048256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delay</a:t>
            </a:r>
            <a:endParaRPr/>
          </a:p>
        </p:txBody>
      </p:sp>
      <p:sp>
        <p:nvSpPr>
          <p:cNvPr id="479" name="Google Shape;479;p7"/>
          <p:cNvSpPr txBox="1"/>
          <p:nvPr/>
        </p:nvSpPr>
        <p:spPr>
          <a:xfrm>
            <a:off x="11000232" y="2048256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late</a:t>
            </a:r>
            <a:endParaRPr/>
          </a:p>
        </p:txBody>
      </p:sp>
      <p:sp>
        <p:nvSpPr>
          <p:cNvPr id="480" name="Google Shape;480;p7"/>
          <p:cNvSpPr txBox="1"/>
          <p:nvPr/>
        </p:nvSpPr>
        <p:spPr>
          <a:xfrm>
            <a:off x="5532120" y="2542032"/>
            <a:ext cx="60350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vent</a:t>
            </a:r>
            <a:endParaRPr/>
          </a:p>
        </p:txBody>
      </p:sp>
      <p:sp>
        <p:nvSpPr>
          <p:cNvPr id="481" name="Google Shape;481;p7"/>
          <p:cNvSpPr txBox="1"/>
          <p:nvPr/>
        </p:nvSpPr>
        <p:spPr>
          <a:xfrm>
            <a:off x="5532120" y="3145536"/>
            <a:ext cx="60350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idxD</a:t>
            </a:r>
            <a:endParaRPr/>
          </a:p>
        </p:txBody>
      </p:sp>
      <p:sp>
        <p:nvSpPr>
          <p:cNvPr id="482" name="Google Shape;482;p7"/>
          <p:cNvSpPr txBox="1"/>
          <p:nvPr/>
        </p:nvSpPr>
        <p:spPr>
          <a:xfrm>
            <a:off x="5532120" y="3749040"/>
            <a:ext cx="60350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distR</a:t>
            </a:r>
            <a:endParaRPr/>
          </a:p>
        </p:txBody>
      </p:sp>
      <p:sp>
        <p:nvSpPr>
          <p:cNvPr id="483" name="Google Shape;483;p7"/>
          <p:cNvSpPr txBox="1"/>
          <p:nvPr/>
        </p:nvSpPr>
        <p:spPr>
          <a:xfrm>
            <a:off x="5532120" y="4352544"/>
            <a:ext cx="60350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prev</a:t>
            </a:r>
            <a:endParaRPr/>
          </a:p>
        </p:txBody>
      </p:sp>
      <p:sp>
        <p:nvSpPr>
          <p:cNvPr id="484" name="Google Shape;484;p7"/>
          <p:cNvSpPr txBox="1"/>
          <p:nvPr/>
        </p:nvSpPr>
        <p:spPr>
          <a:xfrm>
            <a:off x="5532120" y="4956048"/>
            <a:ext cx="60350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cumR</a:t>
            </a:r>
            <a:endParaRPr/>
          </a:p>
        </p:txBody>
      </p:sp>
      <p:sp>
        <p:nvSpPr>
          <p:cNvPr id="485" name="Google Shape;485;p7"/>
          <p:cNvSpPr txBox="1"/>
          <p:nvPr/>
        </p:nvSpPr>
        <p:spPr>
          <a:xfrm>
            <a:off x="5532120" y="5559552"/>
            <a:ext cx="60350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stops</a:t>
            </a:r>
            <a:endParaRPr/>
          </a:p>
        </p:txBody>
      </p:sp>
      <p:sp>
        <p:nvSpPr>
          <p:cNvPr id="486" name="Google Shape;486;p7"/>
          <p:cNvSpPr txBox="1"/>
          <p:nvPr/>
        </p:nvSpPr>
        <p:spPr>
          <a:xfrm>
            <a:off x="5532120" y="6163056"/>
            <a:ext cx="60350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hist</a:t>
            </a:r>
            <a:endParaRPr/>
          </a:p>
        </p:txBody>
      </p:sp>
      <p:sp>
        <p:nvSpPr>
          <p:cNvPr id="487" name="Google Shape;487;p7"/>
          <p:cNvSpPr txBox="1"/>
          <p:nvPr/>
        </p:nvSpPr>
        <p:spPr>
          <a:xfrm>
            <a:off x="5532120" y="6766560"/>
            <a:ext cx="60350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delay</a:t>
            </a:r>
            <a:endParaRPr/>
          </a:p>
        </p:txBody>
      </p:sp>
      <p:sp>
        <p:nvSpPr>
          <p:cNvPr id="488" name="Google Shape;488;p7"/>
          <p:cNvSpPr txBox="1"/>
          <p:nvPr/>
        </p:nvSpPr>
        <p:spPr>
          <a:xfrm>
            <a:off x="5532120" y="7370064"/>
            <a:ext cx="60350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late</a:t>
            </a:r>
            <a:endParaRPr/>
          </a:p>
        </p:txBody>
      </p:sp>
      <p:sp>
        <p:nvSpPr>
          <p:cNvPr id="489" name="Google Shape;489;p7"/>
          <p:cNvSpPr/>
          <p:nvPr/>
        </p:nvSpPr>
        <p:spPr>
          <a:xfrm>
            <a:off x="6172200" y="2359152"/>
            <a:ext cx="603504" cy="603504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7"/>
          <p:cNvSpPr txBox="1"/>
          <p:nvPr/>
        </p:nvSpPr>
        <p:spPr>
          <a:xfrm>
            <a:off x="6181344" y="2569464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491" name="Google Shape;491;p7"/>
          <p:cNvSpPr/>
          <p:nvPr/>
        </p:nvSpPr>
        <p:spPr>
          <a:xfrm>
            <a:off x="6775704" y="2359152"/>
            <a:ext cx="603504" cy="603504"/>
          </a:xfrm>
          <a:prstGeom prst="rect">
            <a:avLst/>
          </a:prstGeom>
          <a:solidFill>
            <a:srgbClr val="F4F5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7"/>
          <p:cNvSpPr/>
          <p:nvPr/>
        </p:nvSpPr>
        <p:spPr>
          <a:xfrm>
            <a:off x="7379208" y="2359152"/>
            <a:ext cx="603504" cy="603504"/>
          </a:xfrm>
          <a:prstGeom prst="rect">
            <a:avLst/>
          </a:prstGeom>
          <a:solidFill>
            <a:srgbClr val="F3F1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7"/>
          <p:cNvSpPr/>
          <p:nvPr/>
        </p:nvSpPr>
        <p:spPr>
          <a:xfrm>
            <a:off x="7982712" y="2359152"/>
            <a:ext cx="603504" cy="603504"/>
          </a:xfrm>
          <a:prstGeom prst="rect">
            <a:avLst/>
          </a:prstGeom>
          <a:solidFill>
            <a:srgbClr val="EDF0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7"/>
          <p:cNvSpPr/>
          <p:nvPr/>
        </p:nvSpPr>
        <p:spPr>
          <a:xfrm>
            <a:off x="8586216" y="2359152"/>
            <a:ext cx="603504" cy="603504"/>
          </a:xfrm>
          <a:prstGeom prst="rect">
            <a:avLst/>
          </a:prstGeom>
          <a:solidFill>
            <a:srgbClr val="ECF0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7"/>
          <p:cNvSpPr/>
          <p:nvPr/>
        </p:nvSpPr>
        <p:spPr>
          <a:xfrm>
            <a:off x="9189720" y="2359152"/>
            <a:ext cx="603504" cy="603504"/>
          </a:xfrm>
          <a:prstGeom prst="rect">
            <a:avLst/>
          </a:prstGeom>
          <a:solidFill>
            <a:srgbClr val="F0E8E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7"/>
          <p:cNvSpPr/>
          <p:nvPr/>
        </p:nvSpPr>
        <p:spPr>
          <a:xfrm>
            <a:off x="9793224" y="2359152"/>
            <a:ext cx="603504" cy="603504"/>
          </a:xfrm>
          <a:prstGeom prst="rect">
            <a:avLst/>
          </a:prstGeom>
          <a:solidFill>
            <a:srgbClr val="E1E8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7"/>
          <p:cNvSpPr/>
          <p:nvPr/>
        </p:nvSpPr>
        <p:spPr>
          <a:xfrm>
            <a:off x="10396728" y="2359152"/>
            <a:ext cx="603504" cy="603504"/>
          </a:xfrm>
          <a:prstGeom prst="rect">
            <a:avLst/>
          </a:prstGeom>
          <a:solidFill>
            <a:srgbClr val="6D90D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7"/>
          <p:cNvSpPr txBox="1"/>
          <p:nvPr/>
        </p:nvSpPr>
        <p:spPr>
          <a:xfrm>
            <a:off x="10405872" y="2569464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-0.69</a:t>
            </a:r>
            <a:endParaRPr/>
          </a:p>
        </p:txBody>
      </p:sp>
      <p:sp>
        <p:nvSpPr>
          <p:cNvPr id="499" name="Google Shape;499;p7"/>
          <p:cNvSpPr/>
          <p:nvPr/>
        </p:nvSpPr>
        <p:spPr>
          <a:xfrm>
            <a:off x="11000232" y="2359152"/>
            <a:ext cx="603504" cy="603504"/>
          </a:xfrm>
          <a:prstGeom prst="rect">
            <a:avLst/>
          </a:prstGeom>
          <a:solidFill>
            <a:srgbClr val="D6DF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7"/>
          <p:cNvSpPr/>
          <p:nvPr/>
        </p:nvSpPr>
        <p:spPr>
          <a:xfrm>
            <a:off x="6172200" y="2962656"/>
            <a:ext cx="603504" cy="603504"/>
          </a:xfrm>
          <a:prstGeom prst="rect">
            <a:avLst/>
          </a:prstGeom>
          <a:solidFill>
            <a:srgbClr val="F4F5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7"/>
          <p:cNvSpPr/>
          <p:nvPr/>
        </p:nvSpPr>
        <p:spPr>
          <a:xfrm>
            <a:off x="6775704" y="2962656"/>
            <a:ext cx="603504" cy="603504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7"/>
          <p:cNvSpPr txBox="1"/>
          <p:nvPr/>
        </p:nvSpPr>
        <p:spPr>
          <a:xfrm>
            <a:off x="6784848" y="3172968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503" name="Google Shape;503;p7"/>
          <p:cNvSpPr/>
          <p:nvPr/>
        </p:nvSpPr>
        <p:spPr>
          <a:xfrm>
            <a:off x="7379208" y="2962656"/>
            <a:ext cx="603504" cy="603504"/>
          </a:xfrm>
          <a:prstGeom prst="rect">
            <a:avLst/>
          </a:prstGeom>
          <a:solidFill>
            <a:srgbClr val="DDE5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7"/>
          <p:cNvSpPr/>
          <p:nvPr/>
        </p:nvSpPr>
        <p:spPr>
          <a:xfrm>
            <a:off x="7982712" y="2962656"/>
            <a:ext cx="603504" cy="603504"/>
          </a:xfrm>
          <a:prstGeom prst="rect">
            <a:avLst/>
          </a:prstGeom>
          <a:solidFill>
            <a:srgbClr val="F3F2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7"/>
          <p:cNvSpPr/>
          <p:nvPr/>
        </p:nvSpPr>
        <p:spPr>
          <a:xfrm>
            <a:off x="8586216" y="2962656"/>
            <a:ext cx="603504" cy="603504"/>
          </a:xfrm>
          <a:prstGeom prst="rect">
            <a:avLst/>
          </a:prstGeom>
          <a:solidFill>
            <a:srgbClr val="EEF2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7"/>
          <p:cNvSpPr/>
          <p:nvPr/>
        </p:nvSpPr>
        <p:spPr>
          <a:xfrm>
            <a:off x="9189720" y="2962656"/>
            <a:ext cx="603504" cy="603504"/>
          </a:xfrm>
          <a:prstGeom prst="rect">
            <a:avLst/>
          </a:prstGeom>
          <a:solidFill>
            <a:srgbClr val="BBCBE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7"/>
          <p:cNvSpPr/>
          <p:nvPr/>
        </p:nvSpPr>
        <p:spPr>
          <a:xfrm>
            <a:off x="9793224" y="2962656"/>
            <a:ext cx="603504" cy="603504"/>
          </a:xfrm>
          <a:prstGeom prst="rect">
            <a:avLst/>
          </a:prstGeom>
          <a:solidFill>
            <a:srgbClr val="F3F6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7"/>
          <p:cNvSpPr/>
          <p:nvPr/>
        </p:nvSpPr>
        <p:spPr>
          <a:xfrm>
            <a:off x="10396728" y="2962656"/>
            <a:ext cx="603504" cy="603504"/>
          </a:xfrm>
          <a:prstGeom prst="rect">
            <a:avLst/>
          </a:prstGeom>
          <a:solidFill>
            <a:srgbClr val="E9CDD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7"/>
          <p:cNvSpPr/>
          <p:nvPr/>
        </p:nvSpPr>
        <p:spPr>
          <a:xfrm>
            <a:off x="11000232" y="2962656"/>
            <a:ext cx="603504" cy="603504"/>
          </a:xfrm>
          <a:prstGeom prst="rect">
            <a:avLst/>
          </a:prstGeom>
          <a:solidFill>
            <a:srgbClr val="ECD9D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7"/>
          <p:cNvSpPr/>
          <p:nvPr/>
        </p:nvSpPr>
        <p:spPr>
          <a:xfrm>
            <a:off x="6172200" y="3566160"/>
            <a:ext cx="603504" cy="603504"/>
          </a:xfrm>
          <a:prstGeom prst="rect">
            <a:avLst/>
          </a:prstGeom>
          <a:solidFill>
            <a:srgbClr val="F3F1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7"/>
          <p:cNvSpPr/>
          <p:nvPr/>
        </p:nvSpPr>
        <p:spPr>
          <a:xfrm>
            <a:off x="6775704" y="3566160"/>
            <a:ext cx="603504" cy="603504"/>
          </a:xfrm>
          <a:prstGeom prst="rect">
            <a:avLst/>
          </a:prstGeom>
          <a:solidFill>
            <a:srgbClr val="DDE5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7"/>
          <p:cNvSpPr/>
          <p:nvPr/>
        </p:nvSpPr>
        <p:spPr>
          <a:xfrm>
            <a:off x="7379208" y="3566160"/>
            <a:ext cx="603504" cy="603504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7"/>
          <p:cNvSpPr txBox="1"/>
          <p:nvPr/>
        </p:nvSpPr>
        <p:spPr>
          <a:xfrm>
            <a:off x="7388352" y="3776472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514" name="Google Shape;514;p7"/>
          <p:cNvSpPr/>
          <p:nvPr/>
        </p:nvSpPr>
        <p:spPr>
          <a:xfrm>
            <a:off x="7982712" y="3566160"/>
            <a:ext cx="603504" cy="603504"/>
          </a:xfrm>
          <a:prstGeom prst="rect">
            <a:avLst/>
          </a:prstGeom>
          <a:solidFill>
            <a:srgbClr val="F4F5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7"/>
          <p:cNvSpPr/>
          <p:nvPr/>
        </p:nvSpPr>
        <p:spPr>
          <a:xfrm>
            <a:off x="8586216" y="3566160"/>
            <a:ext cx="603504" cy="603504"/>
          </a:xfrm>
          <a:prstGeom prst="rect">
            <a:avLst/>
          </a:prstGeom>
          <a:solidFill>
            <a:srgbClr val="F3F2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7"/>
          <p:cNvSpPr/>
          <p:nvPr/>
        </p:nvSpPr>
        <p:spPr>
          <a:xfrm>
            <a:off x="9189720" y="3566160"/>
            <a:ext cx="603504" cy="603504"/>
          </a:xfrm>
          <a:prstGeom prst="rect">
            <a:avLst/>
          </a:prstGeom>
          <a:solidFill>
            <a:srgbClr val="E9EE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7"/>
          <p:cNvSpPr/>
          <p:nvPr/>
        </p:nvSpPr>
        <p:spPr>
          <a:xfrm>
            <a:off x="9793224" y="3566160"/>
            <a:ext cx="603504" cy="603504"/>
          </a:xfrm>
          <a:prstGeom prst="rect">
            <a:avLst/>
          </a:prstGeom>
          <a:solidFill>
            <a:srgbClr val="F4F5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7"/>
          <p:cNvSpPr/>
          <p:nvPr/>
        </p:nvSpPr>
        <p:spPr>
          <a:xfrm>
            <a:off x="10396728" y="3566160"/>
            <a:ext cx="603504" cy="603504"/>
          </a:xfrm>
          <a:prstGeom prst="rect">
            <a:avLst/>
          </a:prstGeom>
          <a:solidFill>
            <a:srgbClr val="EBEF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7"/>
          <p:cNvSpPr/>
          <p:nvPr/>
        </p:nvSpPr>
        <p:spPr>
          <a:xfrm>
            <a:off x="11000232" y="3566160"/>
            <a:ext cx="603504" cy="603504"/>
          </a:xfrm>
          <a:prstGeom prst="rect">
            <a:avLst/>
          </a:prstGeom>
          <a:solidFill>
            <a:srgbClr val="F0F3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7"/>
          <p:cNvSpPr/>
          <p:nvPr/>
        </p:nvSpPr>
        <p:spPr>
          <a:xfrm>
            <a:off x="6172200" y="4169664"/>
            <a:ext cx="603504" cy="603504"/>
          </a:xfrm>
          <a:prstGeom prst="rect">
            <a:avLst/>
          </a:prstGeom>
          <a:solidFill>
            <a:srgbClr val="EDF0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7"/>
          <p:cNvSpPr/>
          <p:nvPr/>
        </p:nvSpPr>
        <p:spPr>
          <a:xfrm>
            <a:off x="6775704" y="4169664"/>
            <a:ext cx="603504" cy="603504"/>
          </a:xfrm>
          <a:prstGeom prst="rect">
            <a:avLst/>
          </a:prstGeom>
          <a:solidFill>
            <a:srgbClr val="F3F2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7"/>
          <p:cNvSpPr/>
          <p:nvPr/>
        </p:nvSpPr>
        <p:spPr>
          <a:xfrm>
            <a:off x="7379208" y="4169664"/>
            <a:ext cx="603504" cy="603504"/>
          </a:xfrm>
          <a:prstGeom prst="rect">
            <a:avLst/>
          </a:prstGeom>
          <a:solidFill>
            <a:srgbClr val="F4F5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7"/>
          <p:cNvSpPr/>
          <p:nvPr/>
        </p:nvSpPr>
        <p:spPr>
          <a:xfrm>
            <a:off x="7982712" y="4169664"/>
            <a:ext cx="603504" cy="603504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7"/>
          <p:cNvSpPr txBox="1"/>
          <p:nvPr/>
        </p:nvSpPr>
        <p:spPr>
          <a:xfrm>
            <a:off x="7991856" y="4379976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525" name="Google Shape;525;p7"/>
          <p:cNvSpPr/>
          <p:nvPr/>
        </p:nvSpPr>
        <p:spPr>
          <a:xfrm>
            <a:off x="8586216" y="4169664"/>
            <a:ext cx="603504" cy="603504"/>
          </a:xfrm>
          <a:prstGeom prst="rect">
            <a:avLst/>
          </a:prstGeom>
          <a:solidFill>
            <a:srgbClr val="D06F7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7"/>
          <p:cNvSpPr txBox="1"/>
          <p:nvPr/>
        </p:nvSpPr>
        <p:spPr>
          <a:xfrm>
            <a:off x="8595360" y="4379976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0.67</a:t>
            </a:r>
            <a:endParaRPr/>
          </a:p>
        </p:txBody>
      </p:sp>
      <p:sp>
        <p:nvSpPr>
          <p:cNvPr id="527" name="Google Shape;527;p7"/>
          <p:cNvSpPr/>
          <p:nvPr/>
        </p:nvSpPr>
        <p:spPr>
          <a:xfrm>
            <a:off x="9189720" y="4169664"/>
            <a:ext cx="603504" cy="603504"/>
          </a:xfrm>
          <a:prstGeom prst="rect">
            <a:avLst/>
          </a:prstGeom>
          <a:solidFill>
            <a:srgbClr val="EFE3E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7"/>
          <p:cNvSpPr/>
          <p:nvPr/>
        </p:nvSpPr>
        <p:spPr>
          <a:xfrm>
            <a:off x="9793224" y="4169664"/>
            <a:ext cx="603504" cy="603504"/>
          </a:xfrm>
          <a:prstGeom prst="rect">
            <a:avLst/>
          </a:prstGeom>
          <a:solidFill>
            <a:srgbClr val="E3B6B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7"/>
          <p:cNvSpPr txBox="1"/>
          <p:nvPr/>
        </p:nvSpPr>
        <p:spPr>
          <a:xfrm>
            <a:off x="9802368" y="4379976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0.32</a:t>
            </a:r>
            <a:endParaRPr/>
          </a:p>
        </p:txBody>
      </p:sp>
      <p:sp>
        <p:nvSpPr>
          <p:cNvPr id="530" name="Google Shape;530;p7"/>
          <p:cNvSpPr/>
          <p:nvPr/>
        </p:nvSpPr>
        <p:spPr>
          <a:xfrm>
            <a:off x="10396728" y="4169664"/>
            <a:ext cx="603504" cy="603504"/>
          </a:xfrm>
          <a:prstGeom prst="rect">
            <a:avLst/>
          </a:prstGeom>
          <a:solidFill>
            <a:srgbClr val="E6C1C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7"/>
          <p:cNvSpPr/>
          <p:nvPr/>
        </p:nvSpPr>
        <p:spPr>
          <a:xfrm>
            <a:off x="11000232" y="4169664"/>
            <a:ext cx="603504" cy="603504"/>
          </a:xfrm>
          <a:prstGeom prst="rect">
            <a:avLst/>
          </a:prstGeom>
          <a:solidFill>
            <a:srgbClr val="E0AA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7"/>
          <p:cNvSpPr txBox="1"/>
          <p:nvPr/>
        </p:nvSpPr>
        <p:spPr>
          <a:xfrm>
            <a:off x="11009376" y="4379976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0.38</a:t>
            </a:r>
            <a:endParaRPr/>
          </a:p>
        </p:txBody>
      </p:sp>
      <p:sp>
        <p:nvSpPr>
          <p:cNvPr id="533" name="Google Shape;533;p7"/>
          <p:cNvSpPr/>
          <p:nvPr/>
        </p:nvSpPr>
        <p:spPr>
          <a:xfrm>
            <a:off x="6172200" y="4773168"/>
            <a:ext cx="603504" cy="603504"/>
          </a:xfrm>
          <a:prstGeom prst="rect">
            <a:avLst/>
          </a:prstGeom>
          <a:solidFill>
            <a:srgbClr val="ECF0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7"/>
          <p:cNvSpPr/>
          <p:nvPr/>
        </p:nvSpPr>
        <p:spPr>
          <a:xfrm>
            <a:off x="6775704" y="4773168"/>
            <a:ext cx="603504" cy="603504"/>
          </a:xfrm>
          <a:prstGeom prst="rect">
            <a:avLst/>
          </a:prstGeom>
          <a:solidFill>
            <a:srgbClr val="EEF2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7"/>
          <p:cNvSpPr/>
          <p:nvPr/>
        </p:nvSpPr>
        <p:spPr>
          <a:xfrm>
            <a:off x="7379208" y="4773168"/>
            <a:ext cx="603504" cy="603504"/>
          </a:xfrm>
          <a:prstGeom prst="rect">
            <a:avLst/>
          </a:prstGeom>
          <a:solidFill>
            <a:srgbClr val="F3F2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7"/>
          <p:cNvSpPr/>
          <p:nvPr/>
        </p:nvSpPr>
        <p:spPr>
          <a:xfrm>
            <a:off x="7982712" y="4773168"/>
            <a:ext cx="603504" cy="603504"/>
          </a:xfrm>
          <a:prstGeom prst="rect">
            <a:avLst/>
          </a:prstGeom>
          <a:solidFill>
            <a:srgbClr val="D06F7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7"/>
          <p:cNvSpPr txBox="1"/>
          <p:nvPr/>
        </p:nvSpPr>
        <p:spPr>
          <a:xfrm>
            <a:off x="7991856" y="4983480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0.67</a:t>
            </a:r>
            <a:endParaRPr/>
          </a:p>
        </p:txBody>
      </p:sp>
      <p:sp>
        <p:nvSpPr>
          <p:cNvPr id="538" name="Google Shape;538;p7"/>
          <p:cNvSpPr/>
          <p:nvPr/>
        </p:nvSpPr>
        <p:spPr>
          <a:xfrm>
            <a:off x="8586216" y="4773168"/>
            <a:ext cx="603504" cy="603504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7"/>
          <p:cNvSpPr txBox="1"/>
          <p:nvPr/>
        </p:nvSpPr>
        <p:spPr>
          <a:xfrm>
            <a:off x="8595360" y="4983480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540" name="Google Shape;540;p7"/>
          <p:cNvSpPr/>
          <p:nvPr/>
        </p:nvSpPr>
        <p:spPr>
          <a:xfrm>
            <a:off x="9189720" y="4773168"/>
            <a:ext cx="603504" cy="603504"/>
          </a:xfrm>
          <a:prstGeom prst="rect">
            <a:avLst/>
          </a:prstGeom>
          <a:solidFill>
            <a:srgbClr val="EFE3E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7"/>
          <p:cNvSpPr/>
          <p:nvPr/>
        </p:nvSpPr>
        <p:spPr>
          <a:xfrm>
            <a:off x="9793224" y="4773168"/>
            <a:ext cx="603504" cy="603504"/>
          </a:xfrm>
          <a:prstGeom prst="rect">
            <a:avLst/>
          </a:prstGeom>
          <a:solidFill>
            <a:srgbClr val="DB98A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7"/>
          <p:cNvSpPr txBox="1"/>
          <p:nvPr/>
        </p:nvSpPr>
        <p:spPr>
          <a:xfrm>
            <a:off x="9802368" y="4983480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0.47</a:t>
            </a:r>
            <a:endParaRPr/>
          </a:p>
        </p:txBody>
      </p:sp>
      <p:sp>
        <p:nvSpPr>
          <p:cNvPr id="543" name="Google Shape;543;p7"/>
          <p:cNvSpPr/>
          <p:nvPr/>
        </p:nvSpPr>
        <p:spPr>
          <a:xfrm>
            <a:off x="10396728" y="4773168"/>
            <a:ext cx="603504" cy="603504"/>
          </a:xfrm>
          <a:prstGeom prst="rect">
            <a:avLst/>
          </a:prstGeom>
          <a:solidFill>
            <a:srgbClr val="E4BBC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7"/>
          <p:cNvSpPr/>
          <p:nvPr/>
        </p:nvSpPr>
        <p:spPr>
          <a:xfrm>
            <a:off x="11000232" y="4773168"/>
            <a:ext cx="603504" cy="603504"/>
          </a:xfrm>
          <a:prstGeom prst="rect">
            <a:avLst/>
          </a:prstGeom>
          <a:solidFill>
            <a:srgbClr val="DFA8B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7"/>
          <p:cNvSpPr txBox="1"/>
          <p:nvPr/>
        </p:nvSpPr>
        <p:spPr>
          <a:xfrm>
            <a:off x="11009376" y="4983480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0.39</a:t>
            </a:r>
            <a:endParaRPr/>
          </a:p>
        </p:txBody>
      </p:sp>
      <p:sp>
        <p:nvSpPr>
          <p:cNvPr id="546" name="Google Shape;546;p7"/>
          <p:cNvSpPr/>
          <p:nvPr/>
        </p:nvSpPr>
        <p:spPr>
          <a:xfrm>
            <a:off x="6172200" y="5376672"/>
            <a:ext cx="603504" cy="603504"/>
          </a:xfrm>
          <a:prstGeom prst="rect">
            <a:avLst/>
          </a:prstGeom>
          <a:solidFill>
            <a:srgbClr val="F0E8E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7"/>
          <p:cNvSpPr/>
          <p:nvPr/>
        </p:nvSpPr>
        <p:spPr>
          <a:xfrm>
            <a:off x="6775704" y="5376672"/>
            <a:ext cx="603504" cy="603504"/>
          </a:xfrm>
          <a:prstGeom prst="rect">
            <a:avLst/>
          </a:prstGeom>
          <a:solidFill>
            <a:srgbClr val="BBCBE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7"/>
          <p:cNvSpPr/>
          <p:nvPr/>
        </p:nvSpPr>
        <p:spPr>
          <a:xfrm>
            <a:off x="7379208" y="5376672"/>
            <a:ext cx="603504" cy="603504"/>
          </a:xfrm>
          <a:prstGeom prst="rect">
            <a:avLst/>
          </a:prstGeom>
          <a:solidFill>
            <a:srgbClr val="E9EE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7"/>
          <p:cNvSpPr/>
          <p:nvPr/>
        </p:nvSpPr>
        <p:spPr>
          <a:xfrm>
            <a:off x="7982712" y="5376672"/>
            <a:ext cx="603504" cy="603504"/>
          </a:xfrm>
          <a:prstGeom prst="rect">
            <a:avLst/>
          </a:prstGeom>
          <a:solidFill>
            <a:srgbClr val="EFE3E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7"/>
          <p:cNvSpPr/>
          <p:nvPr/>
        </p:nvSpPr>
        <p:spPr>
          <a:xfrm>
            <a:off x="8586216" y="5376672"/>
            <a:ext cx="603504" cy="603504"/>
          </a:xfrm>
          <a:prstGeom prst="rect">
            <a:avLst/>
          </a:prstGeom>
          <a:solidFill>
            <a:srgbClr val="EFE3E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7"/>
          <p:cNvSpPr/>
          <p:nvPr/>
        </p:nvSpPr>
        <p:spPr>
          <a:xfrm>
            <a:off x="9189720" y="5376672"/>
            <a:ext cx="603504" cy="603504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7"/>
          <p:cNvSpPr txBox="1"/>
          <p:nvPr/>
        </p:nvSpPr>
        <p:spPr>
          <a:xfrm>
            <a:off x="9198864" y="5586984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553" name="Google Shape;553;p7"/>
          <p:cNvSpPr/>
          <p:nvPr/>
        </p:nvSpPr>
        <p:spPr>
          <a:xfrm>
            <a:off x="9793224" y="5376672"/>
            <a:ext cx="603504" cy="603504"/>
          </a:xfrm>
          <a:prstGeom prst="rect">
            <a:avLst/>
          </a:prstGeom>
          <a:solidFill>
            <a:srgbClr val="E8ED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7"/>
          <p:cNvSpPr/>
          <p:nvPr/>
        </p:nvSpPr>
        <p:spPr>
          <a:xfrm>
            <a:off x="10396728" y="5376672"/>
            <a:ext cx="603504" cy="603504"/>
          </a:xfrm>
          <a:prstGeom prst="rect">
            <a:avLst/>
          </a:prstGeom>
          <a:solidFill>
            <a:srgbClr val="F1EAE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7"/>
          <p:cNvSpPr/>
          <p:nvPr/>
        </p:nvSpPr>
        <p:spPr>
          <a:xfrm>
            <a:off x="11000232" y="5376672"/>
            <a:ext cx="603504" cy="603504"/>
          </a:xfrm>
          <a:prstGeom prst="rect">
            <a:avLst/>
          </a:prstGeom>
          <a:solidFill>
            <a:srgbClr val="F2ECE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7"/>
          <p:cNvSpPr/>
          <p:nvPr/>
        </p:nvSpPr>
        <p:spPr>
          <a:xfrm>
            <a:off x="6172200" y="5980176"/>
            <a:ext cx="603504" cy="603504"/>
          </a:xfrm>
          <a:prstGeom prst="rect">
            <a:avLst/>
          </a:prstGeom>
          <a:solidFill>
            <a:srgbClr val="E1E8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7"/>
          <p:cNvSpPr/>
          <p:nvPr/>
        </p:nvSpPr>
        <p:spPr>
          <a:xfrm>
            <a:off x="6775704" y="5980176"/>
            <a:ext cx="603504" cy="603504"/>
          </a:xfrm>
          <a:prstGeom prst="rect">
            <a:avLst/>
          </a:prstGeom>
          <a:solidFill>
            <a:srgbClr val="F3F6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7"/>
          <p:cNvSpPr/>
          <p:nvPr/>
        </p:nvSpPr>
        <p:spPr>
          <a:xfrm>
            <a:off x="7379208" y="5980176"/>
            <a:ext cx="603504" cy="603504"/>
          </a:xfrm>
          <a:prstGeom prst="rect">
            <a:avLst/>
          </a:prstGeom>
          <a:solidFill>
            <a:srgbClr val="F4F5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7"/>
          <p:cNvSpPr/>
          <p:nvPr/>
        </p:nvSpPr>
        <p:spPr>
          <a:xfrm>
            <a:off x="7982712" y="5980176"/>
            <a:ext cx="603504" cy="603504"/>
          </a:xfrm>
          <a:prstGeom prst="rect">
            <a:avLst/>
          </a:prstGeom>
          <a:solidFill>
            <a:srgbClr val="E3B6B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7"/>
          <p:cNvSpPr txBox="1"/>
          <p:nvPr/>
        </p:nvSpPr>
        <p:spPr>
          <a:xfrm>
            <a:off x="7991856" y="6190488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0.32</a:t>
            </a:r>
            <a:endParaRPr/>
          </a:p>
        </p:txBody>
      </p:sp>
      <p:sp>
        <p:nvSpPr>
          <p:cNvPr id="561" name="Google Shape;561;p7"/>
          <p:cNvSpPr/>
          <p:nvPr/>
        </p:nvSpPr>
        <p:spPr>
          <a:xfrm>
            <a:off x="8586216" y="5980176"/>
            <a:ext cx="603504" cy="603504"/>
          </a:xfrm>
          <a:prstGeom prst="rect">
            <a:avLst/>
          </a:prstGeom>
          <a:solidFill>
            <a:srgbClr val="DB98A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7"/>
          <p:cNvSpPr txBox="1"/>
          <p:nvPr/>
        </p:nvSpPr>
        <p:spPr>
          <a:xfrm>
            <a:off x="8595360" y="6190488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0.47</a:t>
            </a:r>
            <a:endParaRPr/>
          </a:p>
        </p:txBody>
      </p:sp>
      <p:sp>
        <p:nvSpPr>
          <p:cNvPr id="563" name="Google Shape;563;p7"/>
          <p:cNvSpPr/>
          <p:nvPr/>
        </p:nvSpPr>
        <p:spPr>
          <a:xfrm>
            <a:off x="9189720" y="5980176"/>
            <a:ext cx="603504" cy="603504"/>
          </a:xfrm>
          <a:prstGeom prst="rect">
            <a:avLst/>
          </a:prstGeom>
          <a:solidFill>
            <a:srgbClr val="E8ED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7"/>
          <p:cNvSpPr/>
          <p:nvPr/>
        </p:nvSpPr>
        <p:spPr>
          <a:xfrm>
            <a:off x="9793224" y="5980176"/>
            <a:ext cx="603504" cy="603504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7"/>
          <p:cNvSpPr txBox="1"/>
          <p:nvPr/>
        </p:nvSpPr>
        <p:spPr>
          <a:xfrm>
            <a:off x="9802368" y="6190488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566" name="Google Shape;566;p7"/>
          <p:cNvSpPr/>
          <p:nvPr/>
        </p:nvSpPr>
        <p:spPr>
          <a:xfrm>
            <a:off x="10396728" y="5980176"/>
            <a:ext cx="603504" cy="603504"/>
          </a:xfrm>
          <a:prstGeom prst="rect">
            <a:avLst/>
          </a:prstGeom>
          <a:solidFill>
            <a:srgbClr val="E3B8B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7"/>
          <p:cNvSpPr txBox="1"/>
          <p:nvPr/>
        </p:nvSpPr>
        <p:spPr>
          <a:xfrm>
            <a:off x="10405872" y="6190488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0.31</a:t>
            </a:r>
            <a:endParaRPr/>
          </a:p>
        </p:txBody>
      </p:sp>
      <p:sp>
        <p:nvSpPr>
          <p:cNvPr id="568" name="Google Shape;568;p7"/>
          <p:cNvSpPr/>
          <p:nvPr/>
        </p:nvSpPr>
        <p:spPr>
          <a:xfrm>
            <a:off x="11000232" y="5980176"/>
            <a:ext cx="603504" cy="603504"/>
          </a:xfrm>
          <a:prstGeom prst="rect">
            <a:avLst/>
          </a:prstGeom>
          <a:solidFill>
            <a:srgbClr val="E3B5B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7"/>
          <p:cNvSpPr txBox="1"/>
          <p:nvPr/>
        </p:nvSpPr>
        <p:spPr>
          <a:xfrm>
            <a:off x="11009376" y="6190488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0.32</a:t>
            </a:r>
            <a:endParaRPr/>
          </a:p>
        </p:txBody>
      </p:sp>
      <p:sp>
        <p:nvSpPr>
          <p:cNvPr id="570" name="Google Shape;570;p7"/>
          <p:cNvSpPr/>
          <p:nvPr/>
        </p:nvSpPr>
        <p:spPr>
          <a:xfrm>
            <a:off x="6172200" y="6583680"/>
            <a:ext cx="603504" cy="603504"/>
          </a:xfrm>
          <a:prstGeom prst="rect">
            <a:avLst/>
          </a:prstGeom>
          <a:solidFill>
            <a:srgbClr val="6D90D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7"/>
          <p:cNvSpPr txBox="1"/>
          <p:nvPr/>
        </p:nvSpPr>
        <p:spPr>
          <a:xfrm>
            <a:off x="6181344" y="6793992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-0.69</a:t>
            </a:r>
            <a:endParaRPr/>
          </a:p>
        </p:txBody>
      </p:sp>
      <p:sp>
        <p:nvSpPr>
          <p:cNvPr id="572" name="Google Shape;572;p7"/>
          <p:cNvSpPr/>
          <p:nvPr/>
        </p:nvSpPr>
        <p:spPr>
          <a:xfrm>
            <a:off x="6775704" y="6583680"/>
            <a:ext cx="603504" cy="603504"/>
          </a:xfrm>
          <a:prstGeom prst="rect">
            <a:avLst/>
          </a:prstGeom>
          <a:solidFill>
            <a:srgbClr val="E9CDD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7"/>
          <p:cNvSpPr/>
          <p:nvPr/>
        </p:nvSpPr>
        <p:spPr>
          <a:xfrm>
            <a:off x="7379208" y="6583680"/>
            <a:ext cx="603504" cy="603504"/>
          </a:xfrm>
          <a:prstGeom prst="rect">
            <a:avLst/>
          </a:prstGeom>
          <a:solidFill>
            <a:srgbClr val="EBEF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7"/>
          <p:cNvSpPr/>
          <p:nvPr/>
        </p:nvSpPr>
        <p:spPr>
          <a:xfrm>
            <a:off x="7982712" y="6583680"/>
            <a:ext cx="603504" cy="603504"/>
          </a:xfrm>
          <a:prstGeom prst="rect">
            <a:avLst/>
          </a:prstGeom>
          <a:solidFill>
            <a:srgbClr val="E6C1C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7"/>
          <p:cNvSpPr/>
          <p:nvPr/>
        </p:nvSpPr>
        <p:spPr>
          <a:xfrm>
            <a:off x="8586216" y="6583680"/>
            <a:ext cx="603504" cy="603504"/>
          </a:xfrm>
          <a:prstGeom prst="rect">
            <a:avLst/>
          </a:prstGeom>
          <a:solidFill>
            <a:srgbClr val="E4BBC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7"/>
          <p:cNvSpPr/>
          <p:nvPr/>
        </p:nvSpPr>
        <p:spPr>
          <a:xfrm>
            <a:off x="9189720" y="6583680"/>
            <a:ext cx="603504" cy="603504"/>
          </a:xfrm>
          <a:prstGeom prst="rect">
            <a:avLst/>
          </a:prstGeom>
          <a:solidFill>
            <a:srgbClr val="F1EAE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7"/>
          <p:cNvSpPr/>
          <p:nvPr/>
        </p:nvSpPr>
        <p:spPr>
          <a:xfrm>
            <a:off x="9793224" y="6583680"/>
            <a:ext cx="603504" cy="603504"/>
          </a:xfrm>
          <a:prstGeom prst="rect">
            <a:avLst/>
          </a:prstGeom>
          <a:solidFill>
            <a:srgbClr val="E3B8B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7"/>
          <p:cNvSpPr txBox="1"/>
          <p:nvPr/>
        </p:nvSpPr>
        <p:spPr>
          <a:xfrm>
            <a:off x="9802368" y="6793992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0.31</a:t>
            </a:r>
            <a:endParaRPr/>
          </a:p>
        </p:txBody>
      </p:sp>
      <p:sp>
        <p:nvSpPr>
          <p:cNvPr id="579" name="Google Shape;579;p7"/>
          <p:cNvSpPr/>
          <p:nvPr/>
        </p:nvSpPr>
        <p:spPr>
          <a:xfrm>
            <a:off x="10396728" y="6583680"/>
            <a:ext cx="603504" cy="603504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7"/>
          <p:cNvSpPr txBox="1"/>
          <p:nvPr/>
        </p:nvSpPr>
        <p:spPr>
          <a:xfrm>
            <a:off x="10405872" y="6793992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581" name="Google Shape;581;p7"/>
          <p:cNvSpPr/>
          <p:nvPr/>
        </p:nvSpPr>
        <p:spPr>
          <a:xfrm>
            <a:off x="11000232" y="6583680"/>
            <a:ext cx="603504" cy="603504"/>
          </a:xfrm>
          <a:prstGeom prst="rect">
            <a:avLst/>
          </a:prstGeom>
          <a:solidFill>
            <a:srgbClr val="D9929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7"/>
          <p:cNvSpPr txBox="1"/>
          <p:nvPr/>
        </p:nvSpPr>
        <p:spPr>
          <a:xfrm>
            <a:off x="11009376" y="6793992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0.50</a:t>
            </a:r>
            <a:endParaRPr/>
          </a:p>
        </p:txBody>
      </p:sp>
      <p:sp>
        <p:nvSpPr>
          <p:cNvPr id="583" name="Google Shape;583;p7"/>
          <p:cNvSpPr/>
          <p:nvPr/>
        </p:nvSpPr>
        <p:spPr>
          <a:xfrm>
            <a:off x="6172200" y="7187184"/>
            <a:ext cx="603504" cy="603504"/>
          </a:xfrm>
          <a:prstGeom prst="rect">
            <a:avLst/>
          </a:prstGeom>
          <a:solidFill>
            <a:srgbClr val="D6DF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7"/>
          <p:cNvSpPr/>
          <p:nvPr/>
        </p:nvSpPr>
        <p:spPr>
          <a:xfrm>
            <a:off x="6775704" y="7187184"/>
            <a:ext cx="603504" cy="603504"/>
          </a:xfrm>
          <a:prstGeom prst="rect">
            <a:avLst/>
          </a:prstGeom>
          <a:solidFill>
            <a:srgbClr val="ECD9D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7"/>
          <p:cNvSpPr/>
          <p:nvPr/>
        </p:nvSpPr>
        <p:spPr>
          <a:xfrm>
            <a:off x="7379208" y="7187184"/>
            <a:ext cx="603504" cy="603504"/>
          </a:xfrm>
          <a:prstGeom prst="rect">
            <a:avLst/>
          </a:prstGeom>
          <a:solidFill>
            <a:srgbClr val="F0F3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7"/>
          <p:cNvSpPr/>
          <p:nvPr/>
        </p:nvSpPr>
        <p:spPr>
          <a:xfrm>
            <a:off x="7982712" y="7187184"/>
            <a:ext cx="603504" cy="603504"/>
          </a:xfrm>
          <a:prstGeom prst="rect">
            <a:avLst/>
          </a:prstGeom>
          <a:solidFill>
            <a:srgbClr val="E0AA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7"/>
          <p:cNvSpPr txBox="1"/>
          <p:nvPr/>
        </p:nvSpPr>
        <p:spPr>
          <a:xfrm>
            <a:off x="7991856" y="7397496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0.38</a:t>
            </a:r>
            <a:endParaRPr/>
          </a:p>
        </p:txBody>
      </p:sp>
      <p:sp>
        <p:nvSpPr>
          <p:cNvPr id="588" name="Google Shape;588;p7"/>
          <p:cNvSpPr/>
          <p:nvPr/>
        </p:nvSpPr>
        <p:spPr>
          <a:xfrm>
            <a:off x="8586216" y="7187184"/>
            <a:ext cx="603504" cy="603504"/>
          </a:xfrm>
          <a:prstGeom prst="rect">
            <a:avLst/>
          </a:prstGeom>
          <a:solidFill>
            <a:srgbClr val="DFA8B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7"/>
          <p:cNvSpPr txBox="1"/>
          <p:nvPr/>
        </p:nvSpPr>
        <p:spPr>
          <a:xfrm>
            <a:off x="8595360" y="7397496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0.39</a:t>
            </a:r>
            <a:endParaRPr/>
          </a:p>
        </p:txBody>
      </p:sp>
      <p:sp>
        <p:nvSpPr>
          <p:cNvPr id="590" name="Google Shape;590;p7"/>
          <p:cNvSpPr/>
          <p:nvPr/>
        </p:nvSpPr>
        <p:spPr>
          <a:xfrm>
            <a:off x="9189720" y="7187184"/>
            <a:ext cx="603504" cy="603504"/>
          </a:xfrm>
          <a:prstGeom prst="rect">
            <a:avLst/>
          </a:prstGeom>
          <a:solidFill>
            <a:srgbClr val="F2ECE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7"/>
          <p:cNvSpPr/>
          <p:nvPr/>
        </p:nvSpPr>
        <p:spPr>
          <a:xfrm>
            <a:off x="9793224" y="7187184"/>
            <a:ext cx="603504" cy="603504"/>
          </a:xfrm>
          <a:prstGeom prst="rect">
            <a:avLst/>
          </a:prstGeom>
          <a:solidFill>
            <a:srgbClr val="E3B5B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7"/>
          <p:cNvSpPr txBox="1"/>
          <p:nvPr/>
        </p:nvSpPr>
        <p:spPr>
          <a:xfrm>
            <a:off x="9802368" y="7397496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0.32</a:t>
            </a:r>
            <a:endParaRPr/>
          </a:p>
        </p:txBody>
      </p:sp>
      <p:sp>
        <p:nvSpPr>
          <p:cNvPr id="593" name="Google Shape;593;p7"/>
          <p:cNvSpPr/>
          <p:nvPr/>
        </p:nvSpPr>
        <p:spPr>
          <a:xfrm>
            <a:off x="10396728" y="7187184"/>
            <a:ext cx="603504" cy="603504"/>
          </a:xfrm>
          <a:prstGeom prst="rect">
            <a:avLst/>
          </a:prstGeom>
          <a:solidFill>
            <a:srgbClr val="D9929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7"/>
          <p:cNvSpPr txBox="1"/>
          <p:nvPr/>
        </p:nvSpPr>
        <p:spPr>
          <a:xfrm>
            <a:off x="10405872" y="7397496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0.50</a:t>
            </a:r>
            <a:endParaRPr/>
          </a:p>
        </p:txBody>
      </p:sp>
      <p:sp>
        <p:nvSpPr>
          <p:cNvPr id="595" name="Google Shape;595;p7"/>
          <p:cNvSpPr/>
          <p:nvPr/>
        </p:nvSpPr>
        <p:spPr>
          <a:xfrm>
            <a:off x="11000232" y="7187184"/>
            <a:ext cx="603504" cy="603504"/>
          </a:xfrm>
          <a:prstGeom prst="rect">
            <a:avLst/>
          </a:prstGeom>
          <a:solidFill>
            <a:srgbClr val="BE2D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7"/>
          <p:cNvSpPr txBox="1"/>
          <p:nvPr/>
        </p:nvSpPr>
        <p:spPr>
          <a:xfrm>
            <a:off x="11009376" y="7397496"/>
            <a:ext cx="585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597" name="Google Shape;597;p7"/>
          <p:cNvSpPr/>
          <p:nvPr/>
        </p:nvSpPr>
        <p:spPr>
          <a:xfrm>
            <a:off x="11932920" y="2359152"/>
            <a:ext cx="1874519" cy="960120"/>
          </a:xfrm>
          <a:prstGeom prst="roundRect">
            <a:avLst>
              <a:gd fmla="val 16667" name="adj"/>
            </a:avLst>
          </a:prstGeom>
          <a:solidFill>
            <a:srgbClr val="142B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7"/>
          <p:cNvSpPr txBox="1"/>
          <p:nvPr/>
        </p:nvSpPr>
        <p:spPr>
          <a:xfrm>
            <a:off x="12051792" y="252374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Heatmap</a:t>
            </a:r>
            <a:endParaRPr/>
          </a:p>
        </p:txBody>
      </p:sp>
      <p:sp>
        <p:nvSpPr>
          <p:cNvPr id="599" name="Google Shape;599;p7"/>
          <p:cNvSpPr txBox="1"/>
          <p:nvPr/>
        </p:nvSpPr>
        <p:spPr>
          <a:xfrm>
            <a:off x="12051792" y="283464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6F0FC"/>
                </a:solidFill>
                <a:latin typeface="Calibri"/>
                <a:ea typeface="Calibri"/>
                <a:cs typeface="Calibri"/>
                <a:sym typeface="Calibri"/>
              </a:rPr>
              <a:t>derivadas + targets</a:t>
            </a:r>
            <a:endParaRPr/>
          </a:p>
        </p:txBody>
      </p:sp>
      <p:sp>
        <p:nvSpPr>
          <p:cNvPr id="600" name="Google Shape;600;p7"/>
          <p:cNvSpPr/>
          <p:nvPr/>
        </p:nvSpPr>
        <p:spPr>
          <a:xfrm>
            <a:off x="11932920" y="3520440"/>
            <a:ext cx="1874519" cy="14173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7"/>
          <p:cNvSpPr txBox="1"/>
          <p:nvPr/>
        </p:nvSpPr>
        <p:spPr>
          <a:xfrm>
            <a:off x="12051792" y="367588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Lectura</a:t>
            </a:r>
            <a:endParaRPr/>
          </a:p>
        </p:txBody>
      </p:sp>
      <p:sp>
        <p:nvSpPr>
          <p:cNvPr id="602" name="Google Shape;602;p7"/>
          <p:cNvSpPr txBox="1"/>
          <p:nvPr/>
        </p:nvSpPr>
        <p:spPr>
          <a:xfrm>
            <a:off x="12070080" y="4023360"/>
            <a:ext cx="16093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6575" spcFirstLastPara="1" rIns="365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Las señales de ruta e historial conectan mejor con delayed.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8"/>
          <p:cNvSpPr txBox="1"/>
          <p:nvPr/>
        </p:nvSpPr>
        <p:spPr>
          <a:xfrm>
            <a:off x="685800" y="32004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FEATURE SETS</a:t>
            </a:r>
            <a:endParaRPr/>
          </a:p>
        </p:txBody>
      </p:sp>
      <p:sp>
        <p:nvSpPr>
          <p:cNvPr id="608" name="Google Shape;608;p8"/>
          <p:cNvSpPr txBox="1"/>
          <p:nvPr/>
        </p:nvSpPr>
        <p:spPr>
          <a:xfrm>
            <a:off x="685800" y="73152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Conjuntos de variables usados en las iteraciones</a:t>
            </a:r>
            <a:endParaRPr/>
          </a:p>
        </p:txBody>
      </p:sp>
      <p:sp>
        <p:nvSpPr>
          <p:cNvPr id="609" name="Google Shape;609;p8"/>
          <p:cNvSpPr txBox="1"/>
          <p:nvPr/>
        </p:nvSpPr>
        <p:spPr>
          <a:xfrm>
            <a:off x="713232" y="1243584"/>
            <a:ext cx="11338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Cada set prueba una hipotesis distinta sobre que información aporta valor predictivo.</a:t>
            </a:r>
            <a:endParaRPr/>
          </a:p>
        </p:txBody>
      </p:sp>
      <p:sp>
        <p:nvSpPr>
          <p:cNvPr id="610" name="Google Shape;610;p8"/>
          <p:cNvSpPr/>
          <p:nvPr/>
        </p:nvSpPr>
        <p:spPr>
          <a:xfrm>
            <a:off x="685800" y="173736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8"/>
          <p:cNvSpPr/>
          <p:nvPr/>
        </p:nvSpPr>
        <p:spPr>
          <a:xfrm>
            <a:off x="822960" y="2057400"/>
            <a:ext cx="5989320" cy="384048"/>
          </a:xfrm>
          <a:prstGeom prst="roundRect">
            <a:avLst>
              <a:gd fmla="val 16667" name="adj"/>
            </a:avLst>
          </a:prstGeom>
          <a:solidFill>
            <a:srgbClr val="2463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8"/>
          <p:cNvSpPr txBox="1"/>
          <p:nvPr/>
        </p:nvSpPr>
        <p:spPr>
          <a:xfrm>
            <a:off x="960120" y="2139696"/>
            <a:ext cx="57150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Exploración progresiva</a:t>
            </a:r>
            <a:endParaRPr/>
          </a:p>
        </p:txBody>
      </p:sp>
      <p:sp>
        <p:nvSpPr>
          <p:cNvPr id="613" name="Google Shape;613;p8"/>
          <p:cNvSpPr/>
          <p:nvPr/>
        </p:nvSpPr>
        <p:spPr>
          <a:xfrm>
            <a:off x="7452360" y="2057400"/>
            <a:ext cx="5989320" cy="384048"/>
          </a:xfrm>
          <a:prstGeom prst="roundRect">
            <a:avLst>
              <a:gd fmla="val 16667" name="adj"/>
            </a:avLst>
          </a:prstGeom>
          <a:solidFill>
            <a:srgbClr val="6F42C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8"/>
          <p:cNvSpPr txBox="1"/>
          <p:nvPr/>
        </p:nvSpPr>
        <p:spPr>
          <a:xfrm>
            <a:off x="7589520" y="2139696"/>
            <a:ext cx="57150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Reducción y selección</a:t>
            </a:r>
            <a:endParaRPr/>
          </a:p>
        </p:txBody>
      </p:sp>
      <p:sp>
        <p:nvSpPr>
          <p:cNvPr id="615" name="Google Shape;615;p8"/>
          <p:cNvSpPr/>
          <p:nvPr/>
        </p:nvSpPr>
        <p:spPr>
          <a:xfrm>
            <a:off x="822960" y="2697480"/>
            <a:ext cx="598932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8"/>
          <p:cNvSpPr/>
          <p:nvPr/>
        </p:nvSpPr>
        <p:spPr>
          <a:xfrm>
            <a:off x="822960" y="2697480"/>
            <a:ext cx="109728" cy="749808"/>
          </a:xfrm>
          <a:prstGeom prst="rect">
            <a:avLst/>
          </a:prstGeom>
          <a:solidFill>
            <a:srgbClr val="2463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8"/>
          <p:cNvSpPr/>
          <p:nvPr/>
        </p:nvSpPr>
        <p:spPr>
          <a:xfrm>
            <a:off x="1078992" y="2862072"/>
            <a:ext cx="1234440" cy="402336"/>
          </a:xfrm>
          <a:prstGeom prst="roundRect">
            <a:avLst>
              <a:gd fmla="val 16667" name="adj"/>
            </a:avLst>
          </a:prstGeom>
          <a:solidFill>
            <a:srgbClr val="2463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8"/>
          <p:cNvSpPr txBox="1"/>
          <p:nvPr/>
        </p:nvSpPr>
        <p:spPr>
          <a:xfrm>
            <a:off x="1106424" y="2962656"/>
            <a:ext cx="117957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F_BASE</a:t>
            </a:r>
            <a:endParaRPr/>
          </a:p>
        </p:txBody>
      </p:sp>
      <p:sp>
        <p:nvSpPr>
          <p:cNvPr id="619" name="Google Shape;619;p8"/>
          <p:cNvSpPr txBox="1"/>
          <p:nvPr/>
        </p:nvSpPr>
        <p:spPr>
          <a:xfrm>
            <a:off x="2487168" y="2816352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Variables originales seleccionadas</a:t>
            </a:r>
            <a:endParaRPr/>
          </a:p>
        </p:txBody>
      </p:sp>
      <p:sp>
        <p:nvSpPr>
          <p:cNvPr id="620" name="Google Shape;620;p8"/>
          <p:cNvSpPr txBox="1"/>
          <p:nvPr/>
        </p:nvSpPr>
        <p:spPr>
          <a:xfrm>
            <a:off x="2487168" y="3108960"/>
            <a:ext cx="4023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Linea base de comparación</a:t>
            </a:r>
            <a:endParaRPr/>
          </a:p>
        </p:txBody>
      </p:sp>
      <p:sp>
        <p:nvSpPr>
          <p:cNvPr id="621" name="Google Shape;621;p8"/>
          <p:cNvSpPr/>
          <p:nvPr/>
        </p:nvSpPr>
        <p:spPr>
          <a:xfrm>
            <a:off x="822960" y="3611880"/>
            <a:ext cx="598932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8"/>
          <p:cNvSpPr/>
          <p:nvPr/>
        </p:nvSpPr>
        <p:spPr>
          <a:xfrm>
            <a:off x="822960" y="3611880"/>
            <a:ext cx="109728" cy="749808"/>
          </a:xfrm>
          <a:prstGeom prst="rect">
            <a:avLst/>
          </a:prstGeom>
          <a:solidFill>
            <a:srgbClr val="F299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8"/>
          <p:cNvSpPr/>
          <p:nvPr/>
        </p:nvSpPr>
        <p:spPr>
          <a:xfrm>
            <a:off x="1078992" y="3776472"/>
            <a:ext cx="1234440" cy="402336"/>
          </a:xfrm>
          <a:prstGeom prst="roundRect">
            <a:avLst>
              <a:gd fmla="val 16667" name="adj"/>
            </a:avLst>
          </a:prstGeom>
          <a:solidFill>
            <a:srgbClr val="F299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8"/>
          <p:cNvSpPr txBox="1"/>
          <p:nvPr/>
        </p:nvSpPr>
        <p:spPr>
          <a:xfrm>
            <a:off x="1106424" y="3877056"/>
            <a:ext cx="117957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F_OPER</a:t>
            </a:r>
            <a:endParaRPr/>
          </a:p>
        </p:txBody>
      </p:sp>
      <p:sp>
        <p:nvSpPr>
          <p:cNvPr id="625" name="Google Shape;625;p8"/>
          <p:cNvSpPr txBox="1"/>
          <p:nvPr/>
        </p:nvSpPr>
        <p:spPr>
          <a:xfrm>
            <a:off x="2487168" y="3730752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Base + derivadas operativas</a:t>
            </a:r>
            <a:endParaRPr/>
          </a:p>
        </p:txBody>
      </p:sp>
      <p:sp>
        <p:nvSpPr>
          <p:cNvPr id="626" name="Google Shape;626;p8"/>
          <p:cNvSpPr txBox="1"/>
          <p:nvPr/>
        </p:nvSpPr>
        <p:spPr>
          <a:xfrm>
            <a:off x="2487168" y="4023360"/>
            <a:ext cx="4023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Margen horario y diferencia plan/real</a:t>
            </a:r>
            <a:endParaRPr/>
          </a:p>
        </p:txBody>
      </p:sp>
      <p:sp>
        <p:nvSpPr>
          <p:cNvPr id="627" name="Google Shape;627;p8"/>
          <p:cNvSpPr/>
          <p:nvPr/>
        </p:nvSpPr>
        <p:spPr>
          <a:xfrm>
            <a:off x="822960" y="4526280"/>
            <a:ext cx="598932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8"/>
          <p:cNvSpPr/>
          <p:nvPr/>
        </p:nvSpPr>
        <p:spPr>
          <a:xfrm>
            <a:off x="822960" y="4526280"/>
            <a:ext cx="109728" cy="749808"/>
          </a:xfrm>
          <a:prstGeom prst="rect">
            <a:avLst/>
          </a:prstGeom>
          <a:solidFill>
            <a:srgbClr val="28A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8"/>
          <p:cNvSpPr/>
          <p:nvPr/>
        </p:nvSpPr>
        <p:spPr>
          <a:xfrm>
            <a:off x="1078992" y="4690872"/>
            <a:ext cx="1234440" cy="402336"/>
          </a:xfrm>
          <a:prstGeom prst="roundRect">
            <a:avLst>
              <a:gd fmla="val 16667" name="adj"/>
            </a:avLst>
          </a:prstGeom>
          <a:solidFill>
            <a:srgbClr val="28A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8"/>
          <p:cNvSpPr txBox="1"/>
          <p:nvPr/>
        </p:nvSpPr>
        <p:spPr>
          <a:xfrm>
            <a:off x="1106424" y="4791456"/>
            <a:ext cx="117957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F_SEQ</a:t>
            </a:r>
            <a:endParaRPr/>
          </a:p>
        </p:txBody>
      </p:sp>
      <p:sp>
        <p:nvSpPr>
          <p:cNvPr id="631" name="Google Shape;631;p8"/>
          <p:cNvSpPr txBox="1"/>
          <p:nvPr/>
        </p:nvSpPr>
        <p:spPr>
          <a:xfrm>
            <a:off x="2487168" y="4645152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Base + señales secuenciales</a:t>
            </a:r>
            <a:endParaRPr/>
          </a:p>
        </p:txBody>
      </p:sp>
      <p:sp>
        <p:nvSpPr>
          <p:cNvPr id="632" name="Google Shape;632;p8"/>
          <p:cNvSpPr txBox="1"/>
          <p:nvPr/>
        </p:nvSpPr>
        <p:spPr>
          <a:xfrm>
            <a:off x="2487168" y="4937760"/>
            <a:ext cx="4023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Atraso acumulado dentro de la ruta</a:t>
            </a:r>
            <a:endParaRPr/>
          </a:p>
        </p:txBody>
      </p:sp>
      <p:sp>
        <p:nvSpPr>
          <p:cNvPr id="633" name="Google Shape;633;p8"/>
          <p:cNvSpPr/>
          <p:nvPr/>
        </p:nvSpPr>
        <p:spPr>
          <a:xfrm>
            <a:off x="822960" y="5440680"/>
            <a:ext cx="598932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8"/>
          <p:cNvSpPr/>
          <p:nvPr/>
        </p:nvSpPr>
        <p:spPr>
          <a:xfrm>
            <a:off x="822960" y="5440680"/>
            <a:ext cx="109728" cy="749808"/>
          </a:xfrm>
          <a:prstGeom prst="rect">
            <a:avLst/>
          </a:prstGeom>
          <a:solidFill>
            <a:srgbClr val="6F42C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8"/>
          <p:cNvSpPr/>
          <p:nvPr/>
        </p:nvSpPr>
        <p:spPr>
          <a:xfrm>
            <a:off x="1078992" y="5605272"/>
            <a:ext cx="1234440" cy="402336"/>
          </a:xfrm>
          <a:prstGeom prst="roundRect">
            <a:avLst>
              <a:gd fmla="val 16667" name="adj"/>
            </a:avLst>
          </a:prstGeom>
          <a:solidFill>
            <a:srgbClr val="6F42C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8"/>
          <p:cNvSpPr txBox="1"/>
          <p:nvPr/>
        </p:nvSpPr>
        <p:spPr>
          <a:xfrm>
            <a:off x="1106424" y="5705856"/>
            <a:ext cx="117957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F_HIST</a:t>
            </a:r>
            <a:endParaRPr/>
          </a:p>
        </p:txBody>
      </p:sp>
      <p:sp>
        <p:nvSpPr>
          <p:cNvPr id="637" name="Google Shape;637;p8"/>
          <p:cNvSpPr txBox="1"/>
          <p:nvPr/>
        </p:nvSpPr>
        <p:spPr>
          <a:xfrm>
            <a:off x="2487168" y="5559552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Base + historial del conductor</a:t>
            </a:r>
            <a:endParaRPr/>
          </a:p>
        </p:txBody>
      </p:sp>
      <p:sp>
        <p:nvSpPr>
          <p:cNvPr id="638" name="Google Shape;638;p8"/>
          <p:cNvSpPr txBox="1"/>
          <p:nvPr/>
        </p:nvSpPr>
        <p:spPr>
          <a:xfrm>
            <a:off x="2487168" y="5852160"/>
            <a:ext cx="4023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Comportamiento recurrente previo</a:t>
            </a:r>
            <a:endParaRPr/>
          </a:p>
        </p:txBody>
      </p:sp>
      <p:sp>
        <p:nvSpPr>
          <p:cNvPr id="639" name="Google Shape;639;p8"/>
          <p:cNvSpPr/>
          <p:nvPr/>
        </p:nvSpPr>
        <p:spPr>
          <a:xfrm>
            <a:off x="7452360" y="2697480"/>
            <a:ext cx="598932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8"/>
          <p:cNvSpPr/>
          <p:nvPr/>
        </p:nvSpPr>
        <p:spPr>
          <a:xfrm>
            <a:off x="7452360" y="2697480"/>
            <a:ext cx="109728" cy="749808"/>
          </a:xfrm>
          <a:prstGeom prst="rect">
            <a:avLst/>
          </a:prstGeom>
          <a:solidFill>
            <a:srgbClr val="2463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8"/>
          <p:cNvSpPr/>
          <p:nvPr/>
        </p:nvSpPr>
        <p:spPr>
          <a:xfrm>
            <a:off x="7708392" y="2862072"/>
            <a:ext cx="1234440" cy="402336"/>
          </a:xfrm>
          <a:prstGeom prst="roundRect">
            <a:avLst>
              <a:gd fmla="val 16667" name="adj"/>
            </a:avLst>
          </a:prstGeom>
          <a:solidFill>
            <a:srgbClr val="2463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8"/>
          <p:cNvSpPr txBox="1"/>
          <p:nvPr/>
        </p:nvSpPr>
        <p:spPr>
          <a:xfrm>
            <a:off x="7735824" y="2962656"/>
            <a:ext cx="117957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F_RED</a:t>
            </a:r>
            <a:endParaRPr/>
          </a:p>
        </p:txBody>
      </p:sp>
      <p:sp>
        <p:nvSpPr>
          <p:cNvPr id="643" name="Google Shape;643;p8"/>
          <p:cNvSpPr txBox="1"/>
          <p:nvPr/>
        </p:nvSpPr>
        <p:spPr>
          <a:xfrm>
            <a:off x="9116568" y="2816352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Base sin redundancias fuertes</a:t>
            </a:r>
            <a:endParaRPr/>
          </a:p>
        </p:txBody>
      </p:sp>
      <p:sp>
        <p:nvSpPr>
          <p:cNvPr id="644" name="Google Shape;644;p8"/>
          <p:cNvSpPr txBox="1"/>
          <p:nvPr/>
        </p:nvSpPr>
        <p:spPr>
          <a:xfrm>
            <a:off x="9116568" y="3108960"/>
            <a:ext cx="4023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Probar parsimonia</a:t>
            </a:r>
            <a:endParaRPr/>
          </a:p>
        </p:txBody>
      </p:sp>
      <p:sp>
        <p:nvSpPr>
          <p:cNvPr id="645" name="Google Shape;645;p8"/>
          <p:cNvSpPr/>
          <p:nvPr/>
        </p:nvSpPr>
        <p:spPr>
          <a:xfrm>
            <a:off x="7452360" y="3611880"/>
            <a:ext cx="598932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8"/>
          <p:cNvSpPr/>
          <p:nvPr/>
        </p:nvSpPr>
        <p:spPr>
          <a:xfrm>
            <a:off x="7452360" y="3611880"/>
            <a:ext cx="109728" cy="749808"/>
          </a:xfrm>
          <a:prstGeom prst="rect">
            <a:avLst/>
          </a:prstGeom>
          <a:solidFill>
            <a:srgbClr val="D645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8"/>
          <p:cNvSpPr/>
          <p:nvPr/>
        </p:nvSpPr>
        <p:spPr>
          <a:xfrm>
            <a:off x="7708392" y="3776472"/>
            <a:ext cx="1234440" cy="402336"/>
          </a:xfrm>
          <a:prstGeom prst="roundRect">
            <a:avLst>
              <a:gd fmla="val 16667" name="adj"/>
            </a:avLst>
          </a:prstGeom>
          <a:solidFill>
            <a:srgbClr val="D645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8"/>
          <p:cNvSpPr txBox="1"/>
          <p:nvPr/>
        </p:nvSpPr>
        <p:spPr>
          <a:xfrm>
            <a:off x="7735824" y="3877056"/>
            <a:ext cx="117957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F_NOTIME</a:t>
            </a:r>
            <a:endParaRPr/>
          </a:p>
        </p:txBody>
      </p:sp>
      <p:sp>
        <p:nvSpPr>
          <p:cNvPr id="649" name="Google Shape;649;p8"/>
          <p:cNvSpPr txBox="1"/>
          <p:nvPr/>
        </p:nvSpPr>
        <p:spPr>
          <a:xfrm>
            <a:off x="9116568" y="3730752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Sin ventana horaria planificada</a:t>
            </a:r>
            <a:endParaRPr/>
          </a:p>
        </p:txBody>
      </p:sp>
      <p:sp>
        <p:nvSpPr>
          <p:cNvPr id="650" name="Google Shape;650;p8"/>
          <p:cNvSpPr txBox="1"/>
          <p:nvPr/>
        </p:nvSpPr>
        <p:spPr>
          <a:xfrm>
            <a:off x="9116568" y="4023360"/>
            <a:ext cx="4023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Medir perdida al quitar tiempo</a:t>
            </a:r>
            <a:endParaRPr/>
          </a:p>
        </p:txBody>
      </p:sp>
      <p:sp>
        <p:nvSpPr>
          <p:cNvPr id="651" name="Google Shape;651;p8"/>
          <p:cNvSpPr/>
          <p:nvPr/>
        </p:nvSpPr>
        <p:spPr>
          <a:xfrm>
            <a:off x="7452360" y="4526280"/>
            <a:ext cx="598932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8"/>
          <p:cNvSpPr/>
          <p:nvPr/>
        </p:nvSpPr>
        <p:spPr>
          <a:xfrm>
            <a:off x="7452360" y="4526280"/>
            <a:ext cx="109728" cy="749808"/>
          </a:xfrm>
          <a:prstGeom prst="rect">
            <a:avLst/>
          </a:prstGeom>
          <a:solidFill>
            <a:srgbClr val="28A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8"/>
          <p:cNvSpPr/>
          <p:nvPr/>
        </p:nvSpPr>
        <p:spPr>
          <a:xfrm>
            <a:off x="7708392" y="4690872"/>
            <a:ext cx="1234440" cy="402336"/>
          </a:xfrm>
          <a:prstGeom prst="roundRect">
            <a:avLst>
              <a:gd fmla="val 16667" name="adj"/>
            </a:avLst>
          </a:prstGeom>
          <a:solidFill>
            <a:srgbClr val="28A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8"/>
          <p:cNvSpPr txBox="1"/>
          <p:nvPr/>
        </p:nvSpPr>
        <p:spPr>
          <a:xfrm>
            <a:off x="7735824" y="4791456"/>
            <a:ext cx="117957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F_FULL</a:t>
            </a:r>
            <a:endParaRPr/>
          </a:p>
        </p:txBody>
      </p:sp>
      <p:sp>
        <p:nvSpPr>
          <p:cNvPr id="655" name="Google Shape;655;p8"/>
          <p:cNvSpPr txBox="1"/>
          <p:nvPr/>
        </p:nvSpPr>
        <p:spPr>
          <a:xfrm>
            <a:off x="9116568" y="4645152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Todas las fuentes de señal</a:t>
            </a:r>
            <a:endParaRPr/>
          </a:p>
        </p:txBody>
      </p:sp>
      <p:sp>
        <p:nvSpPr>
          <p:cNvPr id="656" name="Google Shape;656;p8"/>
          <p:cNvSpPr txBox="1"/>
          <p:nvPr/>
        </p:nvSpPr>
        <p:spPr>
          <a:xfrm>
            <a:off x="9116568" y="4937760"/>
            <a:ext cx="4023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Maximizar información disponible</a:t>
            </a:r>
            <a:endParaRPr/>
          </a:p>
        </p:txBody>
      </p:sp>
      <p:sp>
        <p:nvSpPr>
          <p:cNvPr id="657" name="Google Shape;657;p8"/>
          <p:cNvSpPr/>
          <p:nvPr/>
        </p:nvSpPr>
        <p:spPr>
          <a:xfrm>
            <a:off x="7452360" y="5440680"/>
            <a:ext cx="598932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8"/>
          <p:cNvSpPr/>
          <p:nvPr/>
        </p:nvSpPr>
        <p:spPr>
          <a:xfrm>
            <a:off x="7452360" y="5440680"/>
            <a:ext cx="109728" cy="749808"/>
          </a:xfrm>
          <a:prstGeom prst="rect">
            <a:avLst/>
          </a:prstGeom>
          <a:solidFill>
            <a:srgbClr val="6F42C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8"/>
          <p:cNvSpPr/>
          <p:nvPr/>
        </p:nvSpPr>
        <p:spPr>
          <a:xfrm>
            <a:off x="7708392" y="5605272"/>
            <a:ext cx="1234440" cy="402336"/>
          </a:xfrm>
          <a:prstGeom prst="roundRect">
            <a:avLst>
              <a:gd fmla="val 16667" name="adj"/>
            </a:avLst>
          </a:prstGeom>
          <a:solidFill>
            <a:srgbClr val="6F42C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8"/>
          <p:cNvSpPr txBox="1"/>
          <p:nvPr/>
        </p:nvSpPr>
        <p:spPr>
          <a:xfrm>
            <a:off x="7735824" y="5705856"/>
            <a:ext cx="117957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F_TOP</a:t>
            </a:r>
            <a:endParaRPr/>
          </a:p>
        </p:txBody>
      </p:sp>
      <p:sp>
        <p:nvSpPr>
          <p:cNvPr id="661" name="Google Shape;661;p8"/>
          <p:cNvSpPr txBox="1"/>
          <p:nvPr/>
        </p:nvSpPr>
        <p:spPr>
          <a:xfrm>
            <a:off x="9116568" y="5559552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Versión compacta por importancia</a:t>
            </a:r>
            <a:endParaRPr/>
          </a:p>
        </p:txBody>
      </p:sp>
      <p:sp>
        <p:nvSpPr>
          <p:cNvPr id="662" name="Google Shape;662;p8"/>
          <p:cNvSpPr txBox="1"/>
          <p:nvPr/>
        </p:nvSpPr>
        <p:spPr>
          <a:xfrm>
            <a:off x="9116568" y="5852160"/>
            <a:ext cx="4023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Reducir ruido sin perder rendimiento</a:t>
            </a:r>
            <a:endParaRPr/>
          </a:p>
        </p:txBody>
      </p:sp>
      <p:sp>
        <p:nvSpPr>
          <p:cNvPr id="663" name="Google Shape;663;p8"/>
          <p:cNvSpPr/>
          <p:nvPr/>
        </p:nvSpPr>
        <p:spPr>
          <a:xfrm>
            <a:off x="822960" y="6492240"/>
            <a:ext cx="12801600" cy="566928"/>
          </a:xfrm>
          <a:prstGeom prst="roundRect">
            <a:avLst>
              <a:gd fmla="val 16667" name="adj"/>
            </a:avLst>
          </a:prstGeom>
          <a:solidFill>
            <a:srgbClr val="142B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8"/>
          <p:cNvSpPr txBox="1"/>
          <p:nvPr/>
        </p:nvSpPr>
        <p:spPr>
          <a:xfrm>
            <a:off x="1051560" y="6629400"/>
            <a:ext cx="1234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41125" spcFirstLastPara="1" rIns="4112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 metodológico: entender que mejora el modelo, no solo buscar una métrica final.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9"/>
          <p:cNvSpPr txBox="1"/>
          <p:nvPr/>
        </p:nvSpPr>
        <p:spPr>
          <a:xfrm>
            <a:off x="685800" y="32004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MÉTRICAS DE EVALUACIÓN</a:t>
            </a:r>
            <a:endParaRPr/>
          </a:p>
        </p:txBody>
      </p:sp>
      <p:sp>
        <p:nvSpPr>
          <p:cNvPr id="670" name="Google Shape;670;p9"/>
          <p:cNvSpPr txBox="1"/>
          <p:nvPr/>
        </p:nvSpPr>
        <p:spPr>
          <a:xfrm>
            <a:off x="685800" y="676656"/>
            <a:ext cx="11155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Cómo leer los resultados de los modelos</a:t>
            </a:r>
            <a:endParaRPr/>
          </a:p>
        </p:txBody>
      </p:sp>
      <p:sp>
        <p:nvSpPr>
          <p:cNvPr id="671" name="Google Shape;671;p9"/>
          <p:cNvSpPr txBox="1"/>
          <p:nvPr/>
        </p:nvSpPr>
        <p:spPr>
          <a:xfrm>
            <a:off x="713232" y="1170432"/>
            <a:ext cx="1188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Las métricas conectan desempeño técnico con decisiones: alertar mejor y estimar minutos con menor error.</a:t>
            </a:r>
            <a:endParaRPr/>
          </a:p>
        </p:txBody>
      </p:sp>
      <p:sp>
        <p:nvSpPr>
          <p:cNvPr id="672" name="Google Shape;672;p9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9"/>
          <p:cNvSpPr/>
          <p:nvPr/>
        </p:nvSpPr>
        <p:spPr>
          <a:xfrm>
            <a:off x="822960" y="2103120"/>
            <a:ext cx="6080760" cy="4160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9"/>
          <p:cNvSpPr/>
          <p:nvPr/>
        </p:nvSpPr>
        <p:spPr>
          <a:xfrm>
            <a:off x="822960" y="2103120"/>
            <a:ext cx="6080760" cy="502920"/>
          </a:xfrm>
          <a:prstGeom prst="roundRect">
            <a:avLst>
              <a:gd fmla="val 16667" name="adj"/>
            </a:avLst>
          </a:prstGeom>
          <a:solidFill>
            <a:srgbClr val="2463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9"/>
          <p:cNvSpPr txBox="1"/>
          <p:nvPr/>
        </p:nvSpPr>
        <p:spPr>
          <a:xfrm>
            <a:off x="1005840" y="2231136"/>
            <a:ext cx="5715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Clasificación: riesgo de atraso</a:t>
            </a:r>
            <a:endParaRPr/>
          </a:p>
        </p:txBody>
      </p:sp>
      <p:sp>
        <p:nvSpPr>
          <p:cNvPr id="676" name="Google Shape;676;p9"/>
          <p:cNvSpPr/>
          <p:nvPr/>
        </p:nvSpPr>
        <p:spPr>
          <a:xfrm>
            <a:off x="7406640" y="2103120"/>
            <a:ext cx="6080760" cy="4160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9"/>
          <p:cNvSpPr/>
          <p:nvPr/>
        </p:nvSpPr>
        <p:spPr>
          <a:xfrm>
            <a:off x="7406640" y="2103120"/>
            <a:ext cx="6080760" cy="502920"/>
          </a:xfrm>
          <a:prstGeom prst="roundRect">
            <a:avLst>
              <a:gd fmla="val 16667" name="adj"/>
            </a:avLst>
          </a:prstGeom>
          <a:solidFill>
            <a:srgbClr val="28A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9"/>
          <p:cNvSpPr txBox="1"/>
          <p:nvPr/>
        </p:nvSpPr>
        <p:spPr>
          <a:xfrm>
            <a:off x="7589519" y="2231136"/>
            <a:ext cx="5715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Regresión: minutos de delay</a:t>
            </a:r>
            <a:endParaRPr/>
          </a:p>
        </p:txBody>
      </p:sp>
      <p:sp>
        <p:nvSpPr>
          <p:cNvPr id="679" name="Google Shape;679;p9"/>
          <p:cNvSpPr/>
          <p:nvPr/>
        </p:nvSpPr>
        <p:spPr>
          <a:xfrm>
            <a:off x="1143000" y="2834640"/>
            <a:ext cx="1143000" cy="530352"/>
          </a:xfrm>
          <a:prstGeom prst="roundRect">
            <a:avLst>
              <a:gd fmla="val 16667" name="adj"/>
            </a:avLst>
          </a:prstGeom>
          <a:solidFill>
            <a:srgbClr val="2463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9"/>
          <p:cNvSpPr txBox="1"/>
          <p:nvPr/>
        </p:nvSpPr>
        <p:spPr>
          <a:xfrm>
            <a:off x="1197864" y="2990088"/>
            <a:ext cx="1033271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endParaRPr/>
          </a:p>
        </p:txBody>
      </p:sp>
      <p:sp>
        <p:nvSpPr>
          <p:cNvPr id="681" name="Google Shape;681;p9"/>
          <p:cNvSpPr txBox="1"/>
          <p:nvPr/>
        </p:nvSpPr>
        <p:spPr>
          <a:xfrm>
            <a:off x="2496312" y="2871216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Balance entre precision y recall</a:t>
            </a:r>
            <a:endParaRPr/>
          </a:p>
        </p:txBody>
      </p:sp>
      <p:sp>
        <p:nvSpPr>
          <p:cNvPr id="682" name="Google Shape;682;p9"/>
          <p:cNvSpPr txBox="1"/>
          <p:nvPr/>
        </p:nvSpPr>
        <p:spPr>
          <a:xfrm>
            <a:off x="2496312" y="3145536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Métrica principal para comparar clasificadores.</a:t>
            </a:r>
            <a:endParaRPr/>
          </a:p>
        </p:txBody>
      </p:sp>
      <p:sp>
        <p:nvSpPr>
          <p:cNvPr id="683" name="Google Shape;683;p9"/>
          <p:cNvSpPr/>
          <p:nvPr/>
        </p:nvSpPr>
        <p:spPr>
          <a:xfrm>
            <a:off x="1143000" y="3703320"/>
            <a:ext cx="1143000" cy="530352"/>
          </a:xfrm>
          <a:prstGeom prst="roundRect">
            <a:avLst>
              <a:gd fmla="val 16667" name="adj"/>
            </a:avLst>
          </a:prstGeom>
          <a:solidFill>
            <a:srgbClr val="F299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9"/>
          <p:cNvSpPr txBox="1"/>
          <p:nvPr/>
        </p:nvSpPr>
        <p:spPr>
          <a:xfrm>
            <a:off x="1197864" y="3858768"/>
            <a:ext cx="1033271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/>
          </a:p>
        </p:txBody>
      </p:sp>
      <p:sp>
        <p:nvSpPr>
          <p:cNvPr id="685" name="Google Shape;685;p9"/>
          <p:cNvSpPr txBox="1"/>
          <p:nvPr/>
        </p:nvSpPr>
        <p:spPr>
          <a:xfrm>
            <a:off x="2496312" y="3739896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Cuantos atrasos reales detecta</a:t>
            </a:r>
            <a:endParaRPr/>
          </a:p>
        </p:txBody>
      </p:sp>
      <p:sp>
        <p:nvSpPr>
          <p:cNvPr id="686" name="Google Shape;686;p9"/>
          <p:cNvSpPr txBox="1"/>
          <p:nvPr/>
        </p:nvSpPr>
        <p:spPr>
          <a:xfrm>
            <a:off x="2496312" y="4014215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Clave si perder un atraso cuesta más que una falsa alarma.</a:t>
            </a:r>
            <a:endParaRPr/>
          </a:p>
        </p:txBody>
      </p:sp>
      <p:sp>
        <p:nvSpPr>
          <p:cNvPr id="687" name="Google Shape;687;p9"/>
          <p:cNvSpPr/>
          <p:nvPr/>
        </p:nvSpPr>
        <p:spPr>
          <a:xfrm>
            <a:off x="1143000" y="4572000"/>
            <a:ext cx="1143000" cy="530352"/>
          </a:xfrm>
          <a:prstGeom prst="roundRect">
            <a:avLst>
              <a:gd fmla="val 16667" name="adj"/>
            </a:avLst>
          </a:prstGeom>
          <a:solidFill>
            <a:srgbClr val="28A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9"/>
          <p:cNvSpPr txBox="1"/>
          <p:nvPr/>
        </p:nvSpPr>
        <p:spPr>
          <a:xfrm>
            <a:off x="1197864" y="4727448"/>
            <a:ext cx="1033271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/>
          </a:p>
        </p:txBody>
      </p:sp>
      <p:sp>
        <p:nvSpPr>
          <p:cNvPr id="689" name="Google Shape;689;p9"/>
          <p:cNvSpPr txBox="1"/>
          <p:nvPr/>
        </p:nvSpPr>
        <p:spPr>
          <a:xfrm>
            <a:off x="2496312" y="4608576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Calidad de las alertas emitidas</a:t>
            </a:r>
            <a:endParaRPr/>
          </a:p>
        </p:txBody>
      </p:sp>
      <p:sp>
        <p:nvSpPr>
          <p:cNvPr id="690" name="Google Shape;690;p9"/>
          <p:cNvSpPr txBox="1"/>
          <p:nvPr/>
        </p:nvSpPr>
        <p:spPr>
          <a:xfrm>
            <a:off x="2496312" y="4882896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Evita saturar a operaciones con alertas falsas.</a:t>
            </a:r>
            <a:endParaRPr/>
          </a:p>
        </p:txBody>
      </p:sp>
      <p:sp>
        <p:nvSpPr>
          <p:cNvPr id="691" name="Google Shape;691;p9"/>
          <p:cNvSpPr/>
          <p:nvPr/>
        </p:nvSpPr>
        <p:spPr>
          <a:xfrm>
            <a:off x="1143000" y="5440680"/>
            <a:ext cx="1143000" cy="530352"/>
          </a:xfrm>
          <a:prstGeom prst="roundRect">
            <a:avLst>
              <a:gd fmla="val 16667" name="adj"/>
            </a:avLst>
          </a:prstGeom>
          <a:solidFill>
            <a:srgbClr val="6F42C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9"/>
          <p:cNvSpPr txBox="1"/>
          <p:nvPr/>
        </p:nvSpPr>
        <p:spPr>
          <a:xfrm>
            <a:off x="1197864" y="5596128"/>
            <a:ext cx="1033271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AUC</a:t>
            </a:r>
            <a:endParaRPr/>
          </a:p>
        </p:txBody>
      </p:sp>
      <p:sp>
        <p:nvSpPr>
          <p:cNvPr id="693" name="Google Shape;693;p9"/>
          <p:cNvSpPr txBox="1"/>
          <p:nvPr/>
        </p:nvSpPr>
        <p:spPr>
          <a:xfrm>
            <a:off x="2496312" y="5477256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Ordena casos por riesgo</a:t>
            </a:r>
            <a:endParaRPr/>
          </a:p>
        </p:txBody>
      </p:sp>
      <p:sp>
        <p:nvSpPr>
          <p:cNvPr id="694" name="Google Shape;694;p9"/>
          <p:cNvSpPr txBox="1"/>
          <p:nvPr/>
        </p:nvSpPr>
        <p:spPr>
          <a:xfrm>
            <a:off x="2496312" y="5751576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Indica si el modelo rankea bien antes de fijar umbral.</a:t>
            </a:r>
            <a:endParaRPr/>
          </a:p>
        </p:txBody>
      </p:sp>
      <p:sp>
        <p:nvSpPr>
          <p:cNvPr id="695" name="Google Shape;695;p9"/>
          <p:cNvSpPr/>
          <p:nvPr/>
        </p:nvSpPr>
        <p:spPr>
          <a:xfrm>
            <a:off x="7726679" y="2834640"/>
            <a:ext cx="1143000" cy="530352"/>
          </a:xfrm>
          <a:prstGeom prst="roundRect">
            <a:avLst>
              <a:gd fmla="val 16667" name="adj"/>
            </a:avLst>
          </a:prstGeom>
          <a:solidFill>
            <a:srgbClr val="28A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9"/>
          <p:cNvSpPr txBox="1"/>
          <p:nvPr/>
        </p:nvSpPr>
        <p:spPr>
          <a:xfrm>
            <a:off x="7781544" y="2990088"/>
            <a:ext cx="1033271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/>
          </a:p>
        </p:txBody>
      </p:sp>
      <p:sp>
        <p:nvSpPr>
          <p:cNvPr id="697" name="Google Shape;697;p9"/>
          <p:cNvSpPr txBox="1"/>
          <p:nvPr/>
        </p:nvSpPr>
        <p:spPr>
          <a:xfrm>
            <a:off x="9079992" y="2871216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Error en minutos penalizando grandes fallos</a:t>
            </a:r>
            <a:endParaRPr/>
          </a:p>
        </p:txBody>
      </p:sp>
      <p:sp>
        <p:nvSpPr>
          <p:cNvPr id="698" name="Google Shape;698;p9"/>
          <p:cNvSpPr txBox="1"/>
          <p:nvPr/>
        </p:nvSpPr>
        <p:spPr>
          <a:xfrm>
            <a:off x="9079992" y="3145536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Principal cuando errores grandes son costosos.</a:t>
            </a:r>
            <a:endParaRPr/>
          </a:p>
        </p:txBody>
      </p:sp>
      <p:sp>
        <p:nvSpPr>
          <p:cNvPr id="699" name="Google Shape;699;p9"/>
          <p:cNvSpPr/>
          <p:nvPr/>
        </p:nvSpPr>
        <p:spPr>
          <a:xfrm>
            <a:off x="7726679" y="3703320"/>
            <a:ext cx="1143000" cy="530352"/>
          </a:xfrm>
          <a:prstGeom prst="roundRect">
            <a:avLst>
              <a:gd fmla="val 16667" name="adj"/>
            </a:avLst>
          </a:prstGeom>
          <a:solidFill>
            <a:srgbClr val="2463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9"/>
          <p:cNvSpPr txBox="1"/>
          <p:nvPr/>
        </p:nvSpPr>
        <p:spPr>
          <a:xfrm>
            <a:off x="7781544" y="3858768"/>
            <a:ext cx="1033271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/>
          </a:p>
        </p:txBody>
      </p:sp>
      <p:sp>
        <p:nvSpPr>
          <p:cNvPr id="701" name="Google Shape;701;p9"/>
          <p:cNvSpPr txBox="1"/>
          <p:nvPr/>
        </p:nvSpPr>
        <p:spPr>
          <a:xfrm>
            <a:off x="9079992" y="3739896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Error absoluto promedio</a:t>
            </a:r>
            <a:endParaRPr/>
          </a:p>
        </p:txBody>
      </p:sp>
      <p:sp>
        <p:nvSpPr>
          <p:cNvPr id="702" name="Google Shape;702;p9"/>
          <p:cNvSpPr txBox="1"/>
          <p:nvPr/>
        </p:nvSpPr>
        <p:spPr>
          <a:xfrm>
            <a:off x="9079992" y="4014215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Lectura directa: minutos promedio de error.</a:t>
            </a:r>
            <a:endParaRPr/>
          </a:p>
        </p:txBody>
      </p:sp>
      <p:sp>
        <p:nvSpPr>
          <p:cNvPr id="703" name="Google Shape;703;p9"/>
          <p:cNvSpPr/>
          <p:nvPr/>
        </p:nvSpPr>
        <p:spPr>
          <a:xfrm>
            <a:off x="7726679" y="4572000"/>
            <a:ext cx="1143000" cy="530352"/>
          </a:xfrm>
          <a:prstGeom prst="roundRect">
            <a:avLst>
              <a:gd fmla="val 16667" name="adj"/>
            </a:avLst>
          </a:prstGeom>
          <a:solidFill>
            <a:srgbClr val="F299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9"/>
          <p:cNvSpPr txBox="1"/>
          <p:nvPr/>
        </p:nvSpPr>
        <p:spPr>
          <a:xfrm>
            <a:off x="7781544" y="4727448"/>
            <a:ext cx="1033271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/>
          </a:p>
        </p:txBody>
      </p:sp>
      <p:sp>
        <p:nvSpPr>
          <p:cNvPr id="705" name="Google Shape;705;p9"/>
          <p:cNvSpPr txBox="1"/>
          <p:nvPr/>
        </p:nvSpPr>
        <p:spPr>
          <a:xfrm>
            <a:off x="9079992" y="4608576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Varianza del delay explicada</a:t>
            </a:r>
            <a:endParaRPr/>
          </a:p>
        </p:txBody>
      </p:sp>
      <p:sp>
        <p:nvSpPr>
          <p:cNvPr id="706" name="Google Shape;706;p9"/>
          <p:cNvSpPr txBox="1"/>
          <p:nvPr/>
        </p:nvSpPr>
        <p:spPr>
          <a:xfrm>
            <a:off x="9079992" y="4882896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Mide capacidad global de explicar el comportamiento.</a:t>
            </a:r>
            <a:endParaRPr/>
          </a:p>
        </p:txBody>
      </p:sp>
      <p:sp>
        <p:nvSpPr>
          <p:cNvPr id="707" name="Google Shape;707;p9"/>
          <p:cNvSpPr/>
          <p:nvPr/>
        </p:nvSpPr>
        <p:spPr>
          <a:xfrm>
            <a:off x="7726679" y="5440680"/>
            <a:ext cx="1143000" cy="530352"/>
          </a:xfrm>
          <a:prstGeom prst="roundRect">
            <a:avLst>
              <a:gd fmla="val 16667" name="adj"/>
            </a:avLst>
          </a:prstGeom>
          <a:solidFill>
            <a:srgbClr val="D645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9"/>
          <p:cNvSpPr txBox="1"/>
          <p:nvPr/>
        </p:nvSpPr>
        <p:spPr>
          <a:xfrm>
            <a:off x="7781544" y="5596128"/>
            <a:ext cx="1033271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Late</a:t>
            </a:r>
            <a:endParaRPr/>
          </a:p>
        </p:txBody>
      </p:sp>
      <p:sp>
        <p:nvSpPr>
          <p:cNvPr id="709" name="Google Shape;709;p9"/>
          <p:cNvSpPr txBox="1"/>
          <p:nvPr/>
        </p:nvSpPr>
        <p:spPr>
          <a:xfrm>
            <a:off x="9079992" y="5477256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Predicción media en atrasadas</a:t>
            </a:r>
            <a:endParaRPr/>
          </a:p>
        </p:txBody>
      </p:sp>
      <p:sp>
        <p:nvSpPr>
          <p:cNvPr id="710" name="Google Shape;710;p9"/>
          <p:cNvSpPr txBox="1"/>
          <p:nvPr/>
        </p:nvSpPr>
        <p:spPr>
          <a:xfrm>
            <a:off x="9079992" y="5751576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Valida si reconoce la dirección del atraso real.</a:t>
            </a:r>
            <a:endParaRPr/>
          </a:p>
        </p:txBody>
      </p:sp>
      <p:sp>
        <p:nvSpPr>
          <p:cNvPr id="711" name="Google Shape;711;p9"/>
          <p:cNvSpPr/>
          <p:nvPr/>
        </p:nvSpPr>
        <p:spPr>
          <a:xfrm>
            <a:off x="822960" y="6629400"/>
            <a:ext cx="12938760" cy="594360"/>
          </a:xfrm>
          <a:prstGeom prst="roundRect">
            <a:avLst>
              <a:gd fmla="val 16667" name="adj"/>
            </a:avLst>
          </a:prstGeom>
          <a:solidFill>
            <a:srgbClr val="142B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9"/>
          <p:cNvSpPr txBox="1"/>
          <p:nvPr/>
        </p:nvSpPr>
        <p:spPr>
          <a:xfrm>
            <a:off x="1051560" y="6766560"/>
            <a:ext cx="1248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45700" spcFirstLastPara="1" rIns="45700" wrap="square" tIns="13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 se reporta, pero no decide: con clases desbalanceadas puede verse alta aunque el modelo ignore los atrasos.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0"/>
          <p:cNvSpPr txBox="1"/>
          <p:nvPr/>
        </p:nvSpPr>
        <p:spPr>
          <a:xfrm>
            <a:off x="685800" y="3200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MODELO 1 - CLASIFICACIÓN</a:t>
            </a:r>
            <a:endParaRPr/>
          </a:p>
        </p:txBody>
      </p:sp>
      <p:sp>
        <p:nvSpPr>
          <p:cNvPr id="718" name="Google Shape;718;p10"/>
          <p:cNvSpPr txBox="1"/>
          <p:nvPr/>
        </p:nvSpPr>
        <p:spPr>
          <a:xfrm>
            <a:off x="685800" y="713232"/>
            <a:ext cx="11430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Regresión Logística</a:t>
            </a:r>
            <a:endParaRPr/>
          </a:p>
        </p:txBody>
      </p:sp>
      <p:sp>
        <p:nvSpPr>
          <p:cNvPr id="719" name="Google Shape;719;p10"/>
          <p:cNvSpPr txBox="1"/>
          <p:nvPr/>
        </p:nvSpPr>
        <p:spPr>
          <a:xfrm>
            <a:off x="5074920" y="804672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Benchmark interpretable</a:t>
            </a:r>
            <a:endParaRPr/>
          </a:p>
        </p:txBody>
      </p:sp>
      <p:sp>
        <p:nvSpPr>
          <p:cNvPr id="720" name="Google Shape;720;p10"/>
          <p:cNvSpPr txBox="1"/>
          <p:nvPr/>
        </p:nvSpPr>
        <p:spPr>
          <a:xfrm>
            <a:off x="713232" y="1325880"/>
            <a:ext cx="1207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Modelo base para medir cuánto aportan las nuevas señales antes de pasar a modelos no lineales.</a:t>
            </a:r>
            <a:endParaRPr/>
          </a:p>
        </p:txBody>
      </p:sp>
      <p:sp>
        <p:nvSpPr>
          <p:cNvPr id="721" name="Google Shape;721;p10"/>
          <p:cNvSpPr/>
          <p:nvPr/>
        </p:nvSpPr>
        <p:spPr>
          <a:xfrm>
            <a:off x="685800" y="1783080"/>
            <a:ext cx="13258800" cy="36576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0"/>
          <p:cNvSpPr/>
          <p:nvPr/>
        </p:nvSpPr>
        <p:spPr>
          <a:xfrm>
            <a:off x="777250" y="2148850"/>
            <a:ext cx="480060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6500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0"/>
          <p:cNvSpPr txBox="1"/>
          <p:nvPr/>
        </p:nvSpPr>
        <p:spPr>
          <a:xfrm>
            <a:off x="1051560" y="2350008"/>
            <a:ext cx="4251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Cómo funciona</a:t>
            </a:r>
            <a:endParaRPr/>
          </a:p>
        </p:txBody>
      </p:sp>
      <p:sp>
        <p:nvSpPr>
          <p:cNvPr id="724" name="Google Shape;724;p10"/>
          <p:cNvSpPr txBox="1"/>
          <p:nvPr/>
        </p:nvSpPr>
        <p:spPr>
          <a:xfrm>
            <a:off x="1124712" y="2862072"/>
            <a:ext cx="4160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Calcula probabilidad de atraso.</a:t>
            </a:r>
            <a:endParaRPr/>
          </a:p>
        </p:txBody>
      </p:sp>
      <p:sp>
        <p:nvSpPr>
          <p:cNvPr id="725" name="Google Shape;725;p10"/>
          <p:cNvSpPr txBox="1"/>
          <p:nvPr/>
        </p:nvSpPr>
        <p:spPr>
          <a:xfrm>
            <a:off x="1124712" y="3305561"/>
            <a:ext cx="4160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Es simple y explicable.</a:t>
            </a:r>
            <a:endParaRPr/>
          </a:p>
        </p:txBody>
      </p:sp>
      <p:sp>
        <p:nvSpPr>
          <p:cNvPr id="726" name="Google Shape;726;p10"/>
          <p:cNvSpPr txBox="1"/>
          <p:nvPr/>
        </p:nvSpPr>
        <p:spPr>
          <a:xfrm>
            <a:off x="1124712" y="3749038"/>
            <a:ext cx="4160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No captura bien relaciones complejas.</a:t>
            </a:r>
            <a:endParaRPr/>
          </a:p>
        </p:txBody>
      </p:sp>
      <p:sp>
        <p:nvSpPr>
          <p:cNvPr id="727" name="Google Shape;727;p10"/>
          <p:cNvSpPr/>
          <p:nvPr/>
        </p:nvSpPr>
        <p:spPr>
          <a:xfrm>
            <a:off x="777250" y="4434851"/>
            <a:ext cx="4800600" cy="216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6500">
            <a:solidFill>
              <a:srgbClr val="F299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0"/>
          <p:cNvSpPr txBox="1"/>
          <p:nvPr/>
        </p:nvSpPr>
        <p:spPr>
          <a:xfrm>
            <a:off x="1051560" y="4636007"/>
            <a:ext cx="4251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Qué se probó</a:t>
            </a:r>
            <a:endParaRPr/>
          </a:p>
        </p:txBody>
      </p:sp>
      <p:sp>
        <p:nvSpPr>
          <p:cNvPr id="729" name="Google Shape;729;p10"/>
          <p:cNvSpPr txBox="1"/>
          <p:nvPr/>
        </p:nvSpPr>
        <p:spPr>
          <a:xfrm>
            <a:off x="1124712" y="5148072"/>
            <a:ext cx="4160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- 10 iteraciones de variables.</a:t>
            </a:r>
            <a:endParaRPr/>
          </a:p>
        </p:txBody>
      </p:sp>
      <p:sp>
        <p:nvSpPr>
          <p:cNvPr id="730" name="Google Shape;730;p10"/>
          <p:cNvSpPr txBox="1"/>
          <p:nvPr/>
        </p:nvSpPr>
        <p:spPr>
          <a:xfrm>
            <a:off x="1124712" y="5660136"/>
            <a:ext cx="4160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Sin outliers: casi sin cambio.</a:t>
            </a:r>
            <a:endParaRPr/>
          </a:p>
        </p:txBody>
      </p:sp>
      <p:sp>
        <p:nvSpPr>
          <p:cNvPr id="731" name="Google Shape;731;p10"/>
          <p:cNvSpPr txBox="1"/>
          <p:nvPr/>
        </p:nvSpPr>
        <p:spPr>
          <a:xfrm>
            <a:off x="1124712" y="6172200"/>
            <a:ext cx="4160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2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El salto vino con señales secuenciales e históricas.</a:t>
            </a:r>
            <a:endParaRPr/>
          </a:p>
        </p:txBody>
      </p:sp>
      <p:sp>
        <p:nvSpPr>
          <p:cNvPr id="732" name="Google Shape;732;p10"/>
          <p:cNvSpPr/>
          <p:nvPr/>
        </p:nvSpPr>
        <p:spPr>
          <a:xfrm>
            <a:off x="6035040" y="2148840"/>
            <a:ext cx="21031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0"/>
          <p:cNvSpPr txBox="1"/>
          <p:nvPr/>
        </p:nvSpPr>
        <p:spPr>
          <a:xfrm>
            <a:off x="6163055" y="2359152"/>
            <a:ext cx="1847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F1 atrasada</a:t>
            </a:r>
            <a:endParaRPr/>
          </a:p>
        </p:txBody>
      </p:sp>
      <p:sp>
        <p:nvSpPr>
          <p:cNvPr id="734" name="Google Shape;734;p10"/>
          <p:cNvSpPr txBox="1"/>
          <p:nvPr/>
        </p:nvSpPr>
        <p:spPr>
          <a:xfrm>
            <a:off x="6144768" y="2724912"/>
            <a:ext cx="18836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0.5180</a:t>
            </a:r>
            <a:endParaRPr/>
          </a:p>
        </p:txBody>
      </p:sp>
      <p:sp>
        <p:nvSpPr>
          <p:cNvPr id="735" name="Google Shape;735;p10"/>
          <p:cNvSpPr/>
          <p:nvPr/>
        </p:nvSpPr>
        <p:spPr>
          <a:xfrm>
            <a:off x="8366760" y="2148840"/>
            <a:ext cx="21031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0"/>
          <p:cNvSpPr txBox="1"/>
          <p:nvPr/>
        </p:nvSpPr>
        <p:spPr>
          <a:xfrm>
            <a:off x="8494776" y="2359152"/>
            <a:ext cx="1847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/>
          </a:p>
        </p:txBody>
      </p:sp>
      <p:sp>
        <p:nvSpPr>
          <p:cNvPr id="737" name="Google Shape;737;p10"/>
          <p:cNvSpPr txBox="1"/>
          <p:nvPr/>
        </p:nvSpPr>
        <p:spPr>
          <a:xfrm>
            <a:off x="8476488" y="2724912"/>
            <a:ext cx="18836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0.9068</a:t>
            </a:r>
            <a:endParaRPr/>
          </a:p>
        </p:txBody>
      </p:sp>
      <p:sp>
        <p:nvSpPr>
          <p:cNvPr id="738" name="Google Shape;738;p10"/>
          <p:cNvSpPr/>
          <p:nvPr/>
        </p:nvSpPr>
        <p:spPr>
          <a:xfrm>
            <a:off x="10698480" y="2148840"/>
            <a:ext cx="21031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F299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0"/>
          <p:cNvSpPr txBox="1"/>
          <p:nvPr/>
        </p:nvSpPr>
        <p:spPr>
          <a:xfrm>
            <a:off x="10826496" y="2359152"/>
            <a:ext cx="1847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/>
          </a:p>
        </p:txBody>
      </p:sp>
      <p:sp>
        <p:nvSpPr>
          <p:cNvPr id="740" name="Google Shape;740;p10"/>
          <p:cNvSpPr txBox="1"/>
          <p:nvPr/>
        </p:nvSpPr>
        <p:spPr>
          <a:xfrm>
            <a:off x="10808207" y="2724912"/>
            <a:ext cx="18836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0.8722</a:t>
            </a:r>
            <a:endParaRPr/>
          </a:p>
        </p:txBody>
      </p:sp>
      <p:sp>
        <p:nvSpPr>
          <p:cNvPr id="741" name="Google Shape;741;p10"/>
          <p:cNvSpPr/>
          <p:nvPr/>
        </p:nvSpPr>
        <p:spPr>
          <a:xfrm>
            <a:off x="12938760" y="2148840"/>
            <a:ext cx="960120" cy="1417320"/>
          </a:xfrm>
          <a:prstGeom prst="roundRect">
            <a:avLst>
              <a:gd fmla="val 16667" name="adj"/>
            </a:avLst>
          </a:prstGeom>
          <a:solidFill>
            <a:srgbClr val="2463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0"/>
          <p:cNvSpPr txBox="1"/>
          <p:nvPr/>
        </p:nvSpPr>
        <p:spPr>
          <a:xfrm>
            <a:off x="13011912" y="2404872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/>
          </a:p>
        </p:txBody>
      </p:sp>
      <p:sp>
        <p:nvSpPr>
          <p:cNvPr id="743" name="Google Shape;743;p10"/>
          <p:cNvSpPr txBox="1"/>
          <p:nvPr/>
        </p:nvSpPr>
        <p:spPr>
          <a:xfrm>
            <a:off x="13011912" y="2770632"/>
            <a:ext cx="804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OK</a:t>
            </a:r>
            <a:endParaRPr/>
          </a:p>
        </p:txBody>
      </p:sp>
      <p:sp>
        <p:nvSpPr>
          <p:cNvPr id="744" name="Google Shape;744;p10"/>
          <p:cNvSpPr txBox="1"/>
          <p:nvPr/>
        </p:nvSpPr>
        <p:spPr>
          <a:xfrm>
            <a:off x="6035040" y="3886200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Análisis ejecutivo</a:t>
            </a:r>
            <a:endParaRPr/>
          </a:p>
        </p:txBody>
      </p:sp>
      <p:sp>
        <p:nvSpPr>
          <p:cNvPr id="745" name="Google Shape;745;p10"/>
          <p:cNvSpPr/>
          <p:nvPr/>
        </p:nvSpPr>
        <p:spPr>
          <a:xfrm>
            <a:off x="6035040" y="4370832"/>
            <a:ext cx="786384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0"/>
          <p:cNvSpPr/>
          <p:nvPr/>
        </p:nvSpPr>
        <p:spPr>
          <a:xfrm>
            <a:off x="6035040" y="4370832"/>
            <a:ext cx="109728" cy="658368"/>
          </a:xfrm>
          <a:prstGeom prst="rect">
            <a:avLst/>
          </a:prstGeom>
          <a:solidFill>
            <a:srgbClr val="2463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0"/>
          <p:cNvSpPr txBox="1"/>
          <p:nvPr/>
        </p:nvSpPr>
        <p:spPr>
          <a:xfrm>
            <a:off x="6291072" y="4462272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Competitiva con F_FULL</a:t>
            </a:r>
            <a:endParaRPr/>
          </a:p>
        </p:txBody>
      </p:sp>
      <p:sp>
        <p:nvSpPr>
          <p:cNvPr id="748" name="Google Shape;748;p10"/>
          <p:cNvSpPr txBox="1"/>
          <p:nvPr/>
        </p:nvSpPr>
        <p:spPr>
          <a:xfrm>
            <a:off x="8732520" y="4462272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Las variables enriquecidas levantan claramente el baseline.</a:t>
            </a:r>
            <a:endParaRPr/>
          </a:p>
        </p:txBody>
      </p:sp>
      <p:sp>
        <p:nvSpPr>
          <p:cNvPr id="749" name="Google Shape;749;p10"/>
          <p:cNvSpPr/>
          <p:nvPr/>
        </p:nvSpPr>
        <p:spPr>
          <a:xfrm>
            <a:off x="6035040" y="5157216"/>
            <a:ext cx="786384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0"/>
          <p:cNvSpPr/>
          <p:nvPr/>
        </p:nvSpPr>
        <p:spPr>
          <a:xfrm>
            <a:off x="6035040" y="5157216"/>
            <a:ext cx="109728" cy="658368"/>
          </a:xfrm>
          <a:prstGeom prst="rect">
            <a:avLst/>
          </a:prstGeom>
          <a:solidFill>
            <a:srgbClr val="F299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"/>
          <p:cNvSpPr txBox="1"/>
          <p:nvPr/>
        </p:nvSpPr>
        <p:spPr>
          <a:xfrm>
            <a:off x="6291072" y="5248656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La ventana horaria pesa</a:t>
            </a:r>
            <a:endParaRPr/>
          </a:p>
        </p:txBody>
      </p:sp>
      <p:sp>
        <p:nvSpPr>
          <p:cNvPr id="752" name="Google Shape;752;p10"/>
          <p:cNvSpPr txBox="1"/>
          <p:nvPr/>
        </p:nvSpPr>
        <p:spPr>
          <a:xfrm>
            <a:off x="8732520" y="5248656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Quitar información temporal degrada fuerte el rendimiento.</a:t>
            </a:r>
            <a:endParaRPr/>
          </a:p>
        </p:txBody>
      </p:sp>
      <p:sp>
        <p:nvSpPr>
          <p:cNvPr id="753" name="Google Shape;753;p10"/>
          <p:cNvSpPr/>
          <p:nvPr/>
        </p:nvSpPr>
        <p:spPr>
          <a:xfrm>
            <a:off x="6035040" y="5943600"/>
            <a:ext cx="786384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0"/>
          <p:cNvSpPr/>
          <p:nvPr/>
        </p:nvSpPr>
        <p:spPr>
          <a:xfrm>
            <a:off x="6035040" y="5943600"/>
            <a:ext cx="109728" cy="658368"/>
          </a:xfrm>
          <a:prstGeom prst="rect">
            <a:avLst/>
          </a:prstGeom>
          <a:solidFill>
            <a:srgbClr val="28A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0"/>
          <p:cNvSpPr txBox="1"/>
          <p:nvPr/>
        </p:nvSpPr>
        <p:spPr>
          <a:xfrm>
            <a:off x="6291072" y="6035040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Sirve como vara</a:t>
            </a:r>
            <a:endParaRPr/>
          </a:p>
        </p:txBody>
      </p:sp>
      <p:sp>
        <p:nvSpPr>
          <p:cNvPr id="756" name="Google Shape;756;p10"/>
          <p:cNvSpPr txBox="1"/>
          <p:nvPr/>
        </p:nvSpPr>
        <p:spPr>
          <a:xfrm>
            <a:off x="8732520" y="603504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Exige que los modelos no lineales superen F1=0.518.</a:t>
            </a:r>
            <a:endParaRPr/>
          </a:p>
        </p:txBody>
      </p:sp>
      <p:sp>
        <p:nvSpPr>
          <p:cNvPr id="757" name="Google Shape;757;p10"/>
          <p:cNvSpPr/>
          <p:nvPr/>
        </p:nvSpPr>
        <p:spPr>
          <a:xfrm>
            <a:off x="6035040" y="6720840"/>
            <a:ext cx="7863840" cy="512064"/>
          </a:xfrm>
          <a:prstGeom prst="roundRect">
            <a:avLst>
              <a:gd fmla="val 16667" name="adj"/>
            </a:avLst>
          </a:prstGeom>
          <a:solidFill>
            <a:srgbClr val="142B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0"/>
          <p:cNvSpPr txBox="1"/>
          <p:nvPr/>
        </p:nvSpPr>
        <p:spPr>
          <a:xfrm>
            <a:off x="6263640" y="6848856"/>
            <a:ext cx="7406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54850" spcFirstLastPara="1" rIns="54850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Conclusión: buen baseline; el potencial real requiere modelos no lineales.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1"/>
          <p:cNvSpPr txBox="1"/>
          <p:nvPr/>
        </p:nvSpPr>
        <p:spPr>
          <a:xfrm>
            <a:off x="685800" y="3200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MODELO 2 - CLASIFICACIÓN</a:t>
            </a:r>
            <a:endParaRPr/>
          </a:p>
        </p:txBody>
      </p:sp>
      <p:sp>
        <p:nvSpPr>
          <p:cNvPr id="764" name="Google Shape;764;p11"/>
          <p:cNvSpPr txBox="1"/>
          <p:nvPr/>
        </p:nvSpPr>
        <p:spPr>
          <a:xfrm>
            <a:off x="685800" y="676656"/>
            <a:ext cx="10149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Árbol de Decisión: reglas claras, pero alta varianza</a:t>
            </a:r>
            <a:endParaRPr/>
          </a:p>
        </p:txBody>
      </p:sp>
      <p:sp>
        <p:nvSpPr>
          <p:cNvPr id="765" name="Google Shape;765;p11"/>
          <p:cNvSpPr txBox="1"/>
          <p:nvPr/>
        </p:nvSpPr>
        <p:spPr>
          <a:xfrm>
            <a:off x="713232" y="117043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Permite leer decisiones tipo "si pasa esto, entonces riesgo", aunque un árbol único sobreajusta rápido.</a:t>
            </a:r>
            <a:endParaRPr/>
          </a:p>
        </p:txBody>
      </p:sp>
      <p:sp>
        <p:nvSpPr>
          <p:cNvPr id="766" name="Google Shape;766;p11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1"/>
          <p:cNvSpPr/>
          <p:nvPr/>
        </p:nvSpPr>
        <p:spPr>
          <a:xfrm>
            <a:off x="777240" y="1965960"/>
            <a:ext cx="3977639" cy="23317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1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Cómo funciona</a:t>
            </a:r>
            <a:endParaRPr/>
          </a:p>
        </p:txBody>
      </p:sp>
      <p:sp>
        <p:nvSpPr>
          <p:cNvPr id="769" name="Google Shape;769;p11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Divide los datos en reglas sucesivas hasta separar casos.</a:t>
            </a:r>
            <a:endParaRPr/>
          </a:p>
        </p:txBody>
      </p:sp>
      <p:sp>
        <p:nvSpPr>
          <p:cNvPr id="770" name="Google Shape;770;p11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Muy interpretable, pero memoriza si no se poda.</a:t>
            </a:r>
            <a:endParaRPr/>
          </a:p>
        </p:txBody>
      </p:sp>
      <p:sp>
        <p:nvSpPr>
          <p:cNvPr id="771" name="Google Shape;771;p11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Necesita controlar profundidad y tamaño de hoja.</a:t>
            </a:r>
            <a:endParaRPr/>
          </a:p>
        </p:txBody>
      </p:sp>
      <p:sp>
        <p:nvSpPr>
          <p:cNvPr id="772" name="Google Shape;772;p11"/>
          <p:cNvSpPr/>
          <p:nvPr/>
        </p:nvSpPr>
        <p:spPr>
          <a:xfrm>
            <a:off x="777240" y="4526280"/>
            <a:ext cx="3977639" cy="25146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1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Qué se probó</a:t>
            </a:r>
            <a:endParaRPr/>
          </a:p>
        </p:txBody>
      </p:sp>
      <p:sp>
        <p:nvSpPr>
          <p:cNvPr id="774" name="Google Shape;774;p11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Sin límite: profundidad 40, F1 train=1.0 y mal test.</a:t>
            </a:r>
            <a:endParaRPr/>
          </a:p>
        </p:txBody>
      </p:sp>
      <p:sp>
        <p:nvSpPr>
          <p:cNvPr id="775" name="Google Shape;775;p11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max_depth=10 fue el mejor equilibrio.</a:t>
            </a:r>
            <a:endParaRPr/>
          </a:p>
        </p:txBody>
      </p:sp>
      <p:sp>
        <p:nvSpPr>
          <p:cNvPr id="776" name="Google Shape;776;p11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min_samples_leaf=50 redujo overfitting y mejoró AUC.</a:t>
            </a:r>
            <a:endParaRPr/>
          </a:p>
        </p:txBody>
      </p:sp>
      <p:sp>
        <p:nvSpPr>
          <p:cNvPr id="777" name="Google Shape;777;p11"/>
          <p:cNvSpPr/>
          <p:nvPr/>
        </p:nvSpPr>
        <p:spPr>
          <a:xfrm>
            <a:off x="5166360" y="1920240"/>
            <a:ext cx="20116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F299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1"/>
          <p:cNvSpPr txBox="1"/>
          <p:nvPr/>
        </p:nvSpPr>
        <p:spPr>
          <a:xfrm>
            <a:off x="5312664" y="2075688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F1 atrasada</a:t>
            </a:r>
            <a:endParaRPr/>
          </a:p>
        </p:txBody>
      </p:sp>
      <p:sp>
        <p:nvSpPr>
          <p:cNvPr id="779" name="Google Shape;779;p11"/>
          <p:cNvSpPr txBox="1"/>
          <p:nvPr/>
        </p:nvSpPr>
        <p:spPr>
          <a:xfrm>
            <a:off x="5276088" y="2450592"/>
            <a:ext cx="1792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0.4650</a:t>
            </a:r>
            <a:endParaRPr/>
          </a:p>
        </p:txBody>
      </p:sp>
      <p:sp>
        <p:nvSpPr>
          <p:cNvPr id="780" name="Google Shape;780;p11"/>
          <p:cNvSpPr/>
          <p:nvPr/>
        </p:nvSpPr>
        <p:spPr>
          <a:xfrm>
            <a:off x="7452360" y="1920240"/>
            <a:ext cx="20116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F299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1"/>
          <p:cNvSpPr txBox="1"/>
          <p:nvPr/>
        </p:nvSpPr>
        <p:spPr>
          <a:xfrm>
            <a:off x="7598664" y="2075688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/>
          </a:p>
        </p:txBody>
      </p:sp>
      <p:sp>
        <p:nvSpPr>
          <p:cNvPr id="782" name="Google Shape;782;p11"/>
          <p:cNvSpPr txBox="1"/>
          <p:nvPr/>
        </p:nvSpPr>
        <p:spPr>
          <a:xfrm>
            <a:off x="7562088" y="2450592"/>
            <a:ext cx="1792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0.8893</a:t>
            </a:r>
            <a:endParaRPr/>
          </a:p>
        </p:txBody>
      </p:sp>
      <p:sp>
        <p:nvSpPr>
          <p:cNvPr id="783" name="Google Shape;783;p11"/>
          <p:cNvSpPr/>
          <p:nvPr/>
        </p:nvSpPr>
        <p:spPr>
          <a:xfrm>
            <a:off x="9738360" y="1920240"/>
            <a:ext cx="20116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F299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1"/>
          <p:cNvSpPr txBox="1"/>
          <p:nvPr/>
        </p:nvSpPr>
        <p:spPr>
          <a:xfrm>
            <a:off x="9884664" y="2075688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/>
          </a:p>
        </p:txBody>
      </p:sp>
      <p:sp>
        <p:nvSpPr>
          <p:cNvPr id="785" name="Google Shape;785;p11"/>
          <p:cNvSpPr txBox="1"/>
          <p:nvPr/>
        </p:nvSpPr>
        <p:spPr>
          <a:xfrm>
            <a:off x="9848088" y="2450592"/>
            <a:ext cx="1792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/>
          </a:p>
        </p:txBody>
      </p:sp>
      <p:sp>
        <p:nvSpPr>
          <p:cNvPr id="786" name="Google Shape;786;p11"/>
          <p:cNvSpPr/>
          <p:nvPr/>
        </p:nvSpPr>
        <p:spPr>
          <a:xfrm>
            <a:off x="11887200" y="1920240"/>
            <a:ext cx="2057400" cy="1234440"/>
          </a:xfrm>
          <a:prstGeom prst="roundRect">
            <a:avLst>
              <a:gd fmla="val 16667" name="adj"/>
            </a:avLst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1"/>
          <p:cNvSpPr txBox="1"/>
          <p:nvPr/>
        </p:nvSpPr>
        <p:spPr>
          <a:xfrm>
            <a:off x="12033504" y="2084831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LECTURA</a:t>
            </a:r>
            <a:endParaRPr/>
          </a:p>
        </p:txBody>
      </p:sp>
      <p:sp>
        <p:nvSpPr>
          <p:cNvPr id="788" name="Google Shape;788;p11"/>
          <p:cNvSpPr txBox="1"/>
          <p:nvPr/>
        </p:nvSpPr>
        <p:spPr>
          <a:xfrm>
            <a:off x="11996928" y="2441448"/>
            <a:ext cx="18105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No supera LR</a:t>
            </a:r>
            <a:endParaRPr/>
          </a:p>
        </p:txBody>
      </p:sp>
      <p:sp>
        <p:nvSpPr>
          <p:cNvPr id="789" name="Google Shape;789;p11"/>
          <p:cNvSpPr/>
          <p:nvPr/>
        </p:nvSpPr>
        <p:spPr>
          <a:xfrm>
            <a:off x="5166360" y="3703320"/>
            <a:ext cx="8778240" cy="3337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1"/>
          <p:cNvSpPr txBox="1"/>
          <p:nvPr/>
        </p:nvSpPr>
        <p:spPr>
          <a:xfrm>
            <a:off x="5385816" y="3867911"/>
            <a:ext cx="83393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Análisis ejecutivo</a:t>
            </a:r>
            <a:endParaRPr/>
          </a:p>
        </p:txBody>
      </p:sp>
      <p:sp>
        <p:nvSpPr>
          <p:cNvPr id="791" name="Google Shape;791;p11"/>
          <p:cNvSpPr txBox="1"/>
          <p:nvPr/>
        </p:nvSpPr>
        <p:spPr>
          <a:xfrm>
            <a:off x="5458968" y="4270248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Confirma que las señales secuenciales/históricas explican el salto.</a:t>
            </a:r>
            <a:endParaRPr/>
          </a:p>
        </p:txBody>
      </p:sp>
      <p:sp>
        <p:nvSpPr>
          <p:cNvPr id="792" name="Google Shape;792;p11"/>
          <p:cNvSpPr txBox="1"/>
          <p:nvPr/>
        </p:nvSpPr>
        <p:spPr>
          <a:xfrm>
            <a:off x="5458968" y="4718304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Aún regularizado queda por debajo de LR con F_FULL.</a:t>
            </a:r>
            <a:endParaRPr/>
          </a:p>
        </p:txBody>
      </p:sp>
      <p:sp>
        <p:nvSpPr>
          <p:cNvPr id="793" name="Google Shape;793;p11"/>
          <p:cNvSpPr txBox="1"/>
          <p:nvPr/>
        </p:nvSpPr>
        <p:spPr>
          <a:xfrm>
            <a:off x="5458968" y="5166360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La conclusión técnica: un árbol solo no alcanza; hace falta un ensemble.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2"/>
          <p:cNvSpPr txBox="1"/>
          <p:nvPr/>
        </p:nvSpPr>
        <p:spPr>
          <a:xfrm>
            <a:off x="685800" y="3200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MODELO 3 - CLASIFICACIÓN</a:t>
            </a:r>
            <a:endParaRPr/>
          </a:p>
        </p:txBody>
      </p:sp>
      <p:sp>
        <p:nvSpPr>
          <p:cNvPr id="799" name="Google Shape;799;p12"/>
          <p:cNvSpPr txBox="1"/>
          <p:nvPr/>
        </p:nvSpPr>
        <p:spPr>
          <a:xfrm>
            <a:off x="685800" y="676656"/>
            <a:ext cx="10149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Random Forest: mejor clasificador del proyecto</a:t>
            </a:r>
            <a:endParaRPr/>
          </a:p>
        </p:txBody>
      </p:sp>
      <p:sp>
        <p:nvSpPr>
          <p:cNvPr id="800" name="Google Shape;800;p12"/>
          <p:cNvSpPr txBox="1"/>
          <p:nvPr/>
        </p:nvSpPr>
        <p:spPr>
          <a:xfrm>
            <a:off x="713232" y="117043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Combina muchos árboles independientes para reducir varianza y estabilizar la predicción.</a:t>
            </a:r>
            <a:endParaRPr/>
          </a:p>
        </p:txBody>
      </p:sp>
      <p:sp>
        <p:nvSpPr>
          <p:cNvPr id="801" name="Google Shape;801;p12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2"/>
          <p:cNvSpPr/>
          <p:nvPr/>
        </p:nvSpPr>
        <p:spPr>
          <a:xfrm>
            <a:off x="777240" y="1965960"/>
            <a:ext cx="3977639" cy="23317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2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Cómo funciona</a:t>
            </a:r>
            <a:endParaRPr/>
          </a:p>
        </p:txBody>
      </p:sp>
      <p:sp>
        <p:nvSpPr>
          <p:cNvPr id="804" name="Google Shape;804;p12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Entrena multiples árboles sobre muestras y variables distintas.</a:t>
            </a:r>
            <a:endParaRPr/>
          </a:p>
        </p:txBody>
      </p:sp>
      <p:sp>
        <p:nvSpPr>
          <p:cNvPr id="805" name="Google Shape;805;p12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Promedia/vota, evitando depender de una sola estructura.</a:t>
            </a:r>
            <a:endParaRPr/>
          </a:p>
        </p:txBody>
      </p:sp>
      <p:sp>
        <p:nvSpPr>
          <p:cNvPr id="806" name="Google Shape;806;p12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Funciona muy bien cuando hay relaciones no lineales y ruido.</a:t>
            </a:r>
            <a:endParaRPr/>
          </a:p>
        </p:txBody>
      </p:sp>
      <p:sp>
        <p:nvSpPr>
          <p:cNvPr id="807" name="Google Shape;807;p12"/>
          <p:cNvSpPr/>
          <p:nvPr/>
        </p:nvSpPr>
        <p:spPr>
          <a:xfrm>
            <a:off x="777240" y="4526280"/>
            <a:ext cx="3977639" cy="25146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2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Qué se probó</a:t>
            </a:r>
            <a:endParaRPr/>
          </a:p>
        </p:txBody>
      </p:sp>
      <p:sp>
        <p:nvSpPr>
          <p:cNvPr id="809" name="Google Shape;809;p12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F_RED_FULL y F_TOP para reducir ruido.</a:t>
            </a:r>
            <a:endParaRPr/>
          </a:p>
        </p:txBody>
      </p:sp>
      <p:sp>
        <p:nvSpPr>
          <p:cNvPr id="810" name="Google Shape;810;p12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Barrido de max_features confirmó sqrt.</a:t>
            </a:r>
            <a:endParaRPr/>
          </a:p>
        </p:txBody>
      </p:sp>
      <p:sp>
        <p:nvSpPr>
          <p:cNvPr id="811" name="Google Shape;811;p12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min_samples_leaf=5 fue el ajuste clave.</a:t>
            </a:r>
            <a:endParaRPr/>
          </a:p>
        </p:txBody>
      </p:sp>
      <p:sp>
        <p:nvSpPr>
          <p:cNvPr id="812" name="Google Shape;812;p12"/>
          <p:cNvSpPr/>
          <p:nvPr/>
        </p:nvSpPr>
        <p:spPr>
          <a:xfrm>
            <a:off x="5166360" y="1920240"/>
            <a:ext cx="20116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2"/>
          <p:cNvSpPr txBox="1"/>
          <p:nvPr/>
        </p:nvSpPr>
        <p:spPr>
          <a:xfrm>
            <a:off x="5312664" y="2075688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F1 atrasada</a:t>
            </a:r>
            <a:endParaRPr/>
          </a:p>
        </p:txBody>
      </p:sp>
      <p:sp>
        <p:nvSpPr>
          <p:cNvPr id="814" name="Google Shape;814;p12"/>
          <p:cNvSpPr txBox="1"/>
          <p:nvPr/>
        </p:nvSpPr>
        <p:spPr>
          <a:xfrm>
            <a:off x="5276088" y="2450592"/>
            <a:ext cx="1792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0.5917</a:t>
            </a:r>
            <a:endParaRPr/>
          </a:p>
        </p:txBody>
      </p:sp>
      <p:sp>
        <p:nvSpPr>
          <p:cNvPr id="815" name="Google Shape;815;p12"/>
          <p:cNvSpPr/>
          <p:nvPr/>
        </p:nvSpPr>
        <p:spPr>
          <a:xfrm>
            <a:off x="7452360" y="1920240"/>
            <a:ext cx="20116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2"/>
          <p:cNvSpPr txBox="1"/>
          <p:nvPr/>
        </p:nvSpPr>
        <p:spPr>
          <a:xfrm>
            <a:off x="7598664" y="2075688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/>
          </a:p>
        </p:txBody>
      </p:sp>
      <p:sp>
        <p:nvSpPr>
          <p:cNvPr id="817" name="Google Shape;817;p12"/>
          <p:cNvSpPr txBox="1"/>
          <p:nvPr/>
        </p:nvSpPr>
        <p:spPr>
          <a:xfrm>
            <a:off x="7562088" y="2450592"/>
            <a:ext cx="1792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0.9221</a:t>
            </a:r>
            <a:endParaRPr/>
          </a:p>
        </p:txBody>
      </p:sp>
      <p:sp>
        <p:nvSpPr>
          <p:cNvPr id="818" name="Google Shape;818;p12"/>
          <p:cNvSpPr/>
          <p:nvPr/>
        </p:nvSpPr>
        <p:spPr>
          <a:xfrm>
            <a:off x="9738360" y="1920240"/>
            <a:ext cx="20116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2"/>
          <p:cNvSpPr txBox="1"/>
          <p:nvPr/>
        </p:nvSpPr>
        <p:spPr>
          <a:xfrm>
            <a:off x="9884664" y="2075688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/>
          </a:p>
        </p:txBody>
      </p:sp>
      <p:sp>
        <p:nvSpPr>
          <p:cNvPr id="820" name="Google Shape;820;p12"/>
          <p:cNvSpPr txBox="1"/>
          <p:nvPr/>
        </p:nvSpPr>
        <p:spPr>
          <a:xfrm>
            <a:off x="9848088" y="2450592"/>
            <a:ext cx="1792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0.9128</a:t>
            </a:r>
            <a:endParaRPr/>
          </a:p>
        </p:txBody>
      </p:sp>
      <p:sp>
        <p:nvSpPr>
          <p:cNvPr id="821" name="Google Shape;821;p12"/>
          <p:cNvSpPr/>
          <p:nvPr/>
        </p:nvSpPr>
        <p:spPr>
          <a:xfrm>
            <a:off x="11887200" y="1920240"/>
            <a:ext cx="2057400" cy="1234440"/>
          </a:xfrm>
          <a:prstGeom prst="roundRect">
            <a:avLst>
              <a:gd fmla="val 16667" name="adj"/>
            </a:avLst>
          </a:prstGeom>
          <a:solidFill>
            <a:srgbClr val="28A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2"/>
          <p:cNvSpPr txBox="1"/>
          <p:nvPr/>
        </p:nvSpPr>
        <p:spPr>
          <a:xfrm>
            <a:off x="12033504" y="2084831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LECTURA</a:t>
            </a:r>
            <a:endParaRPr/>
          </a:p>
        </p:txBody>
      </p:sp>
      <p:sp>
        <p:nvSpPr>
          <p:cNvPr id="823" name="Google Shape;823;p12"/>
          <p:cNvSpPr txBox="1"/>
          <p:nvPr/>
        </p:nvSpPr>
        <p:spPr>
          <a:xfrm>
            <a:off x="11996928" y="2441448"/>
            <a:ext cx="18105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lider</a:t>
            </a:r>
            <a:endParaRPr/>
          </a:p>
        </p:txBody>
      </p:sp>
      <p:sp>
        <p:nvSpPr>
          <p:cNvPr id="824" name="Google Shape;824;p12"/>
          <p:cNvSpPr/>
          <p:nvPr/>
        </p:nvSpPr>
        <p:spPr>
          <a:xfrm>
            <a:off x="5166360" y="3703320"/>
            <a:ext cx="8778240" cy="3337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2"/>
          <p:cNvSpPr txBox="1"/>
          <p:nvPr/>
        </p:nvSpPr>
        <p:spPr>
          <a:xfrm>
            <a:off x="5385816" y="3867911"/>
            <a:ext cx="83393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Análisis ejecutivo</a:t>
            </a:r>
            <a:endParaRPr/>
          </a:p>
        </p:txBody>
      </p:sp>
      <p:sp>
        <p:nvSpPr>
          <p:cNvPr id="826" name="Google Shape;826;p12"/>
          <p:cNvSpPr txBox="1"/>
          <p:nvPr/>
        </p:nvSpPr>
        <p:spPr>
          <a:xfrm>
            <a:off x="5458968" y="4270248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Supera a todos los modelos de clasificación en F1.</a:t>
            </a:r>
            <a:endParaRPr/>
          </a:p>
        </p:txBody>
      </p:sp>
      <p:sp>
        <p:nvSpPr>
          <p:cNvPr id="827" name="Google Shape;827;p12"/>
          <p:cNvSpPr txBox="1"/>
          <p:nvPr/>
        </p:nvSpPr>
        <p:spPr>
          <a:xfrm>
            <a:off x="5458968" y="4718304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F_TOP=13 mejora al quitar Week ID y día de semana como ruido.</a:t>
            </a:r>
            <a:endParaRPr/>
          </a:p>
        </p:txBody>
      </p:sp>
      <p:sp>
        <p:nvSpPr>
          <p:cNvPr id="828" name="Google Shape;828;p12"/>
          <p:cNvSpPr txBox="1"/>
          <p:nvPr/>
        </p:nvSpPr>
        <p:spPr>
          <a:xfrm>
            <a:off x="5458968" y="5166360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Con umbral operativo 0.41 detecta cerca de 75 de cada 100 atrasos reales.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3"/>
          <p:cNvSpPr txBox="1"/>
          <p:nvPr/>
        </p:nvSpPr>
        <p:spPr>
          <a:xfrm>
            <a:off x="685800" y="3200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MODELO 4 - CLASIFICACIÓN</a:t>
            </a:r>
            <a:endParaRPr/>
          </a:p>
        </p:txBody>
      </p:sp>
      <p:sp>
        <p:nvSpPr>
          <p:cNvPr id="834" name="Google Shape;834;p13"/>
          <p:cNvSpPr txBox="1"/>
          <p:nvPr/>
        </p:nvSpPr>
        <p:spPr>
          <a:xfrm>
            <a:off x="685800" y="676656"/>
            <a:ext cx="10149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Gradient Boosting: separa bien, pero con perfil rígido</a:t>
            </a:r>
            <a:endParaRPr/>
          </a:p>
        </p:txBody>
      </p:sp>
      <p:sp>
        <p:nvSpPr>
          <p:cNvPr id="835" name="Google Shape;835;p13"/>
          <p:cNvSpPr txBox="1"/>
          <p:nvPr/>
        </p:nvSpPr>
        <p:spPr>
          <a:xfrm>
            <a:off x="713232" y="117043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Construye árboles secuenciales: cada nuevo árbol corrige errores del anterior.</a:t>
            </a:r>
            <a:endParaRPr/>
          </a:p>
        </p:txBody>
      </p:sp>
      <p:sp>
        <p:nvSpPr>
          <p:cNvPr id="836" name="Google Shape;836;p13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3"/>
          <p:cNvSpPr/>
          <p:nvPr/>
        </p:nvSpPr>
        <p:spPr>
          <a:xfrm>
            <a:off x="777240" y="1965960"/>
            <a:ext cx="3977639" cy="23317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3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A9DBF"/>
                </a:solidFill>
                <a:latin typeface="Calibri"/>
                <a:ea typeface="Calibri"/>
                <a:cs typeface="Calibri"/>
                <a:sym typeface="Calibri"/>
              </a:rPr>
              <a:t>Cómo funciona</a:t>
            </a:r>
            <a:endParaRPr/>
          </a:p>
        </p:txBody>
      </p:sp>
      <p:sp>
        <p:nvSpPr>
          <p:cNvPr id="839" name="Google Shape;839;p13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Aprende de forma incremental corrigiendo residuos.</a:t>
            </a:r>
            <a:endParaRPr/>
          </a:p>
        </p:txBody>
      </p:sp>
      <p:sp>
        <p:nvSpPr>
          <p:cNvPr id="840" name="Google Shape;840;p13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Suele lograr alta capacidad de separación.</a:t>
            </a:r>
            <a:endParaRPr/>
          </a:p>
        </p:txBody>
      </p:sp>
      <p:sp>
        <p:nvSpPr>
          <p:cNvPr id="841" name="Google Shape;841;p13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El tradeoff precision/recall puede quedar rígido si el umbral no acompaña.</a:t>
            </a:r>
            <a:endParaRPr/>
          </a:p>
        </p:txBody>
      </p:sp>
      <p:sp>
        <p:nvSpPr>
          <p:cNvPr id="842" name="Google Shape;842;p13"/>
          <p:cNvSpPr/>
          <p:nvPr/>
        </p:nvSpPr>
        <p:spPr>
          <a:xfrm>
            <a:off x="777240" y="4526280"/>
            <a:ext cx="3977639" cy="25146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3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A9DBF"/>
                </a:solidFill>
                <a:latin typeface="Calibri"/>
                <a:ea typeface="Calibri"/>
                <a:cs typeface="Calibri"/>
                <a:sym typeface="Calibri"/>
              </a:rPr>
              <a:t>Qué se probó</a:t>
            </a:r>
            <a:endParaRPr/>
          </a:p>
        </p:txBody>
      </p:sp>
      <p:sp>
        <p:nvSpPr>
          <p:cNvPr id="844" name="Google Shape;844;p13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Se probaron learning rate, n_estimators, max_depth y subsample.</a:t>
            </a:r>
            <a:endParaRPr/>
          </a:p>
        </p:txBody>
      </p:sp>
      <p:sp>
        <p:nvSpPr>
          <p:cNvPr id="845" name="Google Shape;845;p13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max_depth fue la única palanca realmente efectiva.</a:t>
            </a:r>
            <a:endParaRPr/>
          </a:p>
        </p:txBody>
      </p:sp>
      <p:sp>
        <p:nvSpPr>
          <p:cNvPr id="846" name="Google Shape;846;p13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El mejor punto fue depth=6 con F_TOP=13.</a:t>
            </a:r>
            <a:endParaRPr/>
          </a:p>
        </p:txBody>
      </p:sp>
      <p:sp>
        <p:nvSpPr>
          <p:cNvPr id="847" name="Google Shape;847;p13"/>
          <p:cNvSpPr/>
          <p:nvPr/>
        </p:nvSpPr>
        <p:spPr>
          <a:xfrm>
            <a:off x="5166360" y="1920240"/>
            <a:ext cx="20116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A9D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13"/>
          <p:cNvSpPr txBox="1"/>
          <p:nvPr/>
        </p:nvSpPr>
        <p:spPr>
          <a:xfrm>
            <a:off x="5312664" y="2075688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F1 atrasada</a:t>
            </a:r>
            <a:endParaRPr/>
          </a:p>
        </p:txBody>
      </p:sp>
      <p:sp>
        <p:nvSpPr>
          <p:cNvPr id="849" name="Google Shape;849;p13"/>
          <p:cNvSpPr txBox="1"/>
          <p:nvPr/>
        </p:nvSpPr>
        <p:spPr>
          <a:xfrm>
            <a:off x="5276088" y="2450592"/>
            <a:ext cx="1792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A9DBF"/>
                </a:solidFill>
                <a:latin typeface="Calibri"/>
                <a:ea typeface="Calibri"/>
                <a:cs typeface="Calibri"/>
                <a:sym typeface="Calibri"/>
              </a:rPr>
              <a:t>0.5211</a:t>
            </a:r>
            <a:endParaRPr/>
          </a:p>
        </p:txBody>
      </p:sp>
      <p:sp>
        <p:nvSpPr>
          <p:cNvPr id="850" name="Google Shape;850;p13"/>
          <p:cNvSpPr/>
          <p:nvPr/>
        </p:nvSpPr>
        <p:spPr>
          <a:xfrm>
            <a:off x="7452360" y="1920240"/>
            <a:ext cx="20116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A9D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3"/>
          <p:cNvSpPr txBox="1"/>
          <p:nvPr/>
        </p:nvSpPr>
        <p:spPr>
          <a:xfrm>
            <a:off x="7598664" y="2075688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/>
          </a:p>
        </p:txBody>
      </p:sp>
      <p:sp>
        <p:nvSpPr>
          <p:cNvPr id="852" name="Google Shape;852;p13"/>
          <p:cNvSpPr txBox="1"/>
          <p:nvPr/>
        </p:nvSpPr>
        <p:spPr>
          <a:xfrm>
            <a:off x="7562088" y="2450592"/>
            <a:ext cx="1792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A9DBF"/>
                </a:solidFill>
                <a:latin typeface="Calibri"/>
                <a:ea typeface="Calibri"/>
                <a:cs typeface="Calibri"/>
                <a:sym typeface="Calibri"/>
              </a:rPr>
              <a:t>0.9226</a:t>
            </a:r>
            <a:endParaRPr/>
          </a:p>
        </p:txBody>
      </p:sp>
      <p:sp>
        <p:nvSpPr>
          <p:cNvPr id="853" name="Google Shape;853;p13"/>
          <p:cNvSpPr/>
          <p:nvPr/>
        </p:nvSpPr>
        <p:spPr>
          <a:xfrm>
            <a:off x="9738360" y="1920240"/>
            <a:ext cx="20116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A9D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3"/>
          <p:cNvSpPr txBox="1"/>
          <p:nvPr/>
        </p:nvSpPr>
        <p:spPr>
          <a:xfrm>
            <a:off x="9884664" y="2075688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/>
          </a:p>
        </p:txBody>
      </p:sp>
      <p:sp>
        <p:nvSpPr>
          <p:cNvPr id="855" name="Google Shape;855;p13"/>
          <p:cNvSpPr txBox="1"/>
          <p:nvPr/>
        </p:nvSpPr>
        <p:spPr>
          <a:xfrm>
            <a:off x="9848088" y="2450592"/>
            <a:ext cx="1792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A9DB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/>
          </a:p>
        </p:txBody>
      </p:sp>
      <p:sp>
        <p:nvSpPr>
          <p:cNvPr id="856" name="Google Shape;856;p13"/>
          <p:cNvSpPr/>
          <p:nvPr/>
        </p:nvSpPr>
        <p:spPr>
          <a:xfrm>
            <a:off x="11887200" y="1920240"/>
            <a:ext cx="2057400" cy="1234440"/>
          </a:xfrm>
          <a:prstGeom prst="roundRect">
            <a:avLst>
              <a:gd fmla="val 16667" name="adj"/>
            </a:avLst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3"/>
          <p:cNvSpPr txBox="1"/>
          <p:nvPr/>
        </p:nvSpPr>
        <p:spPr>
          <a:xfrm>
            <a:off x="12033504" y="2084831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LECTURA</a:t>
            </a:r>
            <a:endParaRPr/>
          </a:p>
        </p:txBody>
      </p:sp>
      <p:sp>
        <p:nvSpPr>
          <p:cNvPr id="858" name="Google Shape;858;p13"/>
          <p:cNvSpPr txBox="1"/>
          <p:nvPr/>
        </p:nvSpPr>
        <p:spPr>
          <a:xfrm>
            <a:off x="11996928" y="2441448"/>
            <a:ext cx="18105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AUC alto</a:t>
            </a:r>
            <a:endParaRPr/>
          </a:p>
        </p:txBody>
      </p:sp>
      <p:sp>
        <p:nvSpPr>
          <p:cNvPr id="859" name="Google Shape;859;p13"/>
          <p:cNvSpPr/>
          <p:nvPr/>
        </p:nvSpPr>
        <p:spPr>
          <a:xfrm>
            <a:off x="5166360" y="3703320"/>
            <a:ext cx="8778240" cy="3337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13"/>
          <p:cNvSpPr txBox="1"/>
          <p:nvPr/>
        </p:nvSpPr>
        <p:spPr>
          <a:xfrm>
            <a:off x="5385816" y="3867911"/>
            <a:ext cx="83393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A9DBF"/>
                </a:solidFill>
                <a:latin typeface="Calibri"/>
                <a:ea typeface="Calibri"/>
                <a:cs typeface="Calibri"/>
                <a:sym typeface="Calibri"/>
              </a:rPr>
              <a:t>Análisis ejecutivo</a:t>
            </a:r>
            <a:endParaRPr/>
          </a:p>
        </p:txBody>
      </p:sp>
      <p:sp>
        <p:nvSpPr>
          <p:cNvPr id="861" name="Google Shape;861;p13"/>
          <p:cNvSpPr txBox="1"/>
          <p:nvPr/>
        </p:nvSpPr>
        <p:spPr>
          <a:xfrm>
            <a:off x="5458968" y="4270248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Tiene AUC comparable a RF, pero F1 bastante menor.</a:t>
            </a:r>
            <a:endParaRPr/>
          </a:p>
        </p:txBody>
      </p:sp>
      <p:sp>
        <p:nvSpPr>
          <p:cNvPr id="862" name="Google Shape;862;p13"/>
          <p:cNvSpPr txBox="1"/>
          <p:nvPr/>
        </p:nvSpPr>
        <p:spPr>
          <a:xfrm>
            <a:off x="5458968" y="4718304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Mantiene recall alto y precision baja en casi todas las variantes.</a:t>
            </a:r>
            <a:endParaRPr/>
          </a:p>
        </p:txBody>
      </p:sp>
      <p:sp>
        <p:nvSpPr>
          <p:cNvPr id="863" name="Google Shape;863;p13"/>
          <p:cNvSpPr txBox="1"/>
          <p:nvPr/>
        </p:nvSpPr>
        <p:spPr>
          <a:xfrm>
            <a:off x="5458968" y="5166360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Necesitaria optimización de umbral para traducir mejor su separación en decisiones.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4"/>
          <p:cNvSpPr txBox="1"/>
          <p:nvPr/>
        </p:nvSpPr>
        <p:spPr>
          <a:xfrm>
            <a:off x="685800" y="3200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MODELO 5 - CLASIFICACIÓN</a:t>
            </a:r>
            <a:endParaRPr/>
          </a:p>
        </p:txBody>
      </p:sp>
      <p:sp>
        <p:nvSpPr>
          <p:cNvPr id="869" name="Google Shape;869;p14"/>
          <p:cNvSpPr txBox="1"/>
          <p:nvPr/>
        </p:nvSpPr>
        <p:spPr>
          <a:xfrm>
            <a:off x="685800" y="676656"/>
            <a:ext cx="10149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HistGradientBoosting: boosting más eficiente y flexible</a:t>
            </a:r>
            <a:endParaRPr/>
          </a:p>
        </p:txBody>
      </p:sp>
      <p:sp>
        <p:nvSpPr>
          <p:cNvPr id="870" name="Google Shape;870;p14"/>
          <p:cNvSpPr txBox="1"/>
          <p:nvPr/>
        </p:nvSpPr>
        <p:spPr>
          <a:xfrm>
            <a:off x="713232" y="117043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Usa histogramas para acelerar particiones y permite mayor expresividad que GB clásico.</a:t>
            </a:r>
            <a:endParaRPr/>
          </a:p>
        </p:txBody>
      </p:sp>
      <p:sp>
        <p:nvSpPr>
          <p:cNvPr id="871" name="Google Shape;871;p1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4"/>
          <p:cNvSpPr/>
          <p:nvPr/>
        </p:nvSpPr>
        <p:spPr>
          <a:xfrm>
            <a:off x="777240" y="1965960"/>
            <a:ext cx="3977639" cy="23317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14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Cómo funciona</a:t>
            </a:r>
            <a:endParaRPr/>
          </a:p>
        </p:txBody>
      </p:sp>
      <p:sp>
        <p:nvSpPr>
          <p:cNvPr id="874" name="Google Shape;874;p14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Agrupa valores numéricos en bins para entrenar más rápido.</a:t>
            </a:r>
            <a:endParaRPr/>
          </a:p>
        </p:txBody>
      </p:sp>
      <p:sp>
        <p:nvSpPr>
          <p:cNvPr id="875" name="Google Shape;875;p14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Controla complejidad con max_leaf_nodes y min_samples_leaf.</a:t>
            </a:r>
            <a:endParaRPr/>
          </a:p>
        </p:txBody>
      </p:sp>
      <p:sp>
        <p:nvSpPr>
          <p:cNvPr id="876" name="Google Shape;876;p14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Captura no linealidad con buen costo computacional.</a:t>
            </a:r>
            <a:endParaRPr/>
          </a:p>
        </p:txBody>
      </p:sp>
      <p:sp>
        <p:nvSpPr>
          <p:cNvPr id="877" name="Google Shape;877;p14"/>
          <p:cNvSpPr/>
          <p:nvPr/>
        </p:nvSpPr>
        <p:spPr>
          <a:xfrm>
            <a:off x="777240" y="4526280"/>
            <a:ext cx="3977639" cy="25146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4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Qué se probó</a:t>
            </a:r>
            <a:endParaRPr/>
          </a:p>
        </p:txBody>
      </p:sp>
      <p:sp>
        <p:nvSpPr>
          <p:cNvPr id="879" name="Google Shape;879;p14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F_TOP=13 como set base.</a:t>
            </a:r>
            <a:endParaRPr/>
          </a:p>
        </p:txBody>
      </p:sp>
      <p:sp>
        <p:nvSpPr>
          <p:cNvPr id="880" name="Google Shape;880;p14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max_leaf_nodes fue el lever que movió el perfil.</a:t>
            </a:r>
            <a:endParaRPr/>
          </a:p>
        </p:txBody>
      </p:sp>
      <p:sp>
        <p:nvSpPr>
          <p:cNvPr id="881" name="Google Shape;881;p14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min_samples_leaf casi no cambio el resultado.</a:t>
            </a:r>
            <a:endParaRPr/>
          </a:p>
        </p:txBody>
      </p:sp>
      <p:sp>
        <p:nvSpPr>
          <p:cNvPr id="882" name="Google Shape;882;p14"/>
          <p:cNvSpPr/>
          <p:nvPr/>
        </p:nvSpPr>
        <p:spPr>
          <a:xfrm>
            <a:off x="5166360" y="1920240"/>
            <a:ext cx="20116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4"/>
          <p:cNvSpPr txBox="1"/>
          <p:nvPr/>
        </p:nvSpPr>
        <p:spPr>
          <a:xfrm>
            <a:off x="5312664" y="2075688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F1 atrasada</a:t>
            </a:r>
            <a:endParaRPr/>
          </a:p>
        </p:txBody>
      </p:sp>
      <p:sp>
        <p:nvSpPr>
          <p:cNvPr id="884" name="Google Shape;884;p14"/>
          <p:cNvSpPr txBox="1"/>
          <p:nvPr/>
        </p:nvSpPr>
        <p:spPr>
          <a:xfrm>
            <a:off x="5276088" y="2450592"/>
            <a:ext cx="1792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0.5446</a:t>
            </a:r>
            <a:endParaRPr/>
          </a:p>
        </p:txBody>
      </p:sp>
      <p:sp>
        <p:nvSpPr>
          <p:cNvPr id="885" name="Google Shape;885;p14"/>
          <p:cNvSpPr/>
          <p:nvPr/>
        </p:nvSpPr>
        <p:spPr>
          <a:xfrm>
            <a:off x="7452360" y="1920240"/>
            <a:ext cx="20116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14"/>
          <p:cNvSpPr txBox="1"/>
          <p:nvPr/>
        </p:nvSpPr>
        <p:spPr>
          <a:xfrm>
            <a:off x="7598664" y="2075688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/>
          </a:p>
        </p:txBody>
      </p:sp>
      <p:sp>
        <p:nvSpPr>
          <p:cNvPr id="887" name="Google Shape;887;p14"/>
          <p:cNvSpPr txBox="1"/>
          <p:nvPr/>
        </p:nvSpPr>
        <p:spPr>
          <a:xfrm>
            <a:off x="7562088" y="2450592"/>
            <a:ext cx="1792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0.9228</a:t>
            </a:r>
            <a:endParaRPr/>
          </a:p>
        </p:txBody>
      </p:sp>
      <p:sp>
        <p:nvSpPr>
          <p:cNvPr id="888" name="Google Shape;888;p14"/>
          <p:cNvSpPr/>
          <p:nvPr/>
        </p:nvSpPr>
        <p:spPr>
          <a:xfrm>
            <a:off x="9738360" y="1920240"/>
            <a:ext cx="20116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14"/>
          <p:cNvSpPr txBox="1"/>
          <p:nvPr/>
        </p:nvSpPr>
        <p:spPr>
          <a:xfrm>
            <a:off x="9884664" y="2075688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/>
          </a:p>
        </p:txBody>
      </p:sp>
      <p:sp>
        <p:nvSpPr>
          <p:cNvPr id="890" name="Google Shape;890;p14"/>
          <p:cNvSpPr txBox="1"/>
          <p:nvPr/>
        </p:nvSpPr>
        <p:spPr>
          <a:xfrm>
            <a:off x="9848088" y="2450592"/>
            <a:ext cx="1792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/>
          </a:p>
        </p:txBody>
      </p:sp>
      <p:sp>
        <p:nvSpPr>
          <p:cNvPr id="891" name="Google Shape;891;p14"/>
          <p:cNvSpPr/>
          <p:nvPr/>
        </p:nvSpPr>
        <p:spPr>
          <a:xfrm>
            <a:off x="11887200" y="1920240"/>
            <a:ext cx="2057400" cy="1234440"/>
          </a:xfrm>
          <a:prstGeom prst="roundRect">
            <a:avLst>
              <a:gd fmla="val 16667" name="adj"/>
            </a:avLst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14"/>
          <p:cNvSpPr txBox="1"/>
          <p:nvPr/>
        </p:nvSpPr>
        <p:spPr>
          <a:xfrm>
            <a:off x="12033504" y="2084831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LECTURA</a:t>
            </a:r>
            <a:endParaRPr/>
          </a:p>
        </p:txBody>
      </p:sp>
      <p:sp>
        <p:nvSpPr>
          <p:cNvPr id="893" name="Google Shape;893;p14"/>
          <p:cNvSpPr txBox="1"/>
          <p:nvPr/>
        </p:nvSpPr>
        <p:spPr>
          <a:xfrm>
            <a:off x="11996928" y="2441448"/>
            <a:ext cx="18105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Segundo mejor</a:t>
            </a:r>
            <a:endParaRPr/>
          </a:p>
        </p:txBody>
      </p:sp>
      <p:sp>
        <p:nvSpPr>
          <p:cNvPr id="894" name="Google Shape;894;p14"/>
          <p:cNvSpPr/>
          <p:nvPr/>
        </p:nvSpPr>
        <p:spPr>
          <a:xfrm>
            <a:off x="5166360" y="3703320"/>
            <a:ext cx="8778240" cy="3337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14"/>
          <p:cNvSpPr txBox="1"/>
          <p:nvPr/>
        </p:nvSpPr>
        <p:spPr>
          <a:xfrm>
            <a:off x="5385816" y="3867911"/>
            <a:ext cx="83393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Análisis ejecutivo</a:t>
            </a:r>
            <a:endParaRPr/>
          </a:p>
        </p:txBody>
      </p:sp>
      <p:sp>
        <p:nvSpPr>
          <p:cNvPr id="896" name="Google Shape;896;p14"/>
          <p:cNvSpPr txBox="1"/>
          <p:nvPr/>
        </p:nvSpPr>
        <p:spPr>
          <a:xfrm>
            <a:off x="5458968" y="4270248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Supera a LR y GB, confirmando mayor expresividad.</a:t>
            </a:r>
            <a:endParaRPr/>
          </a:p>
        </p:txBody>
      </p:sp>
      <p:sp>
        <p:nvSpPr>
          <p:cNvPr id="897" name="Google Shape;897;p14"/>
          <p:cNvSpPr txBox="1"/>
          <p:nvPr/>
        </p:nvSpPr>
        <p:spPr>
          <a:xfrm>
            <a:off x="5458968" y="4718304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Aún así no alcanza a RF: la brecha en F1 queda cerca de 0.047.</a:t>
            </a:r>
            <a:endParaRPr/>
          </a:p>
        </p:txBody>
      </p:sp>
      <p:sp>
        <p:nvSpPr>
          <p:cNvPr id="898" name="Google Shape;898;p14"/>
          <p:cNvSpPr txBox="1"/>
          <p:nvPr/>
        </p:nvSpPr>
        <p:spPr>
          <a:xfrm>
            <a:off x="5458968" y="5166360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Buena alternativa si se prioriza velocidad y AUC, no el máximo F1.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5"/>
          <p:cNvSpPr txBox="1"/>
          <p:nvPr/>
        </p:nvSpPr>
        <p:spPr>
          <a:xfrm>
            <a:off x="685800" y="3200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MODELO 6 - CLASIFICACIÓN</a:t>
            </a:r>
            <a:endParaRPr/>
          </a:p>
        </p:txBody>
      </p:sp>
      <p:sp>
        <p:nvSpPr>
          <p:cNvPr id="904" name="Google Shape;904;p15"/>
          <p:cNvSpPr txBox="1"/>
          <p:nvPr/>
        </p:nvSpPr>
        <p:spPr>
          <a:xfrm>
            <a:off x="685800" y="676656"/>
            <a:ext cx="10149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XGBoost: mejor ranking probabilístico, no mejor F1</a:t>
            </a:r>
            <a:endParaRPr/>
          </a:p>
        </p:txBody>
      </p:sp>
      <p:sp>
        <p:nvSpPr>
          <p:cNvPr id="905" name="Google Shape;905;p15"/>
          <p:cNvSpPr txBox="1"/>
          <p:nvPr/>
        </p:nvSpPr>
        <p:spPr>
          <a:xfrm>
            <a:off x="713232" y="117043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Boosting regularizado, potente y robusto; excelente para ordenar riesgo, menos ganador en umbral 0.50.</a:t>
            </a:r>
            <a:endParaRPr/>
          </a:p>
        </p:txBody>
      </p:sp>
      <p:sp>
        <p:nvSpPr>
          <p:cNvPr id="906" name="Google Shape;906;p15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15"/>
          <p:cNvSpPr/>
          <p:nvPr/>
        </p:nvSpPr>
        <p:spPr>
          <a:xfrm>
            <a:off x="777240" y="1965960"/>
            <a:ext cx="3977639" cy="23317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15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Cómo funciona</a:t>
            </a:r>
            <a:endParaRPr/>
          </a:p>
        </p:txBody>
      </p:sp>
      <p:sp>
        <p:nvSpPr>
          <p:cNvPr id="909" name="Google Shape;909;p15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Construye árboles secuenciales con regularización L1/L2.</a:t>
            </a:r>
            <a:endParaRPr/>
          </a:p>
        </p:txBody>
      </p:sp>
      <p:sp>
        <p:nvSpPr>
          <p:cNvPr id="910" name="Google Shape;910;p15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Maneja desbalance con scale_pos_weight.</a:t>
            </a:r>
            <a:endParaRPr/>
          </a:p>
        </p:txBody>
      </p:sp>
      <p:sp>
        <p:nvSpPr>
          <p:cNvPr id="911" name="Google Shape;911;p15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Suele destacar por estabilidad y ranking de probabilidades.</a:t>
            </a:r>
            <a:endParaRPr/>
          </a:p>
        </p:txBody>
      </p:sp>
      <p:sp>
        <p:nvSpPr>
          <p:cNvPr id="912" name="Google Shape;912;p15"/>
          <p:cNvSpPr/>
          <p:nvPr/>
        </p:nvSpPr>
        <p:spPr>
          <a:xfrm>
            <a:off x="777240" y="4526280"/>
            <a:ext cx="3977639" cy="25146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15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Qué se probó</a:t>
            </a:r>
            <a:endParaRPr/>
          </a:p>
        </p:txBody>
      </p:sp>
      <p:sp>
        <p:nvSpPr>
          <p:cNvPr id="914" name="Google Shape;914;p15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- 5 iteraciones: depth, n_estimators, subsample/colsample y learning rate.</a:t>
            </a:r>
            <a:endParaRPr/>
          </a:p>
        </p:txBody>
      </p:sp>
      <p:sp>
        <p:nvSpPr>
          <p:cNvPr id="915" name="Google Shape;915;p15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depth=6, n=200, lr=0.1 maximizó AUC.</a:t>
            </a:r>
            <a:endParaRPr/>
          </a:p>
        </p:txBody>
      </p:sp>
      <p:sp>
        <p:nvSpPr>
          <p:cNvPr id="916" name="Google Shape;916;p15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Más complejidad no rompió el techo de F1.</a:t>
            </a:r>
            <a:endParaRPr/>
          </a:p>
        </p:txBody>
      </p:sp>
      <p:sp>
        <p:nvSpPr>
          <p:cNvPr id="917" name="Google Shape;917;p15"/>
          <p:cNvSpPr/>
          <p:nvPr/>
        </p:nvSpPr>
        <p:spPr>
          <a:xfrm>
            <a:off x="5166360" y="1920240"/>
            <a:ext cx="20116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D645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15"/>
          <p:cNvSpPr txBox="1"/>
          <p:nvPr/>
        </p:nvSpPr>
        <p:spPr>
          <a:xfrm>
            <a:off x="5312664" y="2075688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F1 atrasada</a:t>
            </a:r>
            <a:endParaRPr/>
          </a:p>
        </p:txBody>
      </p:sp>
      <p:sp>
        <p:nvSpPr>
          <p:cNvPr id="919" name="Google Shape;919;p15"/>
          <p:cNvSpPr txBox="1"/>
          <p:nvPr/>
        </p:nvSpPr>
        <p:spPr>
          <a:xfrm>
            <a:off x="5276088" y="2450592"/>
            <a:ext cx="1792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0.5293</a:t>
            </a:r>
            <a:endParaRPr/>
          </a:p>
        </p:txBody>
      </p:sp>
      <p:sp>
        <p:nvSpPr>
          <p:cNvPr id="920" name="Google Shape;920;p15"/>
          <p:cNvSpPr/>
          <p:nvPr/>
        </p:nvSpPr>
        <p:spPr>
          <a:xfrm>
            <a:off x="7452360" y="1920240"/>
            <a:ext cx="20116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D645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15"/>
          <p:cNvSpPr txBox="1"/>
          <p:nvPr/>
        </p:nvSpPr>
        <p:spPr>
          <a:xfrm>
            <a:off x="7598664" y="2075688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/>
          </a:p>
        </p:txBody>
      </p:sp>
      <p:sp>
        <p:nvSpPr>
          <p:cNvPr id="922" name="Google Shape;922;p15"/>
          <p:cNvSpPr txBox="1"/>
          <p:nvPr/>
        </p:nvSpPr>
        <p:spPr>
          <a:xfrm>
            <a:off x="7562088" y="2450592"/>
            <a:ext cx="1792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0.9236</a:t>
            </a:r>
            <a:endParaRPr/>
          </a:p>
        </p:txBody>
      </p:sp>
      <p:sp>
        <p:nvSpPr>
          <p:cNvPr id="923" name="Google Shape;923;p15"/>
          <p:cNvSpPr/>
          <p:nvPr/>
        </p:nvSpPr>
        <p:spPr>
          <a:xfrm>
            <a:off x="9738360" y="1920240"/>
            <a:ext cx="20116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D645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15"/>
          <p:cNvSpPr txBox="1"/>
          <p:nvPr/>
        </p:nvSpPr>
        <p:spPr>
          <a:xfrm>
            <a:off x="9884664" y="2075688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/>
          </a:p>
        </p:txBody>
      </p:sp>
      <p:sp>
        <p:nvSpPr>
          <p:cNvPr id="925" name="Google Shape;925;p15"/>
          <p:cNvSpPr txBox="1"/>
          <p:nvPr/>
        </p:nvSpPr>
        <p:spPr>
          <a:xfrm>
            <a:off x="9848088" y="2450592"/>
            <a:ext cx="1792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/>
          </a:p>
        </p:txBody>
      </p:sp>
      <p:sp>
        <p:nvSpPr>
          <p:cNvPr id="926" name="Google Shape;926;p15"/>
          <p:cNvSpPr/>
          <p:nvPr/>
        </p:nvSpPr>
        <p:spPr>
          <a:xfrm>
            <a:off x="11887200" y="1920240"/>
            <a:ext cx="2057400" cy="1234440"/>
          </a:xfrm>
          <a:prstGeom prst="roundRect">
            <a:avLst>
              <a:gd fmla="val 16667" name="adj"/>
            </a:avLst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15"/>
          <p:cNvSpPr txBox="1"/>
          <p:nvPr/>
        </p:nvSpPr>
        <p:spPr>
          <a:xfrm>
            <a:off x="12033504" y="2084831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LECTURA</a:t>
            </a:r>
            <a:endParaRPr/>
          </a:p>
        </p:txBody>
      </p:sp>
      <p:sp>
        <p:nvSpPr>
          <p:cNvPr id="928" name="Google Shape;928;p15"/>
          <p:cNvSpPr txBox="1"/>
          <p:nvPr/>
        </p:nvSpPr>
        <p:spPr>
          <a:xfrm>
            <a:off x="11996928" y="2441448"/>
            <a:ext cx="18105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Mejor AUC</a:t>
            </a:r>
            <a:endParaRPr/>
          </a:p>
        </p:txBody>
      </p:sp>
      <p:sp>
        <p:nvSpPr>
          <p:cNvPr id="929" name="Google Shape;929;p15"/>
          <p:cNvSpPr/>
          <p:nvPr/>
        </p:nvSpPr>
        <p:spPr>
          <a:xfrm>
            <a:off x="5166360" y="3703320"/>
            <a:ext cx="8778240" cy="3337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15"/>
          <p:cNvSpPr txBox="1"/>
          <p:nvPr/>
        </p:nvSpPr>
        <p:spPr>
          <a:xfrm>
            <a:off x="5385816" y="3867911"/>
            <a:ext cx="83393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Análisis ejecutivo</a:t>
            </a:r>
            <a:endParaRPr/>
          </a:p>
        </p:txBody>
      </p:sp>
      <p:sp>
        <p:nvSpPr>
          <p:cNvPr id="931" name="Google Shape;931;p15"/>
          <p:cNvSpPr txBox="1"/>
          <p:nvPr/>
        </p:nvSpPr>
        <p:spPr>
          <a:xfrm>
            <a:off x="5458968" y="4270248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Tiene el AUC más alto de clasificación, señal de excelente ranking.</a:t>
            </a:r>
            <a:endParaRPr/>
          </a:p>
        </p:txBody>
      </p:sp>
      <p:sp>
        <p:nvSpPr>
          <p:cNvPr id="932" name="Google Shape;932;p15"/>
          <p:cNvSpPr txBox="1"/>
          <p:nvPr/>
        </p:nvSpPr>
        <p:spPr>
          <a:xfrm>
            <a:off x="5458968" y="4718304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Pero su F1 queda bajo RF e HGB con el umbral por defecto.</a:t>
            </a:r>
            <a:endParaRPr/>
          </a:p>
        </p:txBody>
      </p:sp>
      <p:sp>
        <p:nvSpPr>
          <p:cNvPr id="933" name="Google Shape;933;p15"/>
          <p:cNvSpPr txBox="1"/>
          <p:nvPr/>
        </p:nvSpPr>
        <p:spPr>
          <a:xfrm>
            <a:off x="5458968" y="5166360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Conclusión: muy buen candidato si el negocio calibra umbrales, no como ganador directo de F1.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6"/>
          <p:cNvSpPr txBox="1"/>
          <p:nvPr/>
        </p:nvSpPr>
        <p:spPr>
          <a:xfrm>
            <a:off x="685800" y="32004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COMPARACIÓN GLOBAL - CLASIFICACIÓN</a:t>
            </a:r>
            <a:endParaRPr/>
          </a:p>
        </p:txBody>
      </p:sp>
      <p:sp>
        <p:nvSpPr>
          <p:cNvPr id="939" name="Google Shape;939;p16"/>
          <p:cNvSpPr txBox="1"/>
          <p:nvPr/>
        </p:nvSpPr>
        <p:spPr>
          <a:xfrm>
            <a:off x="685800" y="676656"/>
            <a:ext cx="10789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Random Forest queda como modelo recomendado para alertas</a:t>
            </a:r>
            <a:endParaRPr/>
          </a:p>
        </p:txBody>
      </p:sp>
      <p:sp>
        <p:nvSpPr>
          <p:cNvPr id="940" name="Google Shape;940;p16"/>
          <p:cNvSpPr txBox="1"/>
          <p:nvPr/>
        </p:nvSpPr>
        <p:spPr>
          <a:xfrm>
            <a:off x="713232" y="1170432"/>
            <a:ext cx="11612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La selección no depende solo del AUC: para el negocio importa detectar atrasos reales con un balance razonable de falsas alarmas.</a:t>
            </a:r>
            <a:endParaRPr/>
          </a:p>
        </p:txBody>
      </p:sp>
      <p:sp>
        <p:nvSpPr>
          <p:cNvPr id="941" name="Google Shape;941;p16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16"/>
          <p:cNvSpPr/>
          <p:nvPr/>
        </p:nvSpPr>
        <p:spPr>
          <a:xfrm>
            <a:off x="777240" y="1993392"/>
            <a:ext cx="7543800" cy="4160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16"/>
          <p:cNvSpPr txBox="1"/>
          <p:nvPr/>
        </p:nvSpPr>
        <p:spPr>
          <a:xfrm>
            <a:off x="1005840" y="2157984"/>
            <a:ext cx="7086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Ranking de modelos finales</a:t>
            </a:r>
            <a:endParaRPr/>
          </a:p>
        </p:txBody>
      </p:sp>
      <p:sp>
        <p:nvSpPr>
          <p:cNvPr id="944" name="Google Shape;944;p16"/>
          <p:cNvSpPr txBox="1"/>
          <p:nvPr/>
        </p:nvSpPr>
        <p:spPr>
          <a:xfrm>
            <a:off x="1005840" y="265176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endParaRPr/>
          </a:p>
        </p:txBody>
      </p:sp>
      <p:sp>
        <p:nvSpPr>
          <p:cNvPr id="945" name="Google Shape;945;p16"/>
          <p:cNvSpPr txBox="1"/>
          <p:nvPr/>
        </p:nvSpPr>
        <p:spPr>
          <a:xfrm>
            <a:off x="3566160" y="26517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F1 atrasada</a:t>
            </a:r>
            <a:endParaRPr/>
          </a:p>
        </p:txBody>
      </p:sp>
      <p:sp>
        <p:nvSpPr>
          <p:cNvPr id="946" name="Google Shape;946;p16"/>
          <p:cNvSpPr txBox="1"/>
          <p:nvPr/>
        </p:nvSpPr>
        <p:spPr>
          <a:xfrm>
            <a:off x="4937759" y="265176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/>
          </a:p>
        </p:txBody>
      </p:sp>
      <p:sp>
        <p:nvSpPr>
          <p:cNvPr id="947" name="Google Shape;947;p16"/>
          <p:cNvSpPr txBox="1"/>
          <p:nvPr/>
        </p:nvSpPr>
        <p:spPr>
          <a:xfrm>
            <a:off x="6172200" y="26517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Lectura</a:t>
            </a:r>
            <a:endParaRPr/>
          </a:p>
        </p:txBody>
      </p:sp>
      <p:sp>
        <p:nvSpPr>
          <p:cNvPr id="948" name="Google Shape;948;p16"/>
          <p:cNvSpPr/>
          <p:nvPr/>
        </p:nvSpPr>
        <p:spPr>
          <a:xfrm>
            <a:off x="886968" y="2962656"/>
            <a:ext cx="7324344" cy="484632"/>
          </a:xfrm>
          <a:prstGeom prst="roundRect">
            <a:avLst>
              <a:gd fmla="val 16667" name="adj"/>
            </a:avLst>
          </a:prstGeom>
          <a:solidFill>
            <a:srgbClr val="ECF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16"/>
          <p:cNvSpPr txBox="1"/>
          <p:nvPr/>
        </p:nvSpPr>
        <p:spPr>
          <a:xfrm>
            <a:off x="1005840" y="304495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/>
          </a:p>
        </p:txBody>
      </p:sp>
      <p:sp>
        <p:nvSpPr>
          <p:cNvPr id="950" name="Google Shape;950;p16"/>
          <p:cNvSpPr txBox="1"/>
          <p:nvPr/>
        </p:nvSpPr>
        <p:spPr>
          <a:xfrm>
            <a:off x="3566160" y="304495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0.5917</a:t>
            </a:r>
            <a:endParaRPr/>
          </a:p>
        </p:txBody>
      </p:sp>
      <p:sp>
        <p:nvSpPr>
          <p:cNvPr id="951" name="Google Shape;951;p16"/>
          <p:cNvSpPr txBox="1"/>
          <p:nvPr/>
        </p:nvSpPr>
        <p:spPr>
          <a:xfrm>
            <a:off x="4937759" y="304495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0.9221</a:t>
            </a:r>
            <a:endParaRPr/>
          </a:p>
        </p:txBody>
      </p:sp>
      <p:sp>
        <p:nvSpPr>
          <p:cNvPr id="952" name="Google Shape;952;p16"/>
          <p:cNvSpPr txBox="1"/>
          <p:nvPr/>
        </p:nvSpPr>
        <p:spPr>
          <a:xfrm>
            <a:off x="6172200" y="30449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Mejor F1 y modelo elegido</a:t>
            </a:r>
            <a:endParaRPr/>
          </a:p>
        </p:txBody>
      </p:sp>
      <p:sp>
        <p:nvSpPr>
          <p:cNvPr id="953" name="Google Shape;953;p16"/>
          <p:cNvSpPr txBox="1"/>
          <p:nvPr/>
        </p:nvSpPr>
        <p:spPr>
          <a:xfrm>
            <a:off x="1005840" y="352958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4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HGB</a:t>
            </a:r>
            <a:endParaRPr/>
          </a:p>
        </p:txBody>
      </p:sp>
      <p:sp>
        <p:nvSpPr>
          <p:cNvPr id="954" name="Google Shape;954;p16"/>
          <p:cNvSpPr txBox="1"/>
          <p:nvPr/>
        </p:nvSpPr>
        <p:spPr>
          <a:xfrm>
            <a:off x="3566160" y="352958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0.5446</a:t>
            </a:r>
            <a:endParaRPr/>
          </a:p>
        </p:txBody>
      </p:sp>
      <p:sp>
        <p:nvSpPr>
          <p:cNvPr id="955" name="Google Shape;955;p16"/>
          <p:cNvSpPr txBox="1"/>
          <p:nvPr/>
        </p:nvSpPr>
        <p:spPr>
          <a:xfrm>
            <a:off x="4937759" y="352958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0.9228</a:t>
            </a:r>
            <a:endParaRPr/>
          </a:p>
        </p:txBody>
      </p:sp>
      <p:sp>
        <p:nvSpPr>
          <p:cNvPr id="956" name="Google Shape;956;p16"/>
          <p:cNvSpPr txBox="1"/>
          <p:nvPr/>
        </p:nvSpPr>
        <p:spPr>
          <a:xfrm>
            <a:off x="6172200" y="352958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Segundo mejor; muy buen AUC</a:t>
            </a:r>
            <a:endParaRPr/>
          </a:p>
        </p:txBody>
      </p:sp>
      <p:sp>
        <p:nvSpPr>
          <p:cNvPr id="957" name="Google Shape;957;p16"/>
          <p:cNvSpPr txBox="1"/>
          <p:nvPr/>
        </p:nvSpPr>
        <p:spPr>
          <a:xfrm>
            <a:off x="1005840" y="4014216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/>
          </a:p>
        </p:txBody>
      </p:sp>
      <p:sp>
        <p:nvSpPr>
          <p:cNvPr id="958" name="Google Shape;958;p16"/>
          <p:cNvSpPr txBox="1"/>
          <p:nvPr/>
        </p:nvSpPr>
        <p:spPr>
          <a:xfrm>
            <a:off x="3566160" y="401421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0.5293</a:t>
            </a:r>
            <a:endParaRPr/>
          </a:p>
        </p:txBody>
      </p:sp>
      <p:sp>
        <p:nvSpPr>
          <p:cNvPr id="959" name="Google Shape;959;p16"/>
          <p:cNvSpPr txBox="1"/>
          <p:nvPr/>
        </p:nvSpPr>
        <p:spPr>
          <a:xfrm>
            <a:off x="4937759" y="4014216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0.9236</a:t>
            </a:r>
            <a:endParaRPr/>
          </a:p>
        </p:txBody>
      </p:sp>
      <p:sp>
        <p:nvSpPr>
          <p:cNvPr id="960" name="Google Shape;960;p16"/>
          <p:cNvSpPr txBox="1"/>
          <p:nvPr/>
        </p:nvSpPr>
        <p:spPr>
          <a:xfrm>
            <a:off x="6172200" y="401421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Mejor ranking probabilístico</a:t>
            </a:r>
            <a:endParaRPr/>
          </a:p>
        </p:txBody>
      </p:sp>
      <p:sp>
        <p:nvSpPr>
          <p:cNvPr id="961" name="Google Shape;961;p16"/>
          <p:cNvSpPr txBox="1"/>
          <p:nvPr/>
        </p:nvSpPr>
        <p:spPr>
          <a:xfrm>
            <a:off x="1005840" y="4498848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/>
          </a:p>
        </p:txBody>
      </p:sp>
      <p:sp>
        <p:nvSpPr>
          <p:cNvPr id="962" name="Google Shape;962;p16"/>
          <p:cNvSpPr txBox="1"/>
          <p:nvPr/>
        </p:nvSpPr>
        <p:spPr>
          <a:xfrm>
            <a:off x="3566160" y="44988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0.5211</a:t>
            </a:r>
            <a:endParaRPr/>
          </a:p>
        </p:txBody>
      </p:sp>
      <p:sp>
        <p:nvSpPr>
          <p:cNvPr id="963" name="Google Shape;963;p16"/>
          <p:cNvSpPr txBox="1"/>
          <p:nvPr/>
        </p:nvSpPr>
        <p:spPr>
          <a:xfrm>
            <a:off x="4937759" y="449884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0.9226</a:t>
            </a:r>
            <a:endParaRPr/>
          </a:p>
        </p:txBody>
      </p:sp>
      <p:sp>
        <p:nvSpPr>
          <p:cNvPr id="964" name="Google Shape;964;p16"/>
          <p:cNvSpPr txBox="1"/>
          <p:nvPr/>
        </p:nvSpPr>
        <p:spPr>
          <a:xfrm>
            <a:off x="6172200" y="44988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AUC alto, F1 rígido</a:t>
            </a:r>
            <a:endParaRPr/>
          </a:p>
        </p:txBody>
      </p:sp>
      <p:sp>
        <p:nvSpPr>
          <p:cNvPr id="965" name="Google Shape;965;p16"/>
          <p:cNvSpPr txBox="1"/>
          <p:nvPr/>
        </p:nvSpPr>
        <p:spPr>
          <a:xfrm>
            <a:off x="1005840" y="498348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Regresión Logística</a:t>
            </a:r>
            <a:endParaRPr/>
          </a:p>
        </p:txBody>
      </p:sp>
      <p:sp>
        <p:nvSpPr>
          <p:cNvPr id="966" name="Google Shape;966;p16"/>
          <p:cNvSpPr txBox="1"/>
          <p:nvPr/>
        </p:nvSpPr>
        <p:spPr>
          <a:xfrm>
            <a:off x="3566160" y="49834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0.5180</a:t>
            </a:r>
            <a:endParaRPr/>
          </a:p>
        </p:txBody>
      </p:sp>
      <p:sp>
        <p:nvSpPr>
          <p:cNvPr id="967" name="Google Shape;967;p16"/>
          <p:cNvSpPr txBox="1"/>
          <p:nvPr/>
        </p:nvSpPr>
        <p:spPr>
          <a:xfrm>
            <a:off x="4937759" y="498348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0.9068</a:t>
            </a:r>
            <a:endParaRPr/>
          </a:p>
        </p:txBody>
      </p:sp>
      <p:sp>
        <p:nvSpPr>
          <p:cNvPr id="968" name="Google Shape;968;p16"/>
          <p:cNvSpPr txBox="1"/>
          <p:nvPr/>
        </p:nvSpPr>
        <p:spPr>
          <a:xfrm>
            <a:off x="6172200" y="49834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Baseline fuerte</a:t>
            </a:r>
            <a:endParaRPr/>
          </a:p>
        </p:txBody>
      </p:sp>
      <p:sp>
        <p:nvSpPr>
          <p:cNvPr id="969" name="Google Shape;969;p16"/>
          <p:cNvSpPr txBox="1"/>
          <p:nvPr/>
        </p:nvSpPr>
        <p:spPr>
          <a:xfrm>
            <a:off x="1005840" y="546811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/>
          </a:p>
        </p:txBody>
      </p:sp>
      <p:sp>
        <p:nvSpPr>
          <p:cNvPr id="970" name="Google Shape;970;p16"/>
          <p:cNvSpPr txBox="1"/>
          <p:nvPr/>
        </p:nvSpPr>
        <p:spPr>
          <a:xfrm>
            <a:off x="3566160" y="546811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0.4650</a:t>
            </a:r>
            <a:endParaRPr/>
          </a:p>
        </p:txBody>
      </p:sp>
      <p:sp>
        <p:nvSpPr>
          <p:cNvPr id="971" name="Google Shape;971;p16"/>
          <p:cNvSpPr txBox="1"/>
          <p:nvPr/>
        </p:nvSpPr>
        <p:spPr>
          <a:xfrm>
            <a:off x="4937759" y="546811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0.8893</a:t>
            </a:r>
            <a:endParaRPr/>
          </a:p>
        </p:txBody>
      </p:sp>
      <p:sp>
        <p:nvSpPr>
          <p:cNvPr id="972" name="Google Shape;972;p16"/>
          <p:cNvSpPr txBox="1"/>
          <p:nvPr/>
        </p:nvSpPr>
        <p:spPr>
          <a:xfrm>
            <a:off x="6172200" y="546811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Interpretable, pero limitado</a:t>
            </a:r>
            <a:endParaRPr/>
          </a:p>
        </p:txBody>
      </p:sp>
      <p:sp>
        <p:nvSpPr>
          <p:cNvPr id="973" name="Google Shape;973;p16"/>
          <p:cNvSpPr/>
          <p:nvPr/>
        </p:nvSpPr>
        <p:spPr>
          <a:xfrm>
            <a:off x="8732520" y="1993392"/>
            <a:ext cx="5212080" cy="14173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16"/>
          <p:cNvSpPr txBox="1"/>
          <p:nvPr/>
        </p:nvSpPr>
        <p:spPr>
          <a:xfrm>
            <a:off x="8961120" y="2157984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Decisión metodológica</a:t>
            </a:r>
            <a:endParaRPr/>
          </a:p>
        </p:txBody>
      </p:sp>
      <p:sp>
        <p:nvSpPr>
          <p:cNvPr id="975" name="Google Shape;975;p16"/>
          <p:cNvSpPr txBox="1"/>
          <p:nvPr/>
        </p:nvSpPr>
        <p:spPr>
          <a:xfrm>
            <a:off x="8961120" y="2560320"/>
            <a:ext cx="4754880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Se elige Random Forest porque maximiza F1 en la clase atrasada: es el mejor equilibrio entre detectar atrasos y controlar falsas alarmas.</a:t>
            </a:r>
            <a:endParaRPr/>
          </a:p>
        </p:txBody>
      </p:sp>
      <p:sp>
        <p:nvSpPr>
          <p:cNvPr id="976" name="Google Shape;976;p16"/>
          <p:cNvSpPr/>
          <p:nvPr/>
        </p:nvSpPr>
        <p:spPr>
          <a:xfrm>
            <a:off x="8732520" y="3611880"/>
            <a:ext cx="5212080" cy="14173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16"/>
          <p:cNvSpPr txBox="1"/>
          <p:nvPr/>
        </p:nvSpPr>
        <p:spPr>
          <a:xfrm>
            <a:off x="8961120" y="377647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Matiz importante</a:t>
            </a:r>
            <a:endParaRPr/>
          </a:p>
        </p:txBody>
      </p:sp>
      <p:sp>
        <p:nvSpPr>
          <p:cNvPr id="978" name="Google Shape;978;p16"/>
          <p:cNvSpPr txBox="1"/>
          <p:nvPr/>
        </p:nvSpPr>
        <p:spPr>
          <a:xfrm>
            <a:off x="8961120" y="4178808"/>
            <a:ext cx="4754880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XGBoost y HGB rankean muy bien el riesgo (AUC alto), pero con el umbral por defecto no convierten esa separación en mejor F1.</a:t>
            </a:r>
            <a:endParaRPr/>
          </a:p>
        </p:txBody>
      </p:sp>
      <p:sp>
        <p:nvSpPr>
          <p:cNvPr id="979" name="Google Shape;979;p16"/>
          <p:cNvSpPr/>
          <p:nvPr/>
        </p:nvSpPr>
        <p:spPr>
          <a:xfrm>
            <a:off x="8732520" y="5230368"/>
            <a:ext cx="5212080" cy="14173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F299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16"/>
          <p:cNvSpPr txBox="1"/>
          <p:nvPr/>
        </p:nvSpPr>
        <p:spPr>
          <a:xfrm>
            <a:off x="8961120" y="5394959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Lectura de negocio</a:t>
            </a:r>
            <a:endParaRPr/>
          </a:p>
        </p:txBody>
      </p:sp>
      <p:sp>
        <p:nvSpPr>
          <p:cNvPr id="981" name="Google Shape;981;p16"/>
          <p:cNvSpPr txBox="1"/>
          <p:nvPr/>
        </p:nvSpPr>
        <p:spPr>
          <a:xfrm>
            <a:off x="8961120" y="5797296"/>
            <a:ext cx="4754880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El modelo no reemplaza la operación: prioriza la atención. Sirve para enfocar supervisores, conductores y replanificación donde el riesgo es mayor.</a:t>
            </a:r>
            <a:endParaRPr/>
          </a:p>
        </p:txBody>
      </p:sp>
      <p:sp>
        <p:nvSpPr>
          <p:cNvPr id="982" name="Google Shape;982;p16"/>
          <p:cNvSpPr/>
          <p:nvPr/>
        </p:nvSpPr>
        <p:spPr>
          <a:xfrm>
            <a:off x="777240" y="6446520"/>
            <a:ext cx="13167360" cy="685800"/>
          </a:xfrm>
          <a:prstGeom prst="roundRect">
            <a:avLst>
              <a:gd fmla="val 16667" name="adj"/>
            </a:avLst>
          </a:prstGeom>
          <a:solidFill>
            <a:srgbClr val="142B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16"/>
          <p:cNvSpPr txBox="1"/>
          <p:nvPr/>
        </p:nvSpPr>
        <p:spPr>
          <a:xfrm>
            <a:off x="1005840" y="6611112"/>
            <a:ext cx="1271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Mensaje clave: no buscamos el modelo más complejo, sino el que mejor convierte datos históricos en alertas accionables para reducir atrasos.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B4A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7"/>
          <p:cNvSpPr txBox="1"/>
          <p:nvPr/>
        </p:nvSpPr>
        <p:spPr>
          <a:xfrm>
            <a:off x="868680" y="6858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6F0FC"/>
                </a:solidFill>
                <a:latin typeface="Calibri"/>
                <a:ea typeface="Calibri"/>
                <a:cs typeface="Calibri"/>
                <a:sym typeface="Calibri"/>
              </a:rPr>
              <a:t>REGRESIÓN</a:t>
            </a:r>
            <a:endParaRPr/>
          </a:p>
        </p:txBody>
      </p:sp>
      <p:sp>
        <p:nvSpPr>
          <p:cNvPr id="989" name="Google Shape;989;p17"/>
          <p:cNvSpPr txBox="1"/>
          <p:nvPr/>
        </p:nvSpPr>
        <p:spPr>
          <a:xfrm>
            <a:off x="868680" y="1188720"/>
            <a:ext cx="10698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Segundo objetivo: estimar minutos de atraso</a:t>
            </a:r>
            <a:endParaRPr sz="1500"/>
          </a:p>
        </p:txBody>
      </p:sp>
      <p:sp>
        <p:nvSpPr>
          <p:cNvPr id="990" name="Google Shape;990;p17"/>
          <p:cNvSpPr txBox="1"/>
          <p:nvPr/>
        </p:nvSpPr>
        <p:spPr>
          <a:xfrm>
            <a:off x="896112" y="2057400"/>
            <a:ext cx="11521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DBE8F7"/>
                </a:solidFill>
                <a:latin typeface="Calibri"/>
                <a:ea typeface="Calibri"/>
                <a:cs typeface="Calibri"/>
                <a:sym typeface="Calibri"/>
              </a:rPr>
              <a:t>Después de detectar si una entrega está en riesgo, el negocio necesita dimensionar la severidad: no es lo mismo llegar 5 minutos tarde que 90.</a:t>
            </a:r>
            <a:endParaRPr/>
          </a:p>
        </p:txBody>
      </p:sp>
      <p:sp>
        <p:nvSpPr>
          <p:cNvPr id="991" name="Google Shape;991;p17"/>
          <p:cNvSpPr/>
          <p:nvPr/>
        </p:nvSpPr>
        <p:spPr>
          <a:xfrm>
            <a:off x="914400" y="3703320"/>
            <a:ext cx="31546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17"/>
          <p:cNvSpPr txBox="1"/>
          <p:nvPr/>
        </p:nvSpPr>
        <p:spPr>
          <a:xfrm>
            <a:off x="1143000" y="39136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93" name="Google Shape;993;p17"/>
          <p:cNvSpPr txBox="1"/>
          <p:nvPr/>
        </p:nvSpPr>
        <p:spPr>
          <a:xfrm>
            <a:off x="1783080" y="3977639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Clasificador detecta riesgo</a:t>
            </a:r>
            <a:endParaRPr sz="1700"/>
          </a:p>
        </p:txBody>
      </p:sp>
      <p:sp>
        <p:nvSpPr>
          <p:cNvPr id="994" name="Google Shape;994;p17"/>
          <p:cNvSpPr/>
          <p:nvPr/>
        </p:nvSpPr>
        <p:spPr>
          <a:xfrm>
            <a:off x="4754880" y="3703320"/>
            <a:ext cx="31546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17"/>
          <p:cNvSpPr txBox="1"/>
          <p:nvPr/>
        </p:nvSpPr>
        <p:spPr>
          <a:xfrm>
            <a:off x="4983480" y="39136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96" name="Google Shape;996;p17"/>
          <p:cNvSpPr txBox="1"/>
          <p:nvPr/>
        </p:nvSpPr>
        <p:spPr>
          <a:xfrm>
            <a:off x="5623560" y="3977639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Regresor estima magnitud</a:t>
            </a:r>
            <a:endParaRPr sz="1700"/>
          </a:p>
        </p:txBody>
      </p:sp>
      <p:sp>
        <p:nvSpPr>
          <p:cNvPr id="997" name="Google Shape;997;p17"/>
          <p:cNvSpPr/>
          <p:nvPr/>
        </p:nvSpPr>
        <p:spPr>
          <a:xfrm>
            <a:off x="8595360" y="3703320"/>
            <a:ext cx="31546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17"/>
          <p:cNvSpPr txBox="1"/>
          <p:nvPr/>
        </p:nvSpPr>
        <p:spPr>
          <a:xfrm>
            <a:off x="8823960" y="39136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99" name="Google Shape;999;p17"/>
          <p:cNvSpPr txBox="1"/>
          <p:nvPr/>
        </p:nvSpPr>
        <p:spPr>
          <a:xfrm>
            <a:off x="9464040" y="3977639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Operación prioriza acciones</a:t>
            </a:r>
            <a:endParaRPr sz="1700"/>
          </a:p>
        </p:txBody>
      </p:sp>
      <p:sp>
        <p:nvSpPr>
          <p:cNvPr id="1000" name="Google Shape;1000;p17"/>
          <p:cNvSpPr txBox="1"/>
          <p:nvPr/>
        </p:nvSpPr>
        <p:spPr>
          <a:xfrm>
            <a:off x="914400" y="6172200"/>
            <a:ext cx="1234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Métricas centrales: RMSE/MAE para error en minutos, R2 para explicación global y pred_late para validar señal en entregas atrasadas.</a:t>
            </a:r>
            <a:endParaRPr sz="1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8"/>
          <p:cNvSpPr txBox="1"/>
          <p:nvPr/>
        </p:nvSpPr>
        <p:spPr>
          <a:xfrm>
            <a:off x="685800" y="320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MODELO R1 - REGRESIÓN</a:t>
            </a:r>
            <a:endParaRPr/>
          </a:p>
        </p:txBody>
      </p:sp>
      <p:sp>
        <p:nvSpPr>
          <p:cNvPr id="1006" name="Google Shape;1006;p18"/>
          <p:cNvSpPr txBox="1"/>
          <p:nvPr/>
        </p:nvSpPr>
        <p:spPr>
          <a:xfrm>
            <a:off x="685800" y="676656"/>
            <a:ext cx="11521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Familia lineal: baseline y selección de variables</a:t>
            </a:r>
            <a:endParaRPr/>
          </a:p>
        </p:txBody>
      </p:sp>
      <p:sp>
        <p:nvSpPr>
          <p:cNvPr id="1007" name="Google Shape;1007;p18"/>
          <p:cNvSpPr txBox="1"/>
          <p:nvPr/>
        </p:nvSpPr>
        <p:spPr>
          <a:xfrm>
            <a:off x="713232" y="1170432"/>
            <a:ext cx="1207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OLS, Ridge y Lasso fijan el piso: explican parte del delay, pero no capturan bien los atrasos reales.</a:t>
            </a:r>
            <a:endParaRPr/>
          </a:p>
        </p:txBody>
      </p:sp>
      <p:sp>
        <p:nvSpPr>
          <p:cNvPr id="1008" name="Google Shape;1008;p18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18"/>
          <p:cNvSpPr/>
          <p:nvPr/>
        </p:nvSpPr>
        <p:spPr>
          <a:xfrm>
            <a:off x="777240" y="1965960"/>
            <a:ext cx="3977639" cy="23317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18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Cómo funciona</a:t>
            </a:r>
            <a:endParaRPr/>
          </a:p>
        </p:txBody>
      </p:sp>
      <p:sp>
        <p:nvSpPr>
          <p:cNvPr id="1011" name="Google Shape;1011;p18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Predicen delay como suma ponderada de variables.</a:t>
            </a:r>
            <a:endParaRPr/>
          </a:p>
        </p:txBody>
      </p:sp>
      <p:sp>
        <p:nvSpPr>
          <p:cNvPr id="1012" name="Google Shape;1012;p18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Ridge estabiliza coeficientes; Lasso elimina variables redundantes.</a:t>
            </a:r>
            <a:endParaRPr/>
          </a:p>
        </p:txBody>
      </p:sp>
      <p:sp>
        <p:nvSpPr>
          <p:cNvPr id="1013" name="Google Shape;1013;p18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Son utiles para interpretar, no necesariamente para producir.</a:t>
            </a:r>
            <a:endParaRPr/>
          </a:p>
        </p:txBody>
      </p:sp>
      <p:sp>
        <p:nvSpPr>
          <p:cNvPr id="1014" name="Google Shape;1014;p18"/>
          <p:cNvSpPr/>
          <p:nvPr/>
        </p:nvSpPr>
        <p:spPr>
          <a:xfrm>
            <a:off x="777240" y="4526280"/>
            <a:ext cx="3977639" cy="25146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18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Qué se probó</a:t>
            </a:r>
            <a:endParaRPr/>
          </a:p>
        </p:txBody>
      </p:sp>
      <p:sp>
        <p:nvSpPr>
          <p:cNvPr id="1016" name="Google Shape;1016;p18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OLS con F_BASE y F_FULL.</a:t>
            </a:r>
            <a:endParaRPr/>
          </a:p>
        </p:txBody>
      </p:sp>
      <p:sp>
        <p:nvSpPr>
          <p:cNvPr id="1017" name="Google Shape;1017;p18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Ridge para regularización L2.</a:t>
            </a:r>
            <a:endParaRPr/>
          </a:p>
        </p:txBody>
      </p:sp>
      <p:sp>
        <p:nvSpPr>
          <p:cNvPr id="1018" name="Google Shape;1018;p18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Lasso alpha=1 seleccionó 15 features y fue el mejor lineal.</a:t>
            </a:r>
            <a:endParaRPr/>
          </a:p>
        </p:txBody>
      </p:sp>
      <p:sp>
        <p:nvSpPr>
          <p:cNvPr id="1019" name="Google Shape;1019;p18"/>
          <p:cNvSpPr/>
          <p:nvPr/>
        </p:nvSpPr>
        <p:spPr>
          <a:xfrm>
            <a:off x="516636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18"/>
          <p:cNvSpPr txBox="1"/>
          <p:nvPr/>
        </p:nvSpPr>
        <p:spPr>
          <a:xfrm>
            <a:off x="529437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/>
          </a:p>
        </p:txBody>
      </p:sp>
      <p:sp>
        <p:nvSpPr>
          <p:cNvPr id="1021" name="Google Shape;1021;p18"/>
          <p:cNvSpPr txBox="1"/>
          <p:nvPr/>
        </p:nvSpPr>
        <p:spPr>
          <a:xfrm>
            <a:off x="525780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80.29</a:t>
            </a:r>
            <a:endParaRPr/>
          </a:p>
        </p:txBody>
      </p:sp>
      <p:sp>
        <p:nvSpPr>
          <p:cNvPr id="1022" name="Google Shape;1022;p18"/>
          <p:cNvSpPr/>
          <p:nvPr/>
        </p:nvSpPr>
        <p:spPr>
          <a:xfrm>
            <a:off x="726948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18"/>
          <p:cNvSpPr txBox="1"/>
          <p:nvPr/>
        </p:nvSpPr>
        <p:spPr>
          <a:xfrm>
            <a:off x="739749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/>
          </a:p>
        </p:txBody>
      </p:sp>
      <p:sp>
        <p:nvSpPr>
          <p:cNvPr id="1024" name="Google Shape;1024;p18"/>
          <p:cNvSpPr txBox="1"/>
          <p:nvPr/>
        </p:nvSpPr>
        <p:spPr>
          <a:xfrm>
            <a:off x="736092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~60</a:t>
            </a:r>
            <a:endParaRPr/>
          </a:p>
        </p:txBody>
      </p:sp>
      <p:sp>
        <p:nvSpPr>
          <p:cNvPr id="1025" name="Google Shape;1025;p18"/>
          <p:cNvSpPr/>
          <p:nvPr/>
        </p:nvSpPr>
        <p:spPr>
          <a:xfrm>
            <a:off x="937260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18"/>
          <p:cNvSpPr txBox="1"/>
          <p:nvPr/>
        </p:nvSpPr>
        <p:spPr>
          <a:xfrm>
            <a:off x="950061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/>
          </a:p>
        </p:txBody>
      </p:sp>
      <p:sp>
        <p:nvSpPr>
          <p:cNvPr id="1027" name="Google Shape;1027;p18"/>
          <p:cNvSpPr txBox="1"/>
          <p:nvPr/>
        </p:nvSpPr>
        <p:spPr>
          <a:xfrm>
            <a:off x="946404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0.726</a:t>
            </a:r>
            <a:endParaRPr/>
          </a:p>
        </p:txBody>
      </p:sp>
      <p:sp>
        <p:nvSpPr>
          <p:cNvPr id="1028" name="Google Shape;1028;p18"/>
          <p:cNvSpPr/>
          <p:nvPr/>
        </p:nvSpPr>
        <p:spPr>
          <a:xfrm>
            <a:off x="1147572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18"/>
          <p:cNvSpPr txBox="1"/>
          <p:nvPr/>
        </p:nvSpPr>
        <p:spPr>
          <a:xfrm>
            <a:off x="1160373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Pred late</a:t>
            </a:r>
            <a:endParaRPr/>
          </a:p>
        </p:txBody>
      </p:sp>
      <p:sp>
        <p:nvSpPr>
          <p:cNvPr id="1030" name="Google Shape;1030;p18"/>
          <p:cNvSpPr txBox="1"/>
          <p:nvPr/>
        </p:nvSpPr>
        <p:spPr>
          <a:xfrm>
            <a:off x="1156716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neg.</a:t>
            </a:r>
            <a:endParaRPr/>
          </a:p>
        </p:txBody>
      </p:sp>
      <p:sp>
        <p:nvSpPr>
          <p:cNvPr id="1031" name="Google Shape;1031;p18"/>
          <p:cNvSpPr/>
          <p:nvPr/>
        </p:nvSpPr>
        <p:spPr>
          <a:xfrm>
            <a:off x="5166360" y="3364992"/>
            <a:ext cx="8229600" cy="310896"/>
          </a:xfrm>
          <a:prstGeom prst="roundRect">
            <a:avLst>
              <a:gd fmla="val 16667" name="adj"/>
            </a:avLst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18"/>
          <p:cNvSpPr txBox="1"/>
          <p:nvPr/>
        </p:nvSpPr>
        <p:spPr>
          <a:xfrm>
            <a:off x="5349240" y="3410712"/>
            <a:ext cx="7863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Mejor lineal: Lasso, pero no sirve como modelo final</a:t>
            </a:r>
            <a:endParaRPr/>
          </a:p>
        </p:txBody>
      </p:sp>
      <p:sp>
        <p:nvSpPr>
          <p:cNvPr id="1033" name="Google Shape;1033;p18"/>
          <p:cNvSpPr/>
          <p:nvPr/>
        </p:nvSpPr>
        <p:spPr>
          <a:xfrm>
            <a:off x="5166360" y="3840480"/>
            <a:ext cx="8778240" cy="3200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18"/>
          <p:cNvSpPr txBox="1"/>
          <p:nvPr/>
        </p:nvSpPr>
        <p:spPr>
          <a:xfrm>
            <a:off x="5385816" y="4005072"/>
            <a:ext cx="83393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Análisis ejecutivo</a:t>
            </a:r>
            <a:endParaRPr/>
          </a:p>
        </p:txBody>
      </p:sp>
      <p:sp>
        <p:nvSpPr>
          <p:cNvPr id="1035" name="Google Shape;1035;p18"/>
          <p:cNvSpPr txBox="1"/>
          <p:nvPr/>
        </p:nvSpPr>
        <p:spPr>
          <a:xfrm>
            <a:off x="5458968" y="4407408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El techo lineal queda cerca de R2=0.72-0.73.</a:t>
            </a:r>
            <a:endParaRPr/>
          </a:p>
        </p:txBody>
      </p:sp>
      <p:sp>
        <p:nvSpPr>
          <p:cNvPr id="1036" name="Google Shape;1036;p18"/>
          <p:cNvSpPr txBox="1"/>
          <p:nvPr/>
        </p:nvSpPr>
        <p:spPr>
          <a:xfrm>
            <a:off x="5458968" y="4855464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Lasso confirma variables relevantes: Latest Time, ventana, IndexA e historial.</a:t>
            </a:r>
            <a:endParaRPr/>
          </a:p>
        </p:txBody>
      </p:sp>
      <p:sp>
        <p:nvSpPr>
          <p:cNvPr id="1037" name="Google Shape;1037;p18"/>
          <p:cNvSpPr txBox="1"/>
          <p:nvPr/>
        </p:nvSpPr>
        <p:spPr>
          <a:xfrm>
            <a:off x="5458968" y="5303520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Problema de negocio: en entregas atrasadas mantiene predicción media negativa.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9"/>
          <p:cNvSpPr txBox="1"/>
          <p:nvPr/>
        </p:nvSpPr>
        <p:spPr>
          <a:xfrm>
            <a:off x="685800" y="320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MODELO R2 - REGRESIÓN</a:t>
            </a:r>
            <a:endParaRPr/>
          </a:p>
        </p:txBody>
      </p:sp>
      <p:sp>
        <p:nvSpPr>
          <p:cNvPr id="1043" name="Google Shape;1043;p19"/>
          <p:cNvSpPr txBox="1"/>
          <p:nvPr/>
        </p:nvSpPr>
        <p:spPr>
          <a:xfrm>
            <a:off x="685800" y="676656"/>
            <a:ext cx="11521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Decision Tree Regressor: no linealidad con reglas simples</a:t>
            </a:r>
            <a:endParaRPr/>
          </a:p>
        </p:txBody>
      </p:sp>
      <p:sp>
        <p:nvSpPr>
          <p:cNvPr id="1044" name="Google Shape;1044;p19"/>
          <p:cNvSpPr txBox="1"/>
          <p:nvPr/>
        </p:nvSpPr>
        <p:spPr>
          <a:xfrm>
            <a:off x="713232" y="1170432"/>
            <a:ext cx="1207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Primer modelo no lineal: mejora al lineal, pero sigue limitado como árbol único.</a:t>
            </a:r>
            <a:endParaRPr/>
          </a:p>
        </p:txBody>
      </p:sp>
      <p:sp>
        <p:nvSpPr>
          <p:cNvPr id="1045" name="Google Shape;1045;p19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19"/>
          <p:cNvSpPr/>
          <p:nvPr/>
        </p:nvSpPr>
        <p:spPr>
          <a:xfrm>
            <a:off x="777240" y="1965960"/>
            <a:ext cx="3977639" cy="23317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19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Cómo funciona</a:t>
            </a:r>
            <a:endParaRPr/>
          </a:p>
        </p:txBody>
      </p:sp>
      <p:sp>
        <p:nvSpPr>
          <p:cNvPr id="1048" name="Google Shape;1048;p19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Divide el espacio en reglas y predice el promedio de cada hoja.</a:t>
            </a:r>
            <a:endParaRPr/>
          </a:p>
        </p:txBody>
      </p:sp>
      <p:sp>
        <p:nvSpPr>
          <p:cNvPr id="1049" name="Google Shape;1049;p19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No necesita escalamiento y tolera colinealidad.</a:t>
            </a:r>
            <a:endParaRPr/>
          </a:p>
        </p:txBody>
      </p:sp>
      <p:sp>
        <p:nvSpPr>
          <p:cNvPr id="1050" name="Google Shape;1050;p19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Sin poda memoriza el entrenamiento.</a:t>
            </a:r>
            <a:endParaRPr/>
          </a:p>
        </p:txBody>
      </p:sp>
      <p:sp>
        <p:nvSpPr>
          <p:cNvPr id="1051" name="Google Shape;1051;p19"/>
          <p:cNvSpPr/>
          <p:nvPr/>
        </p:nvSpPr>
        <p:spPr>
          <a:xfrm>
            <a:off x="777240" y="4526280"/>
            <a:ext cx="3977639" cy="25146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19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Qué se probó</a:t>
            </a:r>
            <a:endParaRPr/>
          </a:p>
        </p:txBody>
      </p:sp>
      <p:sp>
        <p:nvSpPr>
          <p:cNvPr id="1053" name="Google Shape;1053;p19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Sin límite: RMSE 95.26, overfitting extremo.</a:t>
            </a:r>
            <a:endParaRPr/>
          </a:p>
        </p:txBody>
      </p:sp>
      <p:sp>
        <p:nvSpPr>
          <p:cNvPr id="1054" name="Google Shape;1054;p19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Barrido de profundidad entre 3 y 20.</a:t>
            </a:r>
            <a:endParaRPr/>
          </a:p>
        </p:txBody>
      </p:sp>
      <p:sp>
        <p:nvSpPr>
          <p:cNvPr id="1055" name="Google Shape;1055;p19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max_depth=10 fue el mejor punto.</a:t>
            </a:r>
            <a:endParaRPr/>
          </a:p>
        </p:txBody>
      </p:sp>
      <p:sp>
        <p:nvSpPr>
          <p:cNvPr id="1056" name="Google Shape;1056;p19"/>
          <p:cNvSpPr/>
          <p:nvPr/>
        </p:nvSpPr>
        <p:spPr>
          <a:xfrm>
            <a:off x="516636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F299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9"/>
          <p:cNvSpPr txBox="1"/>
          <p:nvPr/>
        </p:nvSpPr>
        <p:spPr>
          <a:xfrm>
            <a:off x="529437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/>
          </a:p>
        </p:txBody>
      </p:sp>
      <p:sp>
        <p:nvSpPr>
          <p:cNvPr id="1058" name="Google Shape;1058;p19"/>
          <p:cNvSpPr txBox="1"/>
          <p:nvPr/>
        </p:nvSpPr>
        <p:spPr>
          <a:xfrm>
            <a:off x="525780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78.16</a:t>
            </a:r>
            <a:endParaRPr/>
          </a:p>
        </p:txBody>
      </p:sp>
      <p:sp>
        <p:nvSpPr>
          <p:cNvPr id="1059" name="Google Shape;1059;p19"/>
          <p:cNvSpPr/>
          <p:nvPr/>
        </p:nvSpPr>
        <p:spPr>
          <a:xfrm>
            <a:off x="726948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F299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19"/>
          <p:cNvSpPr txBox="1"/>
          <p:nvPr/>
        </p:nvSpPr>
        <p:spPr>
          <a:xfrm>
            <a:off x="739749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/>
          </a:p>
        </p:txBody>
      </p:sp>
      <p:sp>
        <p:nvSpPr>
          <p:cNvPr id="1061" name="Google Shape;1061;p19"/>
          <p:cNvSpPr txBox="1"/>
          <p:nvPr/>
        </p:nvSpPr>
        <p:spPr>
          <a:xfrm>
            <a:off x="736092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57.16</a:t>
            </a:r>
            <a:endParaRPr/>
          </a:p>
        </p:txBody>
      </p:sp>
      <p:sp>
        <p:nvSpPr>
          <p:cNvPr id="1062" name="Google Shape;1062;p19"/>
          <p:cNvSpPr/>
          <p:nvPr/>
        </p:nvSpPr>
        <p:spPr>
          <a:xfrm>
            <a:off x="937260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F299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19"/>
          <p:cNvSpPr txBox="1"/>
          <p:nvPr/>
        </p:nvSpPr>
        <p:spPr>
          <a:xfrm>
            <a:off x="950061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/>
          </a:p>
        </p:txBody>
      </p:sp>
      <p:sp>
        <p:nvSpPr>
          <p:cNvPr id="1064" name="Google Shape;1064;p19"/>
          <p:cNvSpPr txBox="1"/>
          <p:nvPr/>
        </p:nvSpPr>
        <p:spPr>
          <a:xfrm>
            <a:off x="946404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0.740</a:t>
            </a:r>
            <a:endParaRPr/>
          </a:p>
        </p:txBody>
      </p:sp>
      <p:sp>
        <p:nvSpPr>
          <p:cNvPr id="1065" name="Google Shape;1065;p19"/>
          <p:cNvSpPr/>
          <p:nvPr/>
        </p:nvSpPr>
        <p:spPr>
          <a:xfrm>
            <a:off x="1147572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F299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19"/>
          <p:cNvSpPr txBox="1"/>
          <p:nvPr/>
        </p:nvSpPr>
        <p:spPr>
          <a:xfrm>
            <a:off x="1160373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Pred late</a:t>
            </a:r>
            <a:endParaRPr/>
          </a:p>
        </p:txBody>
      </p:sp>
      <p:sp>
        <p:nvSpPr>
          <p:cNvPr id="1067" name="Google Shape;1067;p19"/>
          <p:cNvSpPr txBox="1"/>
          <p:nvPr/>
        </p:nvSpPr>
        <p:spPr>
          <a:xfrm>
            <a:off x="1156716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-12.39</a:t>
            </a:r>
            <a:endParaRPr/>
          </a:p>
        </p:txBody>
      </p:sp>
      <p:sp>
        <p:nvSpPr>
          <p:cNvPr id="1068" name="Google Shape;1068;p19"/>
          <p:cNvSpPr/>
          <p:nvPr/>
        </p:nvSpPr>
        <p:spPr>
          <a:xfrm>
            <a:off x="5166360" y="3364992"/>
            <a:ext cx="8229600" cy="310896"/>
          </a:xfrm>
          <a:prstGeom prst="roundRect">
            <a:avLst>
              <a:gd fmla="val 16667" name="adj"/>
            </a:avLst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19"/>
          <p:cNvSpPr txBox="1"/>
          <p:nvPr/>
        </p:nvSpPr>
        <p:spPr>
          <a:xfrm>
            <a:off x="5349240" y="3410712"/>
            <a:ext cx="7863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Mejora al lineal, pero falla en la cola</a:t>
            </a:r>
            <a:endParaRPr/>
          </a:p>
        </p:txBody>
      </p:sp>
      <p:sp>
        <p:nvSpPr>
          <p:cNvPr id="1070" name="Google Shape;1070;p19"/>
          <p:cNvSpPr/>
          <p:nvPr/>
        </p:nvSpPr>
        <p:spPr>
          <a:xfrm>
            <a:off x="5166360" y="3840480"/>
            <a:ext cx="8778240" cy="3200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19"/>
          <p:cNvSpPr txBox="1"/>
          <p:nvPr/>
        </p:nvSpPr>
        <p:spPr>
          <a:xfrm>
            <a:off x="5385816" y="4005072"/>
            <a:ext cx="83393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Análisis ejecutivo</a:t>
            </a:r>
            <a:endParaRPr/>
          </a:p>
        </p:txBody>
      </p:sp>
      <p:sp>
        <p:nvSpPr>
          <p:cNvPr id="1072" name="Google Shape;1072;p19"/>
          <p:cNvSpPr txBox="1"/>
          <p:nvPr/>
        </p:nvSpPr>
        <p:spPr>
          <a:xfrm>
            <a:off x="5458968" y="4407408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Captura algo de no linealidad y mejora RMSE.</a:t>
            </a:r>
            <a:endParaRPr/>
          </a:p>
        </p:txBody>
      </p:sp>
      <p:sp>
        <p:nvSpPr>
          <p:cNvPr id="1073" name="Google Shape;1073;p19"/>
          <p:cNvSpPr txBox="1"/>
          <p:nvPr/>
        </p:nvSpPr>
        <p:spPr>
          <a:xfrm>
            <a:off x="5458968" y="4855464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Aún predice signo negativo en atrasos reales.</a:t>
            </a:r>
            <a:endParaRPr/>
          </a:p>
        </p:txBody>
      </p:sp>
      <p:sp>
        <p:nvSpPr>
          <p:cNvPr id="1074" name="Google Shape;1074;p19"/>
          <p:cNvSpPr txBox="1"/>
          <p:nvPr/>
        </p:nvSpPr>
        <p:spPr>
          <a:xfrm>
            <a:off x="5458968" y="5303520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Sirve para justificar ensembles: un árbol solo no estabiliza suficiente.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20"/>
          <p:cNvSpPr txBox="1"/>
          <p:nvPr/>
        </p:nvSpPr>
        <p:spPr>
          <a:xfrm>
            <a:off x="685800" y="320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MODELO R3 - REGRESIÓN</a:t>
            </a:r>
            <a:endParaRPr/>
          </a:p>
        </p:txBody>
      </p:sp>
      <p:sp>
        <p:nvSpPr>
          <p:cNvPr id="1080" name="Google Shape;1080;p20"/>
          <p:cNvSpPr txBox="1"/>
          <p:nvPr/>
        </p:nvSpPr>
        <p:spPr>
          <a:xfrm>
            <a:off x="685800" y="676656"/>
            <a:ext cx="11521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Random Forest Regressor: mejor error global</a:t>
            </a:r>
            <a:endParaRPr/>
          </a:p>
        </p:txBody>
      </p:sp>
      <p:sp>
        <p:nvSpPr>
          <p:cNvPr id="1081" name="Google Shape;1081;p20"/>
          <p:cNvSpPr txBox="1"/>
          <p:nvPr/>
        </p:nvSpPr>
        <p:spPr>
          <a:xfrm>
            <a:off x="713232" y="1170432"/>
            <a:ext cx="1207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Promedia muchos árboles para reducir varianza y lograr el menor error general del test.</a:t>
            </a:r>
            <a:endParaRPr/>
          </a:p>
        </p:txBody>
      </p:sp>
      <p:sp>
        <p:nvSpPr>
          <p:cNvPr id="1082" name="Google Shape;1082;p20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20"/>
          <p:cNvSpPr/>
          <p:nvPr/>
        </p:nvSpPr>
        <p:spPr>
          <a:xfrm>
            <a:off x="777240" y="1965960"/>
            <a:ext cx="3977639" cy="23317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0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Cómo funciona</a:t>
            </a:r>
            <a:endParaRPr/>
          </a:p>
        </p:txBody>
      </p:sp>
      <p:sp>
        <p:nvSpPr>
          <p:cNvPr id="1085" name="Google Shape;1085;p20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Entrena muchos árboles independientes con bootstrap.</a:t>
            </a:r>
            <a:endParaRPr/>
          </a:p>
        </p:txBody>
      </p:sp>
      <p:sp>
        <p:nvSpPr>
          <p:cNvPr id="1086" name="Google Shape;1086;p20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Promedia predicciones para estabilizar el error.</a:t>
            </a:r>
            <a:endParaRPr/>
          </a:p>
        </p:txBody>
      </p:sp>
      <p:sp>
        <p:nvSpPr>
          <p:cNvPr id="1087" name="Google Shape;1087;p20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Muy fuerte en datos tabulares con patrones claros.</a:t>
            </a:r>
            <a:endParaRPr/>
          </a:p>
        </p:txBody>
      </p:sp>
      <p:sp>
        <p:nvSpPr>
          <p:cNvPr id="1088" name="Google Shape;1088;p20"/>
          <p:cNvSpPr/>
          <p:nvPr/>
        </p:nvSpPr>
        <p:spPr>
          <a:xfrm>
            <a:off x="777240" y="4526280"/>
            <a:ext cx="3977639" cy="25146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0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Qué se probó</a:t>
            </a:r>
            <a:endParaRPr/>
          </a:p>
        </p:txBody>
      </p:sp>
      <p:sp>
        <p:nvSpPr>
          <p:cNvPr id="1090" name="Google Shape;1090;p20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Baseline con 100 árboles.</a:t>
            </a:r>
            <a:endParaRPr/>
          </a:p>
        </p:txBody>
      </p:sp>
      <p:sp>
        <p:nvSpPr>
          <p:cNvPr id="1091" name="Google Shape;1091;p20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Barrido de min_samples_leaf.</a:t>
            </a:r>
            <a:endParaRPr/>
          </a:p>
        </p:txBody>
      </p:sp>
      <p:sp>
        <p:nvSpPr>
          <p:cNvPr id="1092" name="Google Shape;1092;p20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max_features=0.7 mejoró RMSE y mantuvo señal en cola.</a:t>
            </a:r>
            <a:endParaRPr/>
          </a:p>
        </p:txBody>
      </p:sp>
      <p:sp>
        <p:nvSpPr>
          <p:cNvPr id="1093" name="Google Shape;1093;p20"/>
          <p:cNvSpPr/>
          <p:nvPr/>
        </p:nvSpPr>
        <p:spPr>
          <a:xfrm>
            <a:off x="516636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20"/>
          <p:cNvSpPr txBox="1"/>
          <p:nvPr/>
        </p:nvSpPr>
        <p:spPr>
          <a:xfrm>
            <a:off x="529437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/>
          </a:p>
        </p:txBody>
      </p:sp>
      <p:sp>
        <p:nvSpPr>
          <p:cNvPr id="1095" name="Google Shape;1095;p20"/>
          <p:cNvSpPr txBox="1"/>
          <p:nvPr/>
        </p:nvSpPr>
        <p:spPr>
          <a:xfrm>
            <a:off x="525780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65.16</a:t>
            </a:r>
            <a:endParaRPr/>
          </a:p>
        </p:txBody>
      </p:sp>
      <p:sp>
        <p:nvSpPr>
          <p:cNvPr id="1096" name="Google Shape;1096;p20"/>
          <p:cNvSpPr/>
          <p:nvPr/>
        </p:nvSpPr>
        <p:spPr>
          <a:xfrm>
            <a:off x="726948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20"/>
          <p:cNvSpPr txBox="1"/>
          <p:nvPr/>
        </p:nvSpPr>
        <p:spPr>
          <a:xfrm>
            <a:off x="739749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/>
          </a:p>
        </p:txBody>
      </p:sp>
      <p:sp>
        <p:nvSpPr>
          <p:cNvPr id="1098" name="Google Shape;1098;p20"/>
          <p:cNvSpPr txBox="1"/>
          <p:nvPr/>
        </p:nvSpPr>
        <p:spPr>
          <a:xfrm>
            <a:off x="736092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46.07</a:t>
            </a:r>
            <a:endParaRPr/>
          </a:p>
        </p:txBody>
      </p:sp>
      <p:sp>
        <p:nvSpPr>
          <p:cNvPr id="1099" name="Google Shape;1099;p20"/>
          <p:cNvSpPr/>
          <p:nvPr/>
        </p:nvSpPr>
        <p:spPr>
          <a:xfrm>
            <a:off x="937260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20"/>
          <p:cNvSpPr txBox="1"/>
          <p:nvPr/>
        </p:nvSpPr>
        <p:spPr>
          <a:xfrm>
            <a:off x="950061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/>
          </a:p>
        </p:txBody>
      </p:sp>
      <p:sp>
        <p:nvSpPr>
          <p:cNvPr id="1101" name="Google Shape;1101;p20"/>
          <p:cNvSpPr txBox="1"/>
          <p:nvPr/>
        </p:nvSpPr>
        <p:spPr>
          <a:xfrm>
            <a:off x="946404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0.819</a:t>
            </a:r>
            <a:endParaRPr/>
          </a:p>
        </p:txBody>
      </p:sp>
      <p:sp>
        <p:nvSpPr>
          <p:cNvPr id="1102" name="Google Shape;1102;p20"/>
          <p:cNvSpPr/>
          <p:nvPr/>
        </p:nvSpPr>
        <p:spPr>
          <a:xfrm>
            <a:off x="1147572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0"/>
          <p:cNvSpPr txBox="1"/>
          <p:nvPr/>
        </p:nvSpPr>
        <p:spPr>
          <a:xfrm>
            <a:off x="1160373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Pred late</a:t>
            </a:r>
            <a:endParaRPr/>
          </a:p>
        </p:txBody>
      </p:sp>
      <p:sp>
        <p:nvSpPr>
          <p:cNvPr id="1104" name="Google Shape;1104;p20"/>
          <p:cNvSpPr txBox="1"/>
          <p:nvPr/>
        </p:nvSpPr>
        <p:spPr>
          <a:xfrm>
            <a:off x="1156716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+5.06</a:t>
            </a:r>
            <a:endParaRPr/>
          </a:p>
        </p:txBody>
      </p:sp>
      <p:sp>
        <p:nvSpPr>
          <p:cNvPr id="1105" name="Google Shape;1105;p20"/>
          <p:cNvSpPr/>
          <p:nvPr/>
        </p:nvSpPr>
        <p:spPr>
          <a:xfrm>
            <a:off x="5166360" y="3364992"/>
            <a:ext cx="8229600" cy="310896"/>
          </a:xfrm>
          <a:prstGeom prst="roundRect">
            <a:avLst>
              <a:gd fmla="val 16667" name="adj"/>
            </a:avLst>
          </a:prstGeom>
          <a:solidFill>
            <a:srgbClr val="28A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0"/>
          <p:cNvSpPr txBox="1"/>
          <p:nvPr/>
        </p:nvSpPr>
        <p:spPr>
          <a:xfrm>
            <a:off x="5349240" y="3410712"/>
            <a:ext cx="7863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Mejor RMSE global</a:t>
            </a:r>
            <a:endParaRPr/>
          </a:p>
        </p:txBody>
      </p:sp>
      <p:sp>
        <p:nvSpPr>
          <p:cNvPr id="1107" name="Google Shape;1107;p20"/>
          <p:cNvSpPr/>
          <p:nvPr/>
        </p:nvSpPr>
        <p:spPr>
          <a:xfrm>
            <a:off x="5166360" y="3840480"/>
            <a:ext cx="8778240" cy="3200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0"/>
          <p:cNvSpPr txBox="1"/>
          <p:nvPr/>
        </p:nvSpPr>
        <p:spPr>
          <a:xfrm>
            <a:off x="5385816" y="4005072"/>
            <a:ext cx="83393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Análisis ejecutivo</a:t>
            </a:r>
            <a:endParaRPr/>
          </a:p>
        </p:txBody>
      </p:sp>
      <p:sp>
        <p:nvSpPr>
          <p:cNvPr id="1109" name="Google Shape;1109;p20"/>
          <p:cNvSpPr txBox="1"/>
          <p:nvPr/>
        </p:nvSpPr>
        <p:spPr>
          <a:xfrm>
            <a:off x="5458968" y="4407408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Es el modelo con menor error promedio global.</a:t>
            </a:r>
            <a:endParaRPr/>
          </a:p>
        </p:txBody>
      </p:sp>
      <p:sp>
        <p:nvSpPr>
          <p:cNvPr id="1110" name="Google Shape;1110;p20"/>
          <p:cNvSpPr txBox="1"/>
          <p:nvPr/>
        </p:nvSpPr>
        <p:spPr>
          <a:xfrm>
            <a:off x="5458968" y="4855464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La señal en atrasados es positiva, pero moderada.</a:t>
            </a:r>
            <a:endParaRPr/>
          </a:p>
        </p:txBody>
      </p:sp>
      <p:sp>
        <p:nvSpPr>
          <p:cNvPr id="1111" name="Google Shape;1111;p20"/>
          <p:cNvSpPr txBox="1"/>
          <p:nvPr/>
        </p:nvSpPr>
        <p:spPr>
          <a:xfrm>
            <a:off x="5458968" y="5303520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Buen candidato si se prioriza precision global y simplicidad operativa.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21"/>
          <p:cNvSpPr txBox="1"/>
          <p:nvPr/>
        </p:nvSpPr>
        <p:spPr>
          <a:xfrm>
            <a:off x="685800" y="320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MODELO R4 - REGRESIÓN</a:t>
            </a:r>
            <a:endParaRPr/>
          </a:p>
        </p:txBody>
      </p:sp>
      <p:sp>
        <p:nvSpPr>
          <p:cNvPr id="1117" name="Google Shape;1117;p21"/>
          <p:cNvSpPr txBox="1"/>
          <p:nvPr/>
        </p:nvSpPr>
        <p:spPr>
          <a:xfrm>
            <a:off x="685800" y="676656"/>
            <a:ext cx="11521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Gradient Boosting Regressor: buen ajuste, cola débil</a:t>
            </a:r>
            <a:endParaRPr/>
          </a:p>
        </p:txBody>
      </p:sp>
      <p:sp>
        <p:nvSpPr>
          <p:cNvPr id="1118" name="Google Shape;1118;p21"/>
          <p:cNvSpPr txBox="1"/>
          <p:nvPr/>
        </p:nvSpPr>
        <p:spPr>
          <a:xfrm>
            <a:off x="713232" y="1170432"/>
            <a:ext cx="1207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Aprende secuencialmente corrigiendo errores, pero en este dataset subestima los atrasos.</a:t>
            </a:r>
            <a:endParaRPr/>
          </a:p>
        </p:txBody>
      </p:sp>
      <p:sp>
        <p:nvSpPr>
          <p:cNvPr id="1119" name="Google Shape;1119;p21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21"/>
          <p:cNvSpPr/>
          <p:nvPr/>
        </p:nvSpPr>
        <p:spPr>
          <a:xfrm>
            <a:off x="777240" y="1965960"/>
            <a:ext cx="3977639" cy="23317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21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A9DBF"/>
                </a:solidFill>
                <a:latin typeface="Calibri"/>
                <a:ea typeface="Calibri"/>
                <a:cs typeface="Calibri"/>
                <a:sym typeface="Calibri"/>
              </a:rPr>
              <a:t>Cómo funciona</a:t>
            </a:r>
            <a:endParaRPr/>
          </a:p>
        </p:txBody>
      </p:sp>
      <p:sp>
        <p:nvSpPr>
          <p:cNvPr id="1122" name="Google Shape;1122;p21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Cada árbol corrige el error residual del anterior.</a:t>
            </a:r>
            <a:endParaRPr/>
          </a:p>
        </p:txBody>
      </p:sp>
      <p:sp>
        <p:nvSpPr>
          <p:cNvPr id="1123" name="Google Shape;1123;p21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Generaliza de forma controlada con learning rate bajo.</a:t>
            </a:r>
            <a:endParaRPr/>
          </a:p>
        </p:txBody>
      </p:sp>
      <p:sp>
        <p:nvSpPr>
          <p:cNvPr id="1124" name="Google Shape;1124;p21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Puede quedar corto si la señal de cola requiere más capacidad.</a:t>
            </a:r>
            <a:endParaRPr/>
          </a:p>
        </p:txBody>
      </p:sp>
      <p:sp>
        <p:nvSpPr>
          <p:cNvPr id="1125" name="Google Shape;1125;p21"/>
          <p:cNvSpPr/>
          <p:nvPr/>
        </p:nvSpPr>
        <p:spPr>
          <a:xfrm>
            <a:off x="777240" y="4526280"/>
            <a:ext cx="3977639" cy="25146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21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A9DBF"/>
                </a:solidFill>
                <a:latin typeface="Calibri"/>
                <a:ea typeface="Calibri"/>
                <a:cs typeface="Calibri"/>
                <a:sym typeface="Calibri"/>
              </a:rPr>
              <a:t>Qué se probó</a:t>
            </a:r>
            <a:endParaRPr/>
          </a:p>
        </p:txBody>
      </p:sp>
      <p:sp>
        <p:nvSpPr>
          <p:cNvPr id="1127" name="Google Shape;1127;p21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Baseline depth=3.</a:t>
            </a:r>
            <a:endParaRPr/>
          </a:p>
        </p:txBody>
      </p:sp>
      <p:sp>
        <p:nvSpPr>
          <p:cNvPr id="1128" name="Google Shape;1128;p21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Barrido de profundidad.</a:t>
            </a:r>
            <a:endParaRPr/>
          </a:p>
        </p:txBody>
      </p:sp>
      <p:sp>
        <p:nvSpPr>
          <p:cNvPr id="1129" name="Google Shape;1129;p21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Final con depth=6, lr=0.05, n=200.</a:t>
            </a:r>
            <a:endParaRPr/>
          </a:p>
        </p:txBody>
      </p:sp>
      <p:sp>
        <p:nvSpPr>
          <p:cNvPr id="1130" name="Google Shape;1130;p21"/>
          <p:cNvSpPr/>
          <p:nvPr/>
        </p:nvSpPr>
        <p:spPr>
          <a:xfrm>
            <a:off x="516636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A9D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21"/>
          <p:cNvSpPr txBox="1"/>
          <p:nvPr/>
        </p:nvSpPr>
        <p:spPr>
          <a:xfrm>
            <a:off x="529437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/>
          </a:p>
        </p:txBody>
      </p:sp>
      <p:sp>
        <p:nvSpPr>
          <p:cNvPr id="1132" name="Google Shape;1132;p21"/>
          <p:cNvSpPr txBox="1"/>
          <p:nvPr/>
        </p:nvSpPr>
        <p:spPr>
          <a:xfrm>
            <a:off x="525780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A9DBF"/>
                </a:solidFill>
                <a:latin typeface="Calibri"/>
                <a:ea typeface="Calibri"/>
                <a:cs typeface="Calibri"/>
                <a:sym typeface="Calibri"/>
              </a:rPr>
              <a:t>67.22</a:t>
            </a:r>
            <a:endParaRPr/>
          </a:p>
        </p:txBody>
      </p:sp>
      <p:sp>
        <p:nvSpPr>
          <p:cNvPr id="1133" name="Google Shape;1133;p21"/>
          <p:cNvSpPr/>
          <p:nvPr/>
        </p:nvSpPr>
        <p:spPr>
          <a:xfrm>
            <a:off x="726948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A9D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21"/>
          <p:cNvSpPr txBox="1"/>
          <p:nvPr/>
        </p:nvSpPr>
        <p:spPr>
          <a:xfrm>
            <a:off x="739749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/>
          </a:p>
        </p:txBody>
      </p:sp>
      <p:sp>
        <p:nvSpPr>
          <p:cNvPr id="1135" name="Google Shape;1135;p21"/>
          <p:cNvSpPr txBox="1"/>
          <p:nvPr/>
        </p:nvSpPr>
        <p:spPr>
          <a:xfrm>
            <a:off x="736092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A9DBF"/>
                </a:solidFill>
                <a:latin typeface="Calibri"/>
                <a:ea typeface="Calibri"/>
                <a:cs typeface="Calibri"/>
                <a:sym typeface="Calibri"/>
              </a:rPr>
              <a:t>48.82</a:t>
            </a:r>
            <a:endParaRPr/>
          </a:p>
        </p:txBody>
      </p:sp>
      <p:sp>
        <p:nvSpPr>
          <p:cNvPr id="1136" name="Google Shape;1136;p21"/>
          <p:cNvSpPr/>
          <p:nvPr/>
        </p:nvSpPr>
        <p:spPr>
          <a:xfrm>
            <a:off x="937260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A9D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21"/>
          <p:cNvSpPr txBox="1"/>
          <p:nvPr/>
        </p:nvSpPr>
        <p:spPr>
          <a:xfrm>
            <a:off x="950061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/>
          </a:p>
        </p:txBody>
      </p:sp>
      <p:sp>
        <p:nvSpPr>
          <p:cNvPr id="1138" name="Google Shape;1138;p21"/>
          <p:cNvSpPr txBox="1"/>
          <p:nvPr/>
        </p:nvSpPr>
        <p:spPr>
          <a:xfrm>
            <a:off x="946404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A9DBF"/>
                </a:solidFill>
                <a:latin typeface="Calibri"/>
                <a:ea typeface="Calibri"/>
                <a:cs typeface="Calibri"/>
                <a:sym typeface="Calibri"/>
              </a:rPr>
              <a:t>0.808</a:t>
            </a:r>
            <a:endParaRPr/>
          </a:p>
        </p:txBody>
      </p:sp>
      <p:sp>
        <p:nvSpPr>
          <p:cNvPr id="1139" name="Google Shape;1139;p21"/>
          <p:cNvSpPr/>
          <p:nvPr/>
        </p:nvSpPr>
        <p:spPr>
          <a:xfrm>
            <a:off x="1147572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A9D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21"/>
          <p:cNvSpPr txBox="1"/>
          <p:nvPr/>
        </p:nvSpPr>
        <p:spPr>
          <a:xfrm>
            <a:off x="1160373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Pred late</a:t>
            </a:r>
            <a:endParaRPr/>
          </a:p>
        </p:txBody>
      </p:sp>
      <p:sp>
        <p:nvSpPr>
          <p:cNvPr id="1141" name="Google Shape;1141;p21"/>
          <p:cNvSpPr txBox="1"/>
          <p:nvPr/>
        </p:nvSpPr>
        <p:spPr>
          <a:xfrm>
            <a:off x="1156716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A9DBF"/>
                </a:solidFill>
                <a:latin typeface="Calibri"/>
                <a:ea typeface="Calibri"/>
                <a:cs typeface="Calibri"/>
                <a:sym typeface="Calibri"/>
              </a:rPr>
              <a:t>+1.61</a:t>
            </a:r>
            <a:endParaRPr/>
          </a:p>
        </p:txBody>
      </p:sp>
      <p:sp>
        <p:nvSpPr>
          <p:cNvPr id="1142" name="Google Shape;1142;p21"/>
          <p:cNvSpPr/>
          <p:nvPr/>
        </p:nvSpPr>
        <p:spPr>
          <a:xfrm>
            <a:off x="5166360" y="3364992"/>
            <a:ext cx="8229600" cy="310896"/>
          </a:xfrm>
          <a:prstGeom prst="roundRect">
            <a:avLst>
              <a:gd fmla="val 16667" name="adj"/>
            </a:avLst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1"/>
          <p:cNvSpPr txBox="1"/>
          <p:nvPr/>
        </p:nvSpPr>
        <p:spPr>
          <a:xfrm>
            <a:off x="5349240" y="3410712"/>
            <a:ext cx="7863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Generaliza, pero casi no ve la cola</a:t>
            </a:r>
            <a:endParaRPr/>
          </a:p>
        </p:txBody>
      </p:sp>
      <p:sp>
        <p:nvSpPr>
          <p:cNvPr id="1144" name="Google Shape;1144;p21"/>
          <p:cNvSpPr/>
          <p:nvPr/>
        </p:nvSpPr>
        <p:spPr>
          <a:xfrm>
            <a:off x="5166360" y="3840480"/>
            <a:ext cx="8778240" cy="3200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1"/>
          <p:cNvSpPr txBox="1"/>
          <p:nvPr/>
        </p:nvSpPr>
        <p:spPr>
          <a:xfrm>
            <a:off x="5385816" y="4005072"/>
            <a:ext cx="83393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A9DBF"/>
                </a:solidFill>
                <a:latin typeface="Calibri"/>
                <a:ea typeface="Calibri"/>
                <a:cs typeface="Calibri"/>
                <a:sym typeface="Calibri"/>
              </a:rPr>
              <a:t>Análisis ejecutivo</a:t>
            </a:r>
            <a:endParaRPr/>
          </a:p>
        </p:txBody>
      </p:sp>
      <p:sp>
        <p:nvSpPr>
          <p:cNvPr id="1146" name="Google Shape;1146;p21"/>
          <p:cNvSpPr txBox="1"/>
          <p:nvPr/>
        </p:nvSpPr>
        <p:spPr>
          <a:xfrm>
            <a:off x="5458968" y="4407408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Rinde bien globalmente, pero queda bajo RF/HGB/XGB.</a:t>
            </a:r>
            <a:endParaRPr/>
          </a:p>
        </p:txBody>
      </p:sp>
      <p:sp>
        <p:nvSpPr>
          <p:cNvPr id="1147" name="Google Shape;1147;p21"/>
          <p:cNvSpPr txBox="1"/>
          <p:nvPr/>
        </p:nvSpPr>
        <p:spPr>
          <a:xfrm>
            <a:off x="5458968" y="4855464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Pred_late apenas positivo: alerta de subestimación.</a:t>
            </a:r>
            <a:endParaRPr/>
          </a:p>
        </p:txBody>
      </p:sp>
      <p:sp>
        <p:nvSpPr>
          <p:cNvPr id="1148" name="Google Shape;1148;p21"/>
          <p:cNvSpPr txBox="1"/>
          <p:nvPr/>
        </p:nvSpPr>
        <p:spPr>
          <a:xfrm>
            <a:off x="5458968" y="5303520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No es el modelo recomendado para dimensionar atrasos.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22"/>
          <p:cNvSpPr txBox="1"/>
          <p:nvPr/>
        </p:nvSpPr>
        <p:spPr>
          <a:xfrm>
            <a:off x="685800" y="320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MODELO R5 - REGRESIÓN</a:t>
            </a:r>
            <a:endParaRPr/>
          </a:p>
        </p:txBody>
      </p:sp>
      <p:sp>
        <p:nvSpPr>
          <p:cNvPr id="1154" name="Google Shape;1154;p22"/>
          <p:cNvSpPr txBox="1"/>
          <p:nvPr/>
        </p:nvSpPr>
        <p:spPr>
          <a:xfrm>
            <a:off x="685800" y="676656"/>
            <a:ext cx="11521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HistGradientBoosting: mejor señal de negocio en atrasos</a:t>
            </a:r>
            <a:endParaRPr/>
          </a:p>
        </p:txBody>
      </p:sp>
      <p:sp>
        <p:nvSpPr>
          <p:cNvPr id="1155" name="Google Shape;1155;p22"/>
          <p:cNvSpPr txBox="1"/>
          <p:nvPr/>
        </p:nvSpPr>
        <p:spPr>
          <a:xfrm>
            <a:off x="713232" y="1170432"/>
            <a:ext cx="1207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Boosting eficiente con histogramas; sacrifica poco error global y gana mucha señal en la cola.</a:t>
            </a:r>
            <a:endParaRPr/>
          </a:p>
        </p:txBody>
      </p:sp>
      <p:sp>
        <p:nvSpPr>
          <p:cNvPr id="1156" name="Google Shape;1156;p22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22"/>
          <p:cNvSpPr/>
          <p:nvPr/>
        </p:nvSpPr>
        <p:spPr>
          <a:xfrm>
            <a:off x="777240" y="1965960"/>
            <a:ext cx="3977639" cy="23317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22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6F42C1"/>
                </a:solidFill>
                <a:latin typeface="Calibri"/>
                <a:ea typeface="Calibri"/>
                <a:cs typeface="Calibri"/>
                <a:sym typeface="Calibri"/>
              </a:rPr>
              <a:t>Cómo funciona</a:t>
            </a:r>
            <a:endParaRPr/>
          </a:p>
        </p:txBody>
      </p:sp>
      <p:sp>
        <p:nvSpPr>
          <p:cNvPr id="1159" name="Google Shape;1159;p22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Usa bins de histogramas para acelerar los splits.</a:t>
            </a:r>
            <a:endParaRPr/>
          </a:p>
        </p:txBody>
      </p:sp>
      <p:sp>
        <p:nvSpPr>
          <p:cNvPr id="1160" name="Google Shape;1160;p22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Early stopping no corto: el modelo seguia aprendiendo.</a:t>
            </a:r>
            <a:endParaRPr/>
          </a:p>
        </p:txBody>
      </p:sp>
      <p:sp>
        <p:nvSpPr>
          <p:cNvPr id="1161" name="Google Shape;1161;p22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La regularización efectiva vino por max_depth.</a:t>
            </a:r>
            <a:endParaRPr/>
          </a:p>
        </p:txBody>
      </p:sp>
      <p:sp>
        <p:nvSpPr>
          <p:cNvPr id="1162" name="Google Shape;1162;p22"/>
          <p:cNvSpPr/>
          <p:nvPr/>
        </p:nvSpPr>
        <p:spPr>
          <a:xfrm>
            <a:off x="777240" y="4526280"/>
            <a:ext cx="3977639" cy="25146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22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6F42C1"/>
                </a:solidFill>
                <a:latin typeface="Calibri"/>
                <a:ea typeface="Calibri"/>
                <a:cs typeface="Calibri"/>
                <a:sym typeface="Calibri"/>
              </a:rPr>
              <a:t>Qué se probó</a:t>
            </a:r>
            <a:endParaRPr/>
          </a:p>
        </p:txBody>
      </p:sp>
      <p:sp>
        <p:nvSpPr>
          <p:cNvPr id="1164" name="Google Shape;1164;p22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P1 max_iter=500.</a:t>
            </a:r>
            <a:endParaRPr/>
          </a:p>
        </p:txBody>
      </p:sp>
      <p:sp>
        <p:nvSpPr>
          <p:cNvPr id="1165" name="Google Shape;1165;p22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P2 max_iter=1500 mejoró cola pero subió gap.</a:t>
            </a:r>
            <a:endParaRPr/>
          </a:p>
        </p:txBody>
      </p:sp>
      <p:sp>
        <p:nvSpPr>
          <p:cNvPr id="1166" name="Google Shape;1166;p22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depth=5 fue equilibrio entre gap y pred_late.</a:t>
            </a:r>
            <a:endParaRPr/>
          </a:p>
        </p:txBody>
      </p:sp>
      <p:sp>
        <p:nvSpPr>
          <p:cNvPr id="1167" name="Google Shape;1167;p22"/>
          <p:cNvSpPr/>
          <p:nvPr/>
        </p:nvSpPr>
        <p:spPr>
          <a:xfrm>
            <a:off x="516636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6F42C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22"/>
          <p:cNvSpPr txBox="1"/>
          <p:nvPr/>
        </p:nvSpPr>
        <p:spPr>
          <a:xfrm>
            <a:off x="529437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/>
          </a:p>
        </p:txBody>
      </p:sp>
      <p:sp>
        <p:nvSpPr>
          <p:cNvPr id="1169" name="Google Shape;1169;p22"/>
          <p:cNvSpPr txBox="1"/>
          <p:nvPr/>
        </p:nvSpPr>
        <p:spPr>
          <a:xfrm>
            <a:off x="525780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6F42C1"/>
                </a:solidFill>
                <a:latin typeface="Calibri"/>
                <a:ea typeface="Calibri"/>
                <a:cs typeface="Calibri"/>
                <a:sym typeface="Calibri"/>
              </a:rPr>
              <a:t>66.31</a:t>
            </a:r>
            <a:endParaRPr/>
          </a:p>
        </p:txBody>
      </p:sp>
      <p:sp>
        <p:nvSpPr>
          <p:cNvPr id="1170" name="Google Shape;1170;p22"/>
          <p:cNvSpPr/>
          <p:nvPr/>
        </p:nvSpPr>
        <p:spPr>
          <a:xfrm>
            <a:off x="726948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6F42C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22"/>
          <p:cNvSpPr txBox="1"/>
          <p:nvPr/>
        </p:nvSpPr>
        <p:spPr>
          <a:xfrm>
            <a:off x="739749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/>
          </a:p>
        </p:txBody>
      </p:sp>
      <p:sp>
        <p:nvSpPr>
          <p:cNvPr id="1172" name="Google Shape;1172;p22"/>
          <p:cNvSpPr txBox="1"/>
          <p:nvPr/>
        </p:nvSpPr>
        <p:spPr>
          <a:xfrm>
            <a:off x="736092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6F42C1"/>
                </a:solidFill>
                <a:latin typeface="Calibri"/>
                <a:ea typeface="Calibri"/>
                <a:cs typeface="Calibri"/>
                <a:sym typeface="Calibri"/>
              </a:rPr>
              <a:t>47.84</a:t>
            </a:r>
            <a:endParaRPr/>
          </a:p>
        </p:txBody>
      </p:sp>
      <p:sp>
        <p:nvSpPr>
          <p:cNvPr id="1173" name="Google Shape;1173;p22"/>
          <p:cNvSpPr/>
          <p:nvPr/>
        </p:nvSpPr>
        <p:spPr>
          <a:xfrm>
            <a:off x="937260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6F42C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22"/>
          <p:cNvSpPr txBox="1"/>
          <p:nvPr/>
        </p:nvSpPr>
        <p:spPr>
          <a:xfrm>
            <a:off x="950061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/>
          </a:p>
        </p:txBody>
      </p:sp>
      <p:sp>
        <p:nvSpPr>
          <p:cNvPr id="1175" name="Google Shape;1175;p22"/>
          <p:cNvSpPr txBox="1"/>
          <p:nvPr/>
        </p:nvSpPr>
        <p:spPr>
          <a:xfrm>
            <a:off x="946404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6F42C1"/>
                </a:solidFill>
                <a:latin typeface="Calibri"/>
                <a:ea typeface="Calibri"/>
                <a:cs typeface="Calibri"/>
                <a:sym typeface="Calibri"/>
              </a:rPr>
              <a:t>0.813</a:t>
            </a:r>
            <a:endParaRPr/>
          </a:p>
        </p:txBody>
      </p:sp>
      <p:sp>
        <p:nvSpPr>
          <p:cNvPr id="1176" name="Google Shape;1176;p22"/>
          <p:cNvSpPr/>
          <p:nvPr/>
        </p:nvSpPr>
        <p:spPr>
          <a:xfrm>
            <a:off x="1147572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6F42C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22"/>
          <p:cNvSpPr txBox="1"/>
          <p:nvPr/>
        </p:nvSpPr>
        <p:spPr>
          <a:xfrm>
            <a:off x="1160373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Pred late</a:t>
            </a:r>
            <a:endParaRPr/>
          </a:p>
        </p:txBody>
      </p:sp>
      <p:sp>
        <p:nvSpPr>
          <p:cNvPr id="1178" name="Google Shape;1178;p22"/>
          <p:cNvSpPr txBox="1"/>
          <p:nvPr/>
        </p:nvSpPr>
        <p:spPr>
          <a:xfrm>
            <a:off x="1156716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6F42C1"/>
                </a:solidFill>
                <a:latin typeface="Calibri"/>
                <a:ea typeface="Calibri"/>
                <a:cs typeface="Calibri"/>
                <a:sym typeface="Calibri"/>
              </a:rPr>
              <a:t>+9.46</a:t>
            </a:r>
            <a:endParaRPr/>
          </a:p>
        </p:txBody>
      </p:sp>
      <p:sp>
        <p:nvSpPr>
          <p:cNvPr id="1179" name="Google Shape;1179;p22"/>
          <p:cNvSpPr/>
          <p:nvPr/>
        </p:nvSpPr>
        <p:spPr>
          <a:xfrm>
            <a:off x="5166360" y="3364992"/>
            <a:ext cx="8229600" cy="310896"/>
          </a:xfrm>
          <a:prstGeom prst="roundRect">
            <a:avLst>
              <a:gd fmla="val 16667" name="adj"/>
            </a:avLst>
          </a:prstGeom>
          <a:solidFill>
            <a:srgbClr val="6F42C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22"/>
          <p:cNvSpPr txBox="1"/>
          <p:nvPr/>
        </p:nvSpPr>
        <p:spPr>
          <a:xfrm>
            <a:off x="5349240" y="3410712"/>
            <a:ext cx="7863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Mejor lectura de atrasos reales</a:t>
            </a:r>
            <a:endParaRPr/>
          </a:p>
        </p:txBody>
      </p:sp>
      <p:sp>
        <p:nvSpPr>
          <p:cNvPr id="1181" name="Google Shape;1181;p22"/>
          <p:cNvSpPr/>
          <p:nvPr/>
        </p:nvSpPr>
        <p:spPr>
          <a:xfrm>
            <a:off x="5166360" y="3840480"/>
            <a:ext cx="8778240" cy="3200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22"/>
          <p:cNvSpPr txBox="1"/>
          <p:nvPr/>
        </p:nvSpPr>
        <p:spPr>
          <a:xfrm>
            <a:off x="5385816" y="4005072"/>
            <a:ext cx="83393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6F42C1"/>
                </a:solidFill>
                <a:latin typeface="Calibri"/>
                <a:ea typeface="Calibri"/>
                <a:cs typeface="Calibri"/>
                <a:sym typeface="Calibri"/>
              </a:rPr>
              <a:t>Análisis ejecutivo</a:t>
            </a:r>
            <a:endParaRPr/>
          </a:p>
        </p:txBody>
      </p:sp>
      <p:sp>
        <p:nvSpPr>
          <p:cNvPr id="1183" name="Google Shape;1183;p22"/>
          <p:cNvSpPr txBox="1"/>
          <p:nvPr/>
        </p:nvSpPr>
        <p:spPr>
          <a:xfrm>
            <a:off x="5458968" y="4407408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Empata a RF/XGB en error global prácticamente.</a:t>
            </a:r>
            <a:endParaRPr/>
          </a:p>
        </p:txBody>
      </p:sp>
      <p:sp>
        <p:nvSpPr>
          <p:cNvPr id="1184" name="Google Shape;1184;p22"/>
          <p:cNvSpPr txBox="1"/>
          <p:nvPr/>
        </p:nvSpPr>
        <p:spPr>
          <a:xfrm>
            <a:off x="5458968" y="4855464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Tiene la mayor predicción media en entregas atrasadas.</a:t>
            </a:r>
            <a:endParaRPr/>
          </a:p>
        </p:txBody>
      </p:sp>
      <p:sp>
        <p:nvSpPr>
          <p:cNvPr id="1185" name="Google Shape;1185;p22"/>
          <p:cNvSpPr txBox="1"/>
          <p:nvPr/>
        </p:nvSpPr>
        <p:spPr>
          <a:xfrm>
            <a:off x="5458968" y="5303520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Si el foco es severidad del atraso, es el modelo más util para negocio.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23"/>
          <p:cNvSpPr txBox="1"/>
          <p:nvPr/>
        </p:nvSpPr>
        <p:spPr>
          <a:xfrm>
            <a:off x="685800" y="320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MODELO R6 - REGRESIÓN</a:t>
            </a:r>
            <a:endParaRPr/>
          </a:p>
        </p:txBody>
      </p:sp>
      <p:sp>
        <p:nvSpPr>
          <p:cNvPr id="1191" name="Google Shape;1191;p23"/>
          <p:cNvSpPr txBox="1"/>
          <p:nvPr/>
        </p:nvSpPr>
        <p:spPr>
          <a:xfrm>
            <a:off x="685800" y="676656"/>
            <a:ext cx="11521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XGBoost Regressor: mejor balance error/gap/cola</a:t>
            </a:r>
            <a:endParaRPr/>
          </a:p>
        </p:txBody>
      </p:sp>
      <p:sp>
        <p:nvSpPr>
          <p:cNvPr id="1192" name="Google Shape;1192;p23"/>
          <p:cNvSpPr txBox="1"/>
          <p:nvPr/>
        </p:nvSpPr>
        <p:spPr>
          <a:xfrm>
            <a:off x="713232" y="1170432"/>
            <a:ext cx="1207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Boosting regularizado con muestreo de filas y columnas; muy competitivo y estable.</a:t>
            </a:r>
            <a:endParaRPr/>
          </a:p>
        </p:txBody>
      </p:sp>
      <p:sp>
        <p:nvSpPr>
          <p:cNvPr id="1193" name="Google Shape;1193;p23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23"/>
          <p:cNvSpPr/>
          <p:nvPr/>
        </p:nvSpPr>
        <p:spPr>
          <a:xfrm>
            <a:off x="777240" y="1965960"/>
            <a:ext cx="3977639" cy="23317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23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Cómo funciona</a:t>
            </a:r>
            <a:endParaRPr/>
          </a:p>
        </p:txBody>
      </p:sp>
      <p:sp>
        <p:nvSpPr>
          <p:cNvPr id="1196" name="Google Shape;1196;p23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Construye árboles secuenciales con regularización explicita.</a:t>
            </a:r>
            <a:endParaRPr/>
          </a:p>
        </p:txBody>
      </p:sp>
      <p:sp>
        <p:nvSpPr>
          <p:cNvPr id="1197" name="Google Shape;1197;p23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subsample y colsample controlan sobreajuste.</a:t>
            </a:r>
            <a:endParaRPr/>
          </a:p>
        </p:txBody>
      </p:sp>
      <p:sp>
        <p:nvSpPr>
          <p:cNvPr id="1198" name="Google Shape;1198;p23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Excelente cuando se busca balance entre error y estabilidad.</a:t>
            </a:r>
            <a:endParaRPr/>
          </a:p>
        </p:txBody>
      </p:sp>
      <p:sp>
        <p:nvSpPr>
          <p:cNvPr id="1199" name="Google Shape;1199;p23"/>
          <p:cNvSpPr/>
          <p:nvPr/>
        </p:nvSpPr>
        <p:spPr>
          <a:xfrm>
            <a:off x="777240" y="4526280"/>
            <a:ext cx="3977639" cy="25146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23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Qué se probó</a:t>
            </a:r>
            <a:endParaRPr/>
          </a:p>
        </p:txBody>
      </p:sp>
      <p:sp>
        <p:nvSpPr>
          <p:cNvPr id="1201" name="Google Shape;1201;p23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P1 con 200 árboles quedo corto.</a:t>
            </a:r>
            <a:endParaRPr/>
          </a:p>
        </p:txBody>
      </p:sp>
      <p:sp>
        <p:nvSpPr>
          <p:cNvPr id="1202" name="Google Shape;1202;p23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Barrido de n_estimators mostro convergencia cerca de 1000.</a:t>
            </a:r>
            <a:endParaRPr/>
          </a:p>
        </p:txBody>
      </p:sp>
      <p:sp>
        <p:nvSpPr>
          <p:cNvPr id="1203" name="Google Shape;1203;p23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subsample=0.7 y colsample=0.7 fue el mejor balance.</a:t>
            </a:r>
            <a:endParaRPr/>
          </a:p>
        </p:txBody>
      </p:sp>
      <p:sp>
        <p:nvSpPr>
          <p:cNvPr id="1204" name="Google Shape;1204;p23"/>
          <p:cNvSpPr/>
          <p:nvPr/>
        </p:nvSpPr>
        <p:spPr>
          <a:xfrm>
            <a:off x="516636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D645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23"/>
          <p:cNvSpPr txBox="1"/>
          <p:nvPr/>
        </p:nvSpPr>
        <p:spPr>
          <a:xfrm>
            <a:off x="529437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/>
          </a:p>
        </p:txBody>
      </p:sp>
      <p:sp>
        <p:nvSpPr>
          <p:cNvPr id="1206" name="Google Shape;1206;p23"/>
          <p:cNvSpPr txBox="1"/>
          <p:nvPr/>
        </p:nvSpPr>
        <p:spPr>
          <a:xfrm>
            <a:off x="525780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66.15</a:t>
            </a:r>
            <a:endParaRPr/>
          </a:p>
        </p:txBody>
      </p:sp>
      <p:sp>
        <p:nvSpPr>
          <p:cNvPr id="1207" name="Google Shape;1207;p23"/>
          <p:cNvSpPr/>
          <p:nvPr/>
        </p:nvSpPr>
        <p:spPr>
          <a:xfrm>
            <a:off x="726948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D645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23"/>
          <p:cNvSpPr txBox="1"/>
          <p:nvPr/>
        </p:nvSpPr>
        <p:spPr>
          <a:xfrm>
            <a:off x="739749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/>
          </a:p>
        </p:txBody>
      </p:sp>
      <p:sp>
        <p:nvSpPr>
          <p:cNvPr id="1209" name="Google Shape;1209;p23"/>
          <p:cNvSpPr txBox="1"/>
          <p:nvPr/>
        </p:nvSpPr>
        <p:spPr>
          <a:xfrm>
            <a:off x="736092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47.93</a:t>
            </a:r>
            <a:endParaRPr/>
          </a:p>
        </p:txBody>
      </p:sp>
      <p:sp>
        <p:nvSpPr>
          <p:cNvPr id="1210" name="Google Shape;1210;p23"/>
          <p:cNvSpPr/>
          <p:nvPr/>
        </p:nvSpPr>
        <p:spPr>
          <a:xfrm>
            <a:off x="937260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D645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23"/>
          <p:cNvSpPr txBox="1"/>
          <p:nvPr/>
        </p:nvSpPr>
        <p:spPr>
          <a:xfrm>
            <a:off x="950061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/>
          </a:p>
        </p:txBody>
      </p:sp>
      <p:sp>
        <p:nvSpPr>
          <p:cNvPr id="1212" name="Google Shape;1212;p23"/>
          <p:cNvSpPr txBox="1"/>
          <p:nvPr/>
        </p:nvSpPr>
        <p:spPr>
          <a:xfrm>
            <a:off x="946404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0.814</a:t>
            </a:r>
            <a:endParaRPr/>
          </a:p>
        </p:txBody>
      </p:sp>
      <p:sp>
        <p:nvSpPr>
          <p:cNvPr id="1213" name="Google Shape;1213;p23"/>
          <p:cNvSpPr/>
          <p:nvPr/>
        </p:nvSpPr>
        <p:spPr>
          <a:xfrm>
            <a:off x="11475720" y="1920240"/>
            <a:ext cx="1874519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D645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23"/>
          <p:cNvSpPr txBox="1"/>
          <p:nvPr/>
        </p:nvSpPr>
        <p:spPr>
          <a:xfrm>
            <a:off x="11603736" y="20756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Pred late</a:t>
            </a:r>
            <a:endParaRPr/>
          </a:p>
        </p:txBody>
      </p:sp>
      <p:sp>
        <p:nvSpPr>
          <p:cNvPr id="1215" name="Google Shape;1215;p23"/>
          <p:cNvSpPr txBox="1"/>
          <p:nvPr/>
        </p:nvSpPr>
        <p:spPr>
          <a:xfrm>
            <a:off x="11567160" y="2450592"/>
            <a:ext cx="1673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+8.37</a:t>
            </a:r>
            <a:endParaRPr/>
          </a:p>
        </p:txBody>
      </p:sp>
      <p:sp>
        <p:nvSpPr>
          <p:cNvPr id="1216" name="Google Shape;1216;p23"/>
          <p:cNvSpPr/>
          <p:nvPr/>
        </p:nvSpPr>
        <p:spPr>
          <a:xfrm>
            <a:off x="5166360" y="3364992"/>
            <a:ext cx="8229600" cy="310896"/>
          </a:xfrm>
          <a:prstGeom prst="roundRect">
            <a:avLst>
              <a:gd fmla="val 16667" name="adj"/>
            </a:avLst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23"/>
          <p:cNvSpPr txBox="1"/>
          <p:nvPr/>
        </p:nvSpPr>
        <p:spPr>
          <a:xfrm>
            <a:off x="5349240" y="3410712"/>
            <a:ext cx="7863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Balance más robusto entre boosters</a:t>
            </a:r>
            <a:endParaRPr/>
          </a:p>
        </p:txBody>
      </p:sp>
      <p:sp>
        <p:nvSpPr>
          <p:cNvPr id="1218" name="Google Shape;1218;p23"/>
          <p:cNvSpPr/>
          <p:nvPr/>
        </p:nvSpPr>
        <p:spPr>
          <a:xfrm>
            <a:off x="5166360" y="3840480"/>
            <a:ext cx="8778240" cy="3200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23"/>
          <p:cNvSpPr txBox="1"/>
          <p:nvPr/>
        </p:nvSpPr>
        <p:spPr>
          <a:xfrm>
            <a:off x="5385816" y="4005072"/>
            <a:ext cx="833932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Análisis ejecutivo</a:t>
            </a:r>
            <a:endParaRPr/>
          </a:p>
        </p:txBody>
      </p:sp>
      <p:sp>
        <p:nvSpPr>
          <p:cNvPr id="1220" name="Google Shape;1220;p23"/>
          <p:cNvSpPr txBox="1"/>
          <p:nvPr/>
        </p:nvSpPr>
        <p:spPr>
          <a:xfrm>
            <a:off x="5458968" y="4407408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RMSE casi igual al mejor global y gap más contenido que HGB.</a:t>
            </a:r>
            <a:endParaRPr/>
          </a:p>
        </p:txBody>
      </p:sp>
      <p:sp>
        <p:nvSpPr>
          <p:cNvPr id="1221" name="Google Shape;1221;p23"/>
          <p:cNvSpPr txBox="1"/>
          <p:nvPr/>
        </p:nvSpPr>
        <p:spPr>
          <a:xfrm>
            <a:off x="5458968" y="4855464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Pred_late fuerte, aunque menor que HGB.</a:t>
            </a:r>
            <a:endParaRPr/>
          </a:p>
        </p:txBody>
      </p:sp>
      <p:sp>
        <p:nvSpPr>
          <p:cNvPr id="1222" name="Google Shape;1222;p23"/>
          <p:cNvSpPr txBox="1"/>
          <p:nvPr/>
        </p:nvSpPr>
        <p:spPr>
          <a:xfrm>
            <a:off x="5458968" y="5303520"/>
            <a:ext cx="827531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 Muy buen candidato si se privilegia estabilidad temporal y control de sobreajuste.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4"/>
          <p:cNvSpPr txBox="1"/>
          <p:nvPr/>
        </p:nvSpPr>
        <p:spPr>
          <a:xfrm>
            <a:off x="685800" y="320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COMPARACIÓN GLOBAL - REGRESIÓN</a:t>
            </a:r>
            <a:endParaRPr/>
          </a:p>
        </p:txBody>
      </p:sp>
      <p:sp>
        <p:nvSpPr>
          <p:cNvPr id="1228" name="Google Shape;1228;p24"/>
          <p:cNvSpPr txBox="1"/>
          <p:nvPr/>
        </p:nvSpPr>
        <p:spPr>
          <a:xfrm>
            <a:off x="685800" y="676656"/>
            <a:ext cx="11521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RF gana en error global; HGB/XGB ganan en severidad</a:t>
            </a:r>
            <a:endParaRPr/>
          </a:p>
        </p:txBody>
      </p:sp>
      <p:sp>
        <p:nvSpPr>
          <p:cNvPr id="1229" name="Google Shape;1229;p24"/>
          <p:cNvSpPr txBox="1"/>
          <p:nvPr/>
        </p:nvSpPr>
        <p:spPr>
          <a:xfrm>
            <a:off x="713232" y="1170432"/>
            <a:ext cx="1207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La regresión no tiene un único ganador absoluto: depende de si el negocio prioriza error promedio o capacidad de cuantificar atrasos reales.</a:t>
            </a:r>
            <a:endParaRPr/>
          </a:p>
        </p:txBody>
      </p:sp>
      <p:sp>
        <p:nvSpPr>
          <p:cNvPr id="1230" name="Google Shape;1230;p2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24"/>
          <p:cNvSpPr/>
          <p:nvPr/>
        </p:nvSpPr>
        <p:spPr>
          <a:xfrm>
            <a:off x="777240" y="1993392"/>
            <a:ext cx="781812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24"/>
          <p:cNvSpPr txBox="1"/>
          <p:nvPr/>
        </p:nvSpPr>
        <p:spPr>
          <a:xfrm>
            <a:off x="1005840" y="2157984"/>
            <a:ext cx="7360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Ranking de modelos finales</a:t>
            </a:r>
            <a:endParaRPr/>
          </a:p>
        </p:txBody>
      </p:sp>
      <p:sp>
        <p:nvSpPr>
          <p:cNvPr id="1233" name="Google Shape;1233;p24"/>
          <p:cNvSpPr txBox="1"/>
          <p:nvPr/>
        </p:nvSpPr>
        <p:spPr>
          <a:xfrm>
            <a:off x="1005840" y="265176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endParaRPr/>
          </a:p>
        </p:txBody>
      </p:sp>
      <p:sp>
        <p:nvSpPr>
          <p:cNvPr id="1234" name="Google Shape;1234;p24"/>
          <p:cNvSpPr txBox="1"/>
          <p:nvPr/>
        </p:nvSpPr>
        <p:spPr>
          <a:xfrm>
            <a:off x="3108960" y="265176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sz="1700"/>
          </a:p>
        </p:txBody>
      </p:sp>
      <p:sp>
        <p:nvSpPr>
          <p:cNvPr id="1235" name="Google Shape;1235;p24"/>
          <p:cNvSpPr txBox="1"/>
          <p:nvPr/>
        </p:nvSpPr>
        <p:spPr>
          <a:xfrm>
            <a:off x="4114800" y="2651760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 sz="1700"/>
          </a:p>
        </p:txBody>
      </p:sp>
      <p:sp>
        <p:nvSpPr>
          <p:cNvPr id="1236" name="Google Shape;1236;p24"/>
          <p:cNvSpPr txBox="1"/>
          <p:nvPr/>
        </p:nvSpPr>
        <p:spPr>
          <a:xfrm>
            <a:off x="4937759" y="26517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Pred late</a:t>
            </a:r>
            <a:endParaRPr sz="1700"/>
          </a:p>
        </p:txBody>
      </p:sp>
      <p:sp>
        <p:nvSpPr>
          <p:cNvPr id="1237" name="Google Shape;1237;p24"/>
          <p:cNvSpPr txBox="1"/>
          <p:nvPr/>
        </p:nvSpPr>
        <p:spPr>
          <a:xfrm>
            <a:off x="6217920" y="265176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Lectura</a:t>
            </a:r>
            <a:endParaRPr sz="1300"/>
          </a:p>
        </p:txBody>
      </p:sp>
      <p:sp>
        <p:nvSpPr>
          <p:cNvPr id="1238" name="Google Shape;1238;p24"/>
          <p:cNvSpPr/>
          <p:nvPr/>
        </p:nvSpPr>
        <p:spPr>
          <a:xfrm>
            <a:off x="886968" y="2962656"/>
            <a:ext cx="7598664" cy="484632"/>
          </a:xfrm>
          <a:prstGeom prst="roundRect">
            <a:avLst>
              <a:gd fmla="val 16667" name="adj"/>
            </a:avLst>
          </a:prstGeom>
          <a:solidFill>
            <a:srgbClr val="ECF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24"/>
          <p:cNvSpPr txBox="1"/>
          <p:nvPr/>
        </p:nvSpPr>
        <p:spPr>
          <a:xfrm>
            <a:off x="1005840" y="304495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RF Final</a:t>
            </a:r>
            <a:endParaRPr/>
          </a:p>
        </p:txBody>
      </p:sp>
      <p:sp>
        <p:nvSpPr>
          <p:cNvPr id="1240" name="Google Shape;1240;p24"/>
          <p:cNvSpPr txBox="1"/>
          <p:nvPr/>
        </p:nvSpPr>
        <p:spPr>
          <a:xfrm>
            <a:off x="3108960" y="3044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65.16</a:t>
            </a:r>
            <a:endParaRPr sz="1700"/>
          </a:p>
        </p:txBody>
      </p:sp>
      <p:sp>
        <p:nvSpPr>
          <p:cNvPr id="1241" name="Google Shape;1241;p24"/>
          <p:cNvSpPr txBox="1"/>
          <p:nvPr/>
        </p:nvSpPr>
        <p:spPr>
          <a:xfrm>
            <a:off x="4114800" y="3044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0.819</a:t>
            </a:r>
            <a:endParaRPr sz="1700"/>
          </a:p>
        </p:txBody>
      </p:sp>
      <p:sp>
        <p:nvSpPr>
          <p:cNvPr id="1242" name="Google Shape;1242;p24"/>
          <p:cNvSpPr txBox="1"/>
          <p:nvPr/>
        </p:nvSpPr>
        <p:spPr>
          <a:xfrm>
            <a:off x="4937759" y="304495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+5.06</a:t>
            </a:r>
            <a:endParaRPr sz="1700"/>
          </a:p>
        </p:txBody>
      </p:sp>
      <p:sp>
        <p:nvSpPr>
          <p:cNvPr id="1243" name="Google Shape;1243;p24"/>
          <p:cNvSpPr txBox="1"/>
          <p:nvPr/>
        </p:nvSpPr>
        <p:spPr>
          <a:xfrm>
            <a:off x="6217920" y="304495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Menor error global</a:t>
            </a:r>
            <a:endParaRPr/>
          </a:p>
        </p:txBody>
      </p:sp>
      <p:sp>
        <p:nvSpPr>
          <p:cNvPr id="1244" name="Google Shape;1244;p24"/>
          <p:cNvSpPr/>
          <p:nvPr/>
        </p:nvSpPr>
        <p:spPr>
          <a:xfrm>
            <a:off x="886968" y="3447288"/>
            <a:ext cx="7598664" cy="484632"/>
          </a:xfrm>
          <a:prstGeom prst="roundRect">
            <a:avLst>
              <a:gd fmla="val 16667" name="adj"/>
            </a:avLst>
          </a:prstGeom>
          <a:solidFill>
            <a:srgbClr val="FCF1F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24"/>
          <p:cNvSpPr txBox="1"/>
          <p:nvPr/>
        </p:nvSpPr>
        <p:spPr>
          <a:xfrm>
            <a:off x="1005840" y="3529584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XGB Final</a:t>
            </a:r>
            <a:endParaRPr/>
          </a:p>
        </p:txBody>
      </p:sp>
      <p:sp>
        <p:nvSpPr>
          <p:cNvPr id="1246" name="Google Shape;1246;p24"/>
          <p:cNvSpPr txBox="1"/>
          <p:nvPr/>
        </p:nvSpPr>
        <p:spPr>
          <a:xfrm>
            <a:off x="3108960" y="352958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66.15</a:t>
            </a:r>
            <a:endParaRPr sz="1700"/>
          </a:p>
        </p:txBody>
      </p:sp>
      <p:sp>
        <p:nvSpPr>
          <p:cNvPr id="1247" name="Google Shape;1247;p24"/>
          <p:cNvSpPr txBox="1"/>
          <p:nvPr/>
        </p:nvSpPr>
        <p:spPr>
          <a:xfrm>
            <a:off x="4114800" y="3529584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0.814</a:t>
            </a:r>
            <a:endParaRPr sz="1700"/>
          </a:p>
        </p:txBody>
      </p:sp>
      <p:sp>
        <p:nvSpPr>
          <p:cNvPr id="1248" name="Google Shape;1248;p24"/>
          <p:cNvSpPr txBox="1"/>
          <p:nvPr/>
        </p:nvSpPr>
        <p:spPr>
          <a:xfrm>
            <a:off x="4937759" y="352958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+8.37</a:t>
            </a:r>
            <a:endParaRPr sz="1700"/>
          </a:p>
        </p:txBody>
      </p:sp>
      <p:sp>
        <p:nvSpPr>
          <p:cNvPr id="1249" name="Google Shape;1249;p24"/>
          <p:cNvSpPr txBox="1"/>
          <p:nvPr/>
        </p:nvSpPr>
        <p:spPr>
          <a:xfrm>
            <a:off x="6217920" y="352958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Mejor balance</a:t>
            </a:r>
            <a:endParaRPr/>
          </a:p>
        </p:txBody>
      </p:sp>
      <p:sp>
        <p:nvSpPr>
          <p:cNvPr id="1250" name="Google Shape;1250;p24"/>
          <p:cNvSpPr/>
          <p:nvPr/>
        </p:nvSpPr>
        <p:spPr>
          <a:xfrm>
            <a:off x="886968" y="3931920"/>
            <a:ext cx="7598664" cy="484632"/>
          </a:xfrm>
          <a:prstGeom prst="roundRect">
            <a:avLst>
              <a:gd fmla="val 16667" name="adj"/>
            </a:avLst>
          </a:prstGeom>
          <a:solidFill>
            <a:srgbClr val="F5F1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24"/>
          <p:cNvSpPr txBox="1"/>
          <p:nvPr/>
        </p:nvSpPr>
        <p:spPr>
          <a:xfrm>
            <a:off x="1005840" y="401421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F42C1"/>
                </a:solidFill>
                <a:latin typeface="Calibri"/>
                <a:ea typeface="Calibri"/>
                <a:cs typeface="Calibri"/>
                <a:sym typeface="Calibri"/>
              </a:rPr>
              <a:t>HGB Final</a:t>
            </a:r>
            <a:endParaRPr/>
          </a:p>
        </p:txBody>
      </p:sp>
      <p:sp>
        <p:nvSpPr>
          <p:cNvPr id="1252" name="Google Shape;1252;p24"/>
          <p:cNvSpPr txBox="1"/>
          <p:nvPr/>
        </p:nvSpPr>
        <p:spPr>
          <a:xfrm>
            <a:off x="3108960" y="401421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0" u="none" cap="none" strike="noStrike">
                <a:solidFill>
                  <a:srgbClr val="6F42C1"/>
                </a:solidFill>
                <a:latin typeface="Calibri"/>
                <a:ea typeface="Calibri"/>
                <a:cs typeface="Calibri"/>
                <a:sym typeface="Calibri"/>
              </a:rPr>
              <a:t>66.31</a:t>
            </a:r>
            <a:endParaRPr sz="1700"/>
          </a:p>
        </p:txBody>
      </p:sp>
      <p:sp>
        <p:nvSpPr>
          <p:cNvPr id="1253" name="Google Shape;1253;p24"/>
          <p:cNvSpPr txBox="1"/>
          <p:nvPr/>
        </p:nvSpPr>
        <p:spPr>
          <a:xfrm>
            <a:off x="4114800" y="4014216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0" u="none" cap="none" strike="noStrike">
                <a:solidFill>
                  <a:srgbClr val="6F42C1"/>
                </a:solidFill>
                <a:latin typeface="Calibri"/>
                <a:ea typeface="Calibri"/>
                <a:cs typeface="Calibri"/>
                <a:sym typeface="Calibri"/>
              </a:rPr>
              <a:t>0.813</a:t>
            </a:r>
            <a:endParaRPr sz="1700"/>
          </a:p>
        </p:txBody>
      </p:sp>
      <p:sp>
        <p:nvSpPr>
          <p:cNvPr id="1254" name="Google Shape;1254;p24"/>
          <p:cNvSpPr txBox="1"/>
          <p:nvPr/>
        </p:nvSpPr>
        <p:spPr>
          <a:xfrm>
            <a:off x="4937759" y="401421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0" u="none" cap="none" strike="noStrike">
                <a:solidFill>
                  <a:srgbClr val="6F42C1"/>
                </a:solidFill>
                <a:latin typeface="Calibri"/>
                <a:ea typeface="Calibri"/>
                <a:cs typeface="Calibri"/>
                <a:sym typeface="Calibri"/>
              </a:rPr>
              <a:t>+9.46</a:t>
            </a:r>
            <a:endParaRPr sz="1700"/>
          </a:p>
        </p:txBody>
      </p:sp>
      <p:sp>
        <p:nvSpPr>
          <p:cNvPr id="1255" name="Google Shape;1255;p24"/>
          <p:cNvSpPr txBox="1"/>
          <p:nvPr/>
        </p:nvSpPr>
        <p:spPr>
          <a:xfrm>
            <a:off x="6217920" y="4014216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F42C1"/>
                </a:solidFill>
                <a:latin typeface="Calibri"/>
                <a:ea typeface="Calibri"/>
                <a:cs typeface="Calibri"/>
                <a:sym typeface="Calibri"/>
              </a:rPr>
              <a:t>Mejor cola</a:t>
            </a:r>
            <a:endParaRPr/>
          </a:p>
        </p:txBody>
      </p:sp>
      <p:sp>
        <p:nvSpPr>
          <p:cNvPr id="1256" name="Google Shape;1256;p24"/>
          <p:cNvSpPr txBox="1"/>
          <p:nvPr/>
        </p:nvSpPr>
        <p:spPr>
          <a:xfrm>
            <a:off x="1005840" y="44988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GB Final</a:t>
            </a:r>
            <a:endParaRPr/>
          </a:p>
        </p:txBody>
      </p:sp>
      <p:sp>
        <p:nvSpPr>
          <p:cNvPr id="1257" name="Google Shape;1257;p24"/>
          <p:cNvSpPr txBox="1"/>
          <p:nvPr/>
        </p:nvSpPr>
        <p:spPr>
          <a:xfrm>
            <a:off x="3108960" y="44988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67.22</a:t>
            </a:r>
            <a:endParaRPr sz="1700"/>
          </a:p>
        </p:txBody>
      </p:sp>
      <p:sp>
        <p:nvSpPr>
          <p:cNvPr id="1258" name="Google Shape;1258;p24"/>
          <p:cNvSpPr txBox="1"/>
          <p:nvPr/>
        </p:nvSpPr>
        <p:spPr>
          <a:xfrm>
            <a:off x="4114800" y="449884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0.808</a:t>
            </a:r>
            <a:endParaRPr sz="1700"/>
          </a:p>
        </p:txBody>
      </p:sp>
      <p:sp>
        <p:nvSpPr>
          <p:cNvPr id="1259" name="Google Shape;1259;p24"/>
          <p:cNvSpPr txBox="1"/>
          <p:nvPr/>
        </p:nvSpPr>
        <p:spPr>
          <a:xfrm>
            <a:off x="4937759" y="44988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+1.61</a:t>
            </a:r>
            <a:endParaRPr sz="1700"/>
          </a:p>
        </p:txBody>
      </p:sp>
      <p:sp>
        <p:nvSpPr>
          <p:cNvPr id="1260" name="Google Shape;1260;p24"/>
          <p:cNvSpPr txBox="1"/>
          <p:nvPr/>
        </p:nvSpPr>
        <p:spPr>
          <a:xfrm>
            <a:off x="6217920" y="4498848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Cola débil</a:t>
            </a:r>
            <a:endParaRPr/>
          </a:p>
        </p:txBody>
      </p:sp>
      <p:sp>
        <p:nvSpPr>
          <p:cNvPr id="1261" name="Google Shape;1261;p24"/>
          <p:cNvSpPr txBox="1"/>
          <p:nvPr/>
        </p:nvSpPr>
        <p:spPr>
          <a:xfrm>
            <a:off x="1005840" y="49834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DT Final</a:t>
            </a:r>
            <a:endParaRPr/>
          </a:p>
        </p:txBody>
      </p:sp>
      <p:sp>
        <p:nvSpPr>
          <p:cNvPr id="1262" name="Google Shape;1262;p24"/>
          <p:cNvSpPr txBox="1"/>
          <p:nvPr/>
        </p:nvSpPr>
        <p:spPr>
          <a:xfrm>
            <a:off x="3108960" y="49834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78.16</a:t>
            </a:r>
            <a:endParaRPr sz="1700"/>
          </a:p>
        </p:txBody>
      </p:sp>
      <p:sp>
        <p:nvSpPr>
          <p:cNvPr id="1263" name="Google Shape;1263;p24"/>
          <p:cNvSpPr txBox="1"/>
          <p:nvPr/>
        </p:nvSpPr>
        <p:spPr>
          <a:xfrm>
            <a:off x="4114800" y="49834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0.740</a:t>
            </a:r>
            <a:endParaRPr sz="1700"/>
          </a:p>
        </p:txBody>
      </p:sp>
      <p:sp>
        <p:nvSpPr>
          <p:cNvPr id="1264" name="Google Shape;1264;p24"/>
          <p:cNvSpPr txBox="1"/>
          <p:nvPr/>
        </p:nvSpPr>
        <p:spPr>
          <a:xfrm>
            <a:off x="4937759" y="49834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-12.39</a:t>
            </a:r>
            <a:endParaRPr sz="1700"/>
          </a:p>
        </p:txBody>
      </p:sp>
      <p:sp>
        <p:nvSpPr>
          <p:cNvPr id="1265" name="Google Shape;1265;p24"/>
          <p:cNvSpPr txBox="1"/>
          <p:nvPr/>
        </p:nvSpPr>
        <p:spPr>
          <a:xfrm>
            <a:off x="6217920" y="498348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No recomendable</a:t>
            </a:r>
            <a:endParaRPr/>
          </a:p>
        </p:txBody>
      </p:sp>
      <p:sp>
        <p:nvSpPr>
          <p:cNvPr id="1266" name="Google Shape;1266;p24"/>
          <p:cNvSpPr txBox="1"/>
          <p:nvPr/>
        </p:nvSpPr>
        <p:spPr>
          <a:xfrm>
            <a:off x="1005840" y="546811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Lasso</a:t>
            </a:r>
            <a:endParaRPr sz="1500"/>
          </a:p>
        </p:txBody>
      </p:sp>
      <p:sp>
        <p:nvSpPr>
          <p:cNvPr id="1267" name="Google Shape;1267;p24"/>
          <p:cNvSpPr txBox="1"/>
          <p:nvPr/>
        </p:nvSpPr>
        <p:spPr>
          <a:xfrm>
            <a:off x="3108960" y="54681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80.29</a:t>
            </a:r>
            <a:endParaRPr sz="1700"/>
          </a:p>
        </p:txBody>
      </p:sp>
      <p:sp>
        <p:nvSpPr>
          <p:cNvPr id="1268" name="Google Shape;1268;p24"/>
          <p:cNvSpPr txBox="1"/>
          <p:nvPr/>
        </p:nvSpPr>
        <p:spPr>
          <a:xfrm>
            <a:off x="4114800" y="546811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0.726</a:t>
            </a:r>
            <a:endParaRPr sz="1700"/>
          </a:p>
        </p:txBody>
      </p:sp>
      <p:sp>
        <p:nvSpPr>
          <p:cNvPr id="1269" name="Google Shape;1269;p24"/>
          <p:cNvSpPr txBox="1"/>
          <p:nvPr/>
        </p:nvSpPr>
        <p:spPr>
          <a:xfrm>
            <a:off x="4937759" y="546811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neg.</a:t>
            </a:r>
            <a:endParaRPr sz="1700"/>
          </a:p>
        </p:txBody>
      </p:sp>
      <p:sp>
        <p:nvSpPr>
          <p:cNvPr id="1270" name="Google Shape;1270;p24"/>
          <p:cNvSpPr txBox="1"/>
          <p:nvPr/>
        </p:nvSpPr>
        <p:spPr>
          <a:xfrm>
            <a:off x="6217920" y="546811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Baseline lineal</a:t>
            </a:r>
            <a:endParaRPr/>
          </a:p>
        </p:txBody>
      </p:sp>
      <p:sp>
        <p:nvSpPr>
          <p:cNvPr id="1271" name="Google Shape;1271;p24"/>
          <p:cNvSpPr/>
          <p:nvPr/>
        </p:nvSpPr>
        <p:spPr>
          <a:xfrm>
            <a:off x="8915400" y="1993392"/>
            <a:ext cx="4892040" cy="13258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24"/>
          <p:cNvSpPr txBox="1"/>
          <p:nvPr/>
        </p:nvSpPr>
        <p:spPr>
          <a:xfrm>
            <a:off x="9144000" y="2157984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Si se prioriza error promedio</a:t>
            </a:r>
            <a:endParaRPr/>
          </a:p>
        </p:txBody>
      </p:sp>
      <p:sp>
        <p:nvSpPr>
          <p:cNvPr id="1273" name="Google Shape;1273;p24"/>
          <p:cNvSpPr txBox="1"/>
          <p:nvPr/>
        </p:nvSpPr>
        <p:spPr>
          <a:xfrm>
            <a:off x="9144000" y="2560320"/>
            <a:ext cx="4434840" cy="61264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Elegir RF: menor RMSE y MAE global, con configuración relativamente simple.</a:t>
            </a:r>
            <a:endParaRPr/>
          </a:p>
        </p:txBody>
      </p:sp>
      <p:sp>
        <p:nvSpPr>
          <p:cNvPr id="1274" name="Google Shape;1274;p24"/>
          <p:cNvSpPr/>
          <p:nvPr/>
        </p:nvSpPr>
        <p:spPr>
          <a:xfrm>
            <a:off x="8915400" y="3502152"/>
            <a:ext cx="4892040" cy="13258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6F42C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24"/>
          <p:cNvSpPr txBox="1"/>
          <p:nvPr/>
        </p:nvSpPr>
        <p:spPr>
          <a:xfrm>
            <a:off x="9144000" y="3666744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F42C1"/>
                </a:solidFill>
                <a:latin typeface="Calibri"/>
                <a:ea typeface="Calibri"/>
                <a:cs typeface="Calibri"/>
                <a:sym typeface="Calibri"/>
              </a:rPr>
              <a:t>Si se prioriza severidad</a:t>
            </a:r>
            <a:endParaRPr/>
          </a:p>
        </p:txBody>
      </p:sp>
      <p:sp>
        <p:nvSpPr>
          <p:cNvPr id="1276" name="Google Shape;1276;p24"/>
          <p:cNvSpPr txBox="1"/>
          <p:nvPr/>
        </p:nvSpPr>
        <p:spPr>
          <a:xfrm>
            <a:off x="9144000" y="4069080"/>
            <a:ext cx="4434840" cy="61264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Elegir HGB: mejor pred_late, cuantifica mejor los atrasos reales.</a:t>
            </a:r>
            <a:endParaRPr/>
          </a:p>
        </p:txBody>
      </p:sp>
      <p:sp>
        <p:nvSpPr>
          <p:cNvPr id="1277" name="Google Shape;1277;p24"/>
          <p:cNvSpPr/>
          <p:nvPr/>
        </p:nvSpPr>
        <p:spPr>
          <a:xfrm>
            <a:off x="8915400" y="5010912"/>
            <a:ext cx="4892040" cy="13258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D645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24"/>
          <p:cNvSpPr txBox="1"/>
          <p:nvPr/>
        </p:nvSpPr>
        <p:spPr>
          <a:xfrm>
            <a:off x="9144000" y="5175504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Si se prioriza estabilidad</a:t>
            </a:r>
            <a:endParaRPr/>
          </a:p>
        </p:txBody>
      </p:sp>
      <p:sp>
        <p:nvSpPr>
          <p:cNvPr id="1279" name="Google Shape;1279;p24"/>
          <p:cNvSpPr txBox="1"/>
          <p:nvPr/>
        </p:nvSpPr>
        <p:spPr>
          <a:xfrm>
            <a:off x="9144000" y="5577840"/>
            <a:ext cx="4434840" cy="61264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Elegir XGB: pred_late fuerte con gap más controlado que HGB.</a:t>
            </a:r>
            <a:endParaRPr/>
          </a:p>
        </p:txBody>
      </p:sp>
      <p:sp>
        <p:nvSpPr>
          <p:cNvPr id="1280" name="Google Shape;1280;p24"/>
          <p:cNvSpPr/>
          <p:nvPr/>
        </p:nvSpPr>
        <p:spPr>
          <a:xfrm>
            <a:off x="777240" y="6565392"/>
            <a:ext cx="13030200" cy="594360"/>
          </a:xfrm>
          <a:prstGeom prst="roundRect">
            <a:avLst>
              <a:gd fmla="val 16667" name="adj"/>
            </a:avLst>
          </a:prstGeom>
          <a:solidFill>
            <a:srgbClr val="142B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24"/>
          <p:cNvSpPr txBox="1"/>
          <p:nvPr/>
        </p:nvSpPr>
        <p:spPr>
          <a:xfrm>
            <a:off x="1005840" y="6702552"/>
            <a:ext cx="1252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Recomendación: usar RF como referencia global y HGB/XGB como modelos de severidad para priorizar casos atrasados.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25"/>
          <p:cNvSpPr txBox="1"/>
          <p:nvPr/>
        </p:nvSpPr>
        <p:spPr>
          <a:xfrm>
            <a:off x="685800" y="3200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VALIDACIÓN TEMPORAL</a:t>
            </a:r>
            <a:endParaRPr/>
          </a:p>
        </p:txBody>
      </p:sp>
      <p:sp>
        <p:nvSpPr>
          <p:cNvPr id="1287" name="Google Shape;1287;p25"/>
          <p:cNvSpPr txBox="1"/>
          <p:nvPr/>
        </p:nvSpPr>
        <p:spPr>
          <a:xfrm>
            <a:off x="685800" y="676656"/>
            <a:ext cx="11704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Los modelos se validan respetando el tiempo</a:t>
            </a:r>
            <a:endParaRPr/>
          </a:p>
        </p:txBody>
      </p:sp>
      <p:sp>
        <p:nvSpPr>
          <p:cNvPr id="1288" name="Google Shape;1288;p25"/>
          <p:cNvSpPr txBox="1"/>
          <p:nvPr/>
        </p:nvSpPr>
        <p:spPr>
          <a:xfrm>
            <a:off x="713232" y="1170432"/>
            <a:ext cx="1216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TimeSeriesSplit responde si el resultado es estable en distintas ventanas temporales, sin entrenar con información futura.</a:t>
            </a:r>
            <a:endParaRPr/>
          </a:p>
        </p:txBody>
      </p:sp>
      <p:sp>
        <p:nvSpPr>
          <p:cNvPr id="1289" name="Google Shape;1289;p25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25"/>
          <p:cNvSpPr/>
          <p:nvPr/>
        </p:nvSpPr>
        <p:spPr>
          <a:xfrm>
            <a:off x="868680" y="2057400"/>
            <a:ext cx="2331720" cy="1097280"/>
          </a:xfrm>
          <a:prstGeom prst="roundRect">
            <a:avLst>
              <a:gd fmla="val 16667" name="adj"/>
            </a:avLst>
          </a:prstGeom>
          <a:solidFill>
            <a:srgbClr val="2463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25"/>
          <p:cNvSpPr txBox="1"/>
          <p:nvPr/>
        </p:nvSpPr>
        <p:spPr>
          <a:xfrm>
            <a:off x="1033271" y="22128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92" name="Google Shape;1292;p25"/>
          <p:cNvSpPr txBox="1"/>
          <p:nvPr/>
        </p:nvSpPr>
        <p:spPr>
          <a:xfrm>
            <a:off x="1527048" y="2157984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inicial</a:t>
            </a:r>
            <a:br>
              <a:rPr b="1" i="0" lang="en-US" sz="1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semanas pasadas</a:t>
            </a:r>
            <a:endParaRPr sz="1900"/>
          </a:p>
        </p:txBody>
      </p:sp>
      <p:sp>
        <p:nvSpPr>
          <p:cNvPr id="1293" name="Google Shape;1293;p25"/>
          <p:cNvSpPr txBox="1"/>
          <p:nvPr/>
        </p:nvSpPr>
        <p:spPr>
          <a:xfrm>
            <a:off x="3291839" y="239572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/>
          </a:p>
        </p:txBody>
      </p:sp>
      <p:sp>
        <p:nvSpPr>
          <p:cNvPr id="1294" name="Google Shape;1294;p25"/>
          <p:cNvSpPr/>
          <p:nvPr/>
        </p:nvSpPr>
        <p:spPr>
          <a:xfrm>
            <a:off x="3749039" y="2057400"/>
            <a:ext cx="2331720" cy="1097280"/>
          </a:xfrm>
          <a:prstGeom prst="roundRect">
            <a:avLst>
              <a:gd fmla="val 16667" name="adj"/>
            </a:avLst>
          </a:prstGeom>
          <a:solidFill>
            <a:srgbClr val="28A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25"/>
          <p:cNvSpPr txBox="1"/>
          <p:nvPr/>
        </p:nvSpPr>
        <p:spPr>
          <a:xfrm>
            <a:off x="3913631" y="22128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96" name="Google Shape;1296;p25"/>
          <p:cNvSpPr txBox="1"/>
          <p:nvPr/>
        </p:nvSpPr>
        <p:spPr>
          <a:xfrm>
            <a:off x="4407407" y="2157984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Validación</a:t>
            </a:r>
            <a:br>
              <a:rPr b="1" i="0" lang="en-US" sz="1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futuro inmediato</a:t>
            </a:r>
            <a:endParaRPr sz="1900"/>
          </a:p>
        </p:txBody>
      </p:sp>
      <p:sp>
        <p:nvSpPr>
          <p:cNvPr id="1297" name="Google Shape;1297;p25"/>
          <p:cNvSpPr txBox="1"/>
          <p:nvPr/>
        </p:nvSpPr>
        <p:spPr>
          <a:xfrm>
            <a:off x="6172200" y="239572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/>
          </a:p>
        </p:txBody>
      </p:sp>
      <p:sp>
        <p:nvSpPr>
          <p:cNvPr id="1298" name="Google Shape;1298;p25"/>
          <p:cNvSpPr/>
          <p:nvPr/>
        </p:nvSpPr>
        <p:spPr>
          <a:xfrm>
            <a:off x="6629400" y="2057400"/>
            <a:ext cx="2331720" cy="1097280"/>
          </a:xfrm>
          <a:prstGeom prst="roundRect">
            <a:avLst>
              <a:gd fmla="val 16667" name="adj"/>
            </a:avLst>
          </a:prstGeom>
          <a:solidFill>
            <a:srgbClr val="F299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25"/>
          <p:cNvSpPr txBox="1"/>
          <p:nvPr/>
        </p:nvSpPr>
        <p:spPr>
          <a:xfrm>
            <a:off x="6793992" y="22128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00" name="Google Shape;1300;p25"/>
          <p:cNvSpPr txBox="1"/>
          <p:nvPr/>
        </p:nvSpPr>
        <p:spPr>
          <a:xfrm>
            <a:off x="7287768" y="2157984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Ventana crece</a:t>
            </a:r>
            <a:br>
              <a:rPr b="1" i="0" lang="en-US" sz="1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se repite</a:t>
            </a:r>
            <a:endParaRPr sz="1900"/>
          </a:p>
        </p:txBody>
      </p:sp>
      <p:sp>
        <p:nvSpPr>
          <p:cNvPr id="1301" name="Google Shape;1301;p25"/>
          <p:cNvSpPr txBox="1"/>
          <p:nvPr/>
        </p:nvSpPr>
        <p:spPr>
          <a:xfrm>
            <a:off x="9052560" y="239572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/>
          </a:p>
        </p:txBody>
      </p:sp>
      <p:sp>
        <p:nvSpPr>
          <p:cNvPr id="1302" name="Google Shape;1302;p25"/>
          <p:cNvSpPr/>
          <p:nvPr/>
        </p:nvSpPr>
        <p:spPr>
          <a:xfrm>
            <a:off x="9509760" y="2057400"/>
            <a:ext cx="2331720" cy="1097280"/>
          </a:xfrm>
          <a:prstGeom prst="roundRect">
            <a:avLst>
              <a:gd fmla="val 16667" name="adj"/>
            </a:avLst>
          </a:prstGeom>
          <a:solidFill>
            <a:srgbClr val="D645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25"/>
          <p:cNvSpPr txBox="1"/>
          <p:nvPr/>
        </p:nvSpPr>
        <p:spPr>
          <a:xfrm>
            <a:off x="9674352" y="22128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04" name="Google Shape;1304;p25"/>
          <p:cNvSpPr txBox="1"/>
          <p:nvPr/>
        </p:nvSpPr>
        <p:spPr>
          <a:xfrm>
            <a:off x="10168128" y="2157984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final</a:t>
            </a:r>
            <a:br>
              <a:rPr b="1" i="0" lang="en-US" sz="1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queda intacto</a:t>
            </a:r>
            <a:endParaRPr sz="1900"/>
          </a:p>
        </p:txBody>
      </p:sp>
      <p:sp>
        <p:nvSpPr>
          <p:cNvPr id="1305" name="Google Shape;1305;p25"/>
          <p:cNvSpPr/>
          <p:nvPr/>
        </p:nvSpPr>
        <p:spPr>
          <a:xfrm>
            <a:off x="868680" y="3611880"/>
            <a:ext cx="3977639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45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25"/>
          <p:cNvSpPr txBox="1"/>
          <p:nvPr/>
        </p:nvSpPr>
        <p:spPr>
          <a:xfrm>
            <a:off x="1097280" y="3776472"/>
            <a:ext cx="352043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Por qué no KFold clásico</a:t>
            </a:r>
            <a:endParaRPr/>
          </a:p>
        </p:txBody>
      </p:sp>
      <p:sp>
        <p:nvSpPr>
          <p:cNvPr id="1307" name="Google Shape;1307;p25"/>
          <p:cNvSpPr txBox="1"/>
          <p:nvPr/>
        </p:nvSpPr>
        <p:spPr>
          <a:xfrm>
            <a:off x="1097280" y="4178808"/>
            <a:ext cx="3520439" cy="116128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KFold mezcla semanas al azar. En este problema eso permitiría entrenar con semanas futuras para predecir semanas pasadas: fuga temporal.</a:t>
            </a:r>
            <a:endParaRPr/>
          </a:p>
        </p:txBody>
      </p:sp>
      <p:sp>
        <p:nvSpPr>
          <p:cNvPr id="1308" name="Google Shape;1308;p25"/>
          <p:cNvSpPr/>
          <p:nvPr/>
        </p:nvSpPr>
        <p:spPr>
          <a:xfrm>
            <a:off x="5166360" y="3611880"/>
            <a:ext cx="3977639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25"/>
          <p:cNvSpPr txBox="1"/>
          <p:nvPr/>
        </p:nvSpPr>
        <p:spPr>
          <a:xfrm>
            <a:off x="5394960" y="3776472"/>
            <a:ext cx="352043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Clasificación confirmada</a:t>
            </a:r>
            <a:endParaRPr/>
          </a:p>
        </p:txBody>
      </p:sp>
      <p:sp>
        <p:nvSpPr>
          <p:cNvPr id="1310" name="Google Shape;1310;p25"/>
          <p:cNvSpPr txBox="1"/>
          <p:nvPr/>
        </p:nvSpPr>
        <p:spPr>
          <a:xfrm>
            <a:off x="5394960" y="4178808"/>
            <a:ext cx="3520439" cy="116128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Random Forest gana en los 5 folds. F1 medio = 0.603 +/- 0.021 frente a XGB = 0.548 +/- 0.028.</a:t>
            </a:r>
            <a:endParaRPr/>
          </a:p>
        </p:txBody>
      </p:sp>
      <p:sp>
        <p:nvSpPr>
          <p:cNvPr id="1311" name="Google Shape;1311;p25"/>
          <p:cNvSpPr/>
          <p:nvPr/>
        </p:nvSpPr>
        <p:spPr>
          <a:xfrm>
            <a:off x="9464040" y="3611880"/>
            <a:ext cx="3977639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25"/>
          <p:cNvSpPr txBox="1"/>
          <p:nvPr/>
        </p:nvSpPr>
        <p:spPr>
          <a:xfrm>
            <a:off x="9692640" y="3776472"/>
            <a:ext cx="352043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Regresión matizada</a:t>
            </a:r>
            <a:endParaRPr/>
          </a:p>
        </p:txBody>
      </p:sp>
      <p:sp>
        <p:nvSpPr>
          <p:cNvPr id="1313" name="Google Shape;1313;p25"/>
          <p:cNvSpPr txBox="1"/>
          <p:nvPr/>
        </p:nvSpPr>
        <p:spPr>
          <a:xfrm>
            <a:off x="9692640" y="4178808"/>
            <a:ext cx="3520439" cy="116128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RF y XGB empatan: RMSE medio ~70 min y R2 ~0.80. XGB queda apenas más estable.</a:t>
            </a:r>
            <a:endParaRPr/>
          </a:p>
        </p:txBody>
      </p:sp>
      <p:sp>
        <p:nvSpPr>
          <p:cNvPr id="1314" name="Google Shape;1314;p25"/>
          <p:cNvSpPr/>
          <p:nvPr/>
        </p:nvSpPr>
        <p:spPr>
          <a:xfrm>
            <a:off x="868680" y="6080760"/>
            <a:ext cx="12573000" cy="749808"/>
          </a:xfrm>
          <a:prstGeom prst="roundRect">
            <a:avLst>
              <a:gd fmla="val 16667" name="adj"/>
            </a:avLst>
          </a:prstGeom>
          <a:solidFill>
            <a:srgbClr val="142B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25"/>
          <p:cNvSpPr txBox="1"/>
          <p:nvPr/>
        </p:nvSpPr>
        <p:spPr>
          <a:xfrm>
            <a:off x="1051560" y="6254496"/>
            <a:ext cx="12207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Conclusión: la selección de RF en clasificación es robusta; en regresión la elección puede depender de simplicidad, severidad o estabilidad.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26"/>
          <p:cNvSpPr txBox="1"/>
          <p:nvPr/>
        </p:nvSpPr>
        <p:spPr>
          <a:xfrm>
            <a:off x="685800" y="3200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MODELOS NO SUPERVISADOS</a:t>
            </a:r>
            <a:endParaRPr/>
          </a:p>
        </p:txBody>
      </p:sp>
      <p:sp>
        <p:nvSpPr>
          <p:cNvPr id="1321" name="Google Shape;1321;p26"/>
          <p:cNvSpPr txBox="1"/>
          <p:nvPr/>
        </p:nvSpPr>
        <p:spPr>
          <a:xfrm>
            <a:off x="685800" y="676656"/>
            <a:ext cx="11704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Segmentación operativa: entender perfiles de entrega</a:t>
            </a:r>
            <a:endParaRPr/>
          </a:p>
        </p:txBody>
      </p:sp>
      <p:sp>
        <p:nvSpPr>
          <p:cNvPr id="1322" name="Google Shape;1322;p26"/>
          <p:cNvSpPr txBox="1"/>
          <p:nvPr/>
        </p:nvSpPr>
        <p:spPr>
          <a:xfrm>
            <a:off x="713232" y="1170432"/>
            <a:ext cx="1216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KMeans y GMM no predicen directamente; agrupan entregas similares para descubrir segmentos de riesgo accionables.</a:t>
            </a:r>
            <a:endParaRPr/>
          </a:p>
        </p:txBody>
      </p:sp>
      <p:sp>
        <p:nvSpPr>
          <p:cNvPr id="1323" name="Google Shape;1323;p26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26"/>
          <p:cNvSpPr/>
          <p:nvPr/>
        </p:nvSpPr>
        <p:spPr>
          <a:xfrm>
            <a:off x="822960" y="2011680"/>
            <a:ext cx="406908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26"/>
          <p:cNvSpPr txBox="1"/>
          <p:nvPr/>
        </p:nvSpPr>
        <p:spPr>
          <a:xfrm>
            <a:off x="1051560" y="217627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KMeans</a:t>
            </a:r>
            <a:endParaRPr/>
          </a:p>
        </p:txBody>
      </p:sp>
      <p:sp>
        <p:nvSpPr>
          <p:cNvPr id="1326" name="Google Shape;1326;p26"/>
          <p:cNvSpPr txBox="1"/>
          <p:nvPr/>
        </p:nvSpPr>
        <p:spPr>
          <a:xfrm>
            <a:off x="1051560" y="2578608"/>
            <a:ext cx="361188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Encuentra grupos naturales con asignación dura. Con k=3 separa: Express (1%, 0% atrasos), Estándar (60%, 8.1%) y Riesgo latente (39%, 11.4%).</a:t>
            </a:r>
            <a:endParaRPr/>
          </a:p>
        </p:txBody>
      </p:sp>
      <p:sp>
        <p:nvSpPr>
          <p:cNvPr id="1327" name="Google Shape;1327;p26"/>
          <p:cNvSpPr/>
          <p:nvPr/>
        </p:nvSpPr>
        <p:spPr>
          <a:xfrm>
            <a:off x="5257800" y="2011680"/>
            <a:ext cx="406908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6F42C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26"/>
          <p:cNvSpPr txBox="1"/>
          <p:nvPr/>
        </p:nvSpPr>
        <p:spPr>
          <a:xfrm>
            <a:off x="5486400" y="217627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F42C1"/>
                </a:solidFill>
                <a:latin typeface="Calibri"/>
                <a:ea typeface="Calibri"/>
                <a:cs typeface="Calibri"/>
                <a:sym typeface="Calibri"/>
              </a:rPr>
              <a:t>GMM</a:t>
            </a:r>
            <a:endParaRPr/>
          </a:p>
        </p:txBody>
      </p:sp>
      <p:sp>
        <p:nvSpPr>
          <p:cNvPr id="1329" name="Google Shape;1329;p26"/>
          <p:cNvSpPr txBox="1"/>
          <p:nvPr/>
        </p:nvSpPr>
        <p:spPr>
          <a:xfrm>
            <a:off x="5486400" y="2578608"/>
            <a:ext cx="361188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Usa gaussianas elípticas y asignación blanda. Aisla un cluster de alto riesgo: 14% de entregas con 32.2% de atraso.</a:t>
            </a:r>
            <a:endParaRPr/>
          </a:p>
        </p:txBody>
      </p:sp>
      <p:sp>
        <p:nvSpPr>
          <p:cNvPr id="1330" name="Google Shape;1330;p26"/>
          <p:cNvSpPr/>
          <p:nvPr/>
        </p:nvSpPr>
        <p:spPr>
          <a:xfrm>
            <a:off x="9692640" y="2011680"/>
            <a:ext cx="406908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26"/>
          <p:cNvSpPr txBox="1"/>
          <p:nvPr/>
        </p:nvSpPr>
        <p:spPr>
          <a:xfrm>
            <a:off x="9921240" y="217627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Soft clustering</a:t>
            </a:r>
            <a:endParaRPr/>
          </a:p>
        </p:txBody>
      </p:sp>
      <p:sp>
        <p:nvSpPr>
          <p:cNvPr id="1332" name="Google Shape;1332;p26"/>
          <p:cNvSpPr txBox="1"/>
          <p:nvPr/>
        </p:nvSpPr>
        <p:spPr>
          <a:xfrm>
            <a:off x="9921240" y="2578608"/>
            <a:ext cx="361188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La confianza media de asignación fue 0.994. Solo 0.3% queda ambiguo: los perfiles son nítidos, no una partición arbitraria.</a:t>
            </a:r>
            <a:endParaRPr/>
          </a:p>
        </p:txBody>
      </p:sp>
      <p:sp>
        <p:nvSpPr>
          <p:cNvPr id="1333" name="Google Shape;1333;p26"/>
          <p:cNvSpPr/>
          <p:nvPr/>
        </p:nvSpPr>
        <p:spPr>
          <a:xfrm>
            <a:off x="822960" y="4526280"/>
            <a:ext cx="12938760" cy="14630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26"/>
          <p:cNvSpPr txBox="1"/>
          <p:nvPr/>
        </p:nvSpPr>
        <p:spPr>
          <a:xfrm>
            <a:off x="1051560" y="4709160"/>
            <a:ext cx="1243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Hallazgo principal</a:t>
            </a:r>
            <a:endParaRPr/>
          </a:p>
        </p:txBody>
      </p:sp>
      <p:sp>
        <p:nvSpPr>
          <p:cNvPr id="1335" name="Google Shape;1335;p26"/>
          <p:cNvSpPr txBox="1"/>
          <p:nvPr/>
        </p:nvSpPr>
        <p:spPr>
          <a:xfrm>
            <a:off x="1234440" y="5074920"/>
            <a:ext cx="1207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El atraso no aparece como un grupo aislado por promedio de delay; aparece como un perfil de mayor riesgo dentro de la operación.</a:t>
            </a:r>
            <a:endParaRPr/>
          </a:p>
        </p:txBody>
      </p:sp>
      <p:sp>
        <p:nvSpPr>
          <p:cNvPr id="1336" name="Google Shape;1336;p26"/>
          <p:cNvSpPr txBox="1"/>
          <p:nvPr/>
        </p:nvSpPr>
        <p:spPr>
          <a:xfrm>
            <a:off x="1234440" y="5504688"/>
            <a:ext cx="1207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F42C1"/>
                </a:solidFill>
                <a:latin typeface="Calibri"/>
                <a:ea typeface="Calibri"/>
                <a:cs typeface="Calibri"/>
                <a:sym typeface="Calibri"/>
              </a:rPr>
              <a:t>GMM lo vuelve accionable: 14% de entregas concentra una tasa de atraso de 32.2%.</a:t>
            </a:r>
            <a:endParaRPr/>
          </a:p>
        </p:txBody>
      </p:sp>
      <p:sp>
        <p:nvSpPr>
          <p:cNvPr id="1337" name="Google Shape;1337;p26"/>
          <p:cNvSpPr/>
          <p:nvPr/>
        </p:nvSpPr>
        <p:spPr>
          <a:xfrm>
            <a:off x="822960" y="6446520"/>
            <a:ext cx="12938760" cy="640080"/>
          </a:xfrm>
          <a:prstGeom prst="roundRect">
            <a:avLst>
              <a:gd fmla="val 16667" name="adj"/>
            </a:avLst>
          </a:prstGeom>
          <a:solidFill>
            <a:srgbClr val="142B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26"/>
          <p:cNvSpPr txBox="1"/>
          <p:nvPr/>
        </p:nvSpPr>
        <p:spPr>
          <a:xfrm>
            <a:off x="1005840" y="6601968"/>
            <a:ext cx="1257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Uso de negocio: priorizar auditoría, refuerzo de ruta y monitoreo sobre segmentos con riesgo estructuralmente mayor.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27"/>
          <p:cNvSpPr txBox="1"/>
          <p:nvPr/>
        </p:nvSpPr>
        <p:spPr>
          <a:xfrm>
            <a:off x="685800" y="3200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SÍNTESIS DE MODELOS</a:t>
            </a:r>
            <a:endParaRPr/>
          </a:p>
        </p:txBody>
      </p:sp>
      <p:sp>
        <p:nvSpPr>
          <p:cNvPr id="1344" name="Google Shape;1344;p27"/>
          <p:cNvSpPr txBox="1"/>
          <p:nvPr/>
        </p:nvSpPr>
        <p:spPr>
          <a:xfrm>
            <a:off x="685800" y="676656"/>
            <a:ext cx="11704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Qué modelo responde cada pregunta de negocio</a:t>
            </a:r>
            <a:endParaRPr/>
          </a:p>
        </p:txBody>
      </p:sp>
      <p:sp>
        <p:nvSpPr>
          <p:cNvPr id="1345" name="Google Shape;1345;p27"/>
          <p:cNvSpPr txBox="1"/>
          <p:nvPr/>
        </p:nvSpPr>
        <p:spPr>
          <a:xfrm>
            <a:off x="713232" y="1170432"/>
            <a:ext cx="1216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El proyecto no termina en un único algoritmo: combina detección, estimación y segmentación para apoyar decisiones operativas.</a:t>
            </a:r>
            <a:endParaRPr/>
          </a:p>
        </p:txBody>
      </p:sp>
      <p:sp>
        <p:nvSpPr>
          <p:cNvPr id="1346" name="Google Shape;1346;p27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27"/>
          <p:cNvSpPr/>
          <p:nvPr/>
        </p:nvSpPr>
        <p:spPr>
          <a:xfrm>
            <a:off x="822960" y="2057400"/>
            <a:ext cx="4069080" cy="2834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27"/>
          <p:cNvSpPr txBox="1"/>
          <p:nvPr/>
        </p:nvSpPr>
        <p:spPr>
          <a:xfrm>
            <a:off x="1051560" y="222199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1. Detectar riesgo</a:t>
            </a:r>
            <a:endParaRPr/>
          </a:p>
        </p:txBody>
      </p:sp>
      <p:sp>
        <p:nvSpPr>
          <p:cNvPr id="1349" name="Google Shape;1349;p27"/>
          <p:cNvSpPr txBox="1"/>
          <p:nvPr/>
        </p:nvSpPr>
        <p:spPr>
          <a:xfrm>
            <a:off x="1051560" y="2624328"/>
            <a:ext cx="3611880" cy="212140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Pregunta: llegará tarde?</a:t>
            </a:r>
            <a:b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Modelo recomendado: Random Forest clasificación.</a:t>
            </a:r>
            <a:b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Por qué: mejor F1, robusto en validación temporal y buen punto de operación con umbral 0.41.</a:t>
            </a:r>
            <a:endParaRPr/>
          </a:p>
        </p:txBody>
      </p:sp>
      <p:sp>
        <p:nvSpPr>
          <p:cNvPr id="1350" name="Google Shape;1350;p27"/>
          <p:cNvSpPr/>
          <p:nvPr/>
        </p:nvSpPr>
        <p:spPr>
          <a:xfrm>
            <a:off x="5257800" y="2057400"/>
            <a:ext cx="4069080" cy="2834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27"/>
          <p:cNvSpPr txBox="1"/>
          <p:nvPr/>
        </p:nvSpPr>
        <p:spPr>
          <a:xfrm>
            <a:off x="5486400" y="222199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2. Estimar severidad</a:t>
            </a:r>
            <a:endParaRPr/>
          </a:p>
        </p:txBody>
      </p:sp>
      <p:sp>
        <p:nvSpPr>
          <p:cNvPr id="1352" name="Google Shape;1352;p27"/>
          <p:cNvSpPr txBox="1"/>
          <p:nvPr/>
        </p:nvSpPr>
        <p:spPr>
          <a:xfrm>
            <a:off x="5486400" y="2624328"/>
            <a:ext cx="3611880" cy="212140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Pregunta: cuántos minutos?</a:t>
            </a:r>
            <a:b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Modelo recomendado: RF para error global; HGB/XGB para severidad.</a:t>
            </a:r>
            <a:b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Por qué: RF minimiza RMSE, HGB/XGB leen mejor la cola de atrasados.</a:t>
            </a:r>
            <a:endParaRPr/>
          </a:p>
        </p:txBody>
      </p:sp>
      <p:sp>
        <p:nvSpPr>
          <p:cNvPr id="1353" name="Google Shape;1353;p27"/>
          <p:cNvSpPr/>
          <p:nvPr/>
        </p:nvSpPr>
        <p:spPr>
          <a:xfrm>
            <a:off x="9692640" y="2057400"/>
            <a:ext cx="4069080" cy="2834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6F42C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27"/>
          <p:cNvSpPr txBox="1"/>
          <p:nvPr/>
        </p:nvSpPr>
        <p:spPr>
          <a:xfrm>
            <a:off x="9921240" y="222199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F42C1"/>
                </a:solidFill>
                <a:latin typeface="Calibri"/>
                <a:ea typeface="Calibri"/>
                <a:cs typeface="Calibri"/>
                <a:sym typeface="Calibri"/>
              </a:rPr>
              <a:t>3. Segmentar operación</a:t>
            </a:r>
            <a:endParaRPr/>
          </a:p>
        </p:txBody>
      </p:sp>
      <p:sp>
        <p:nvSpPr>
          <p:cNvPr id="1355" name="Google Shape;1355;p27"/>
          <p:cNvSpPr txBox="1"/>
          <p:nvPr/>
        </p:nvSpPr>
        <p:spPr>
          <a:xfrm>
            <a:off x="9921240" y="2624328"/>
            <a:ext cx="3611880" cy="212140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Pregunta: dónde focalizar?</a:t>
            </a:r>
            <a:b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Modelo recomendado: GMM como apoyo analítico.</a:t>
            </a:r>
            <a:b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Por qué: aisla 14% de entregas con tasa de atraso 32.2%.</a:t>
            </a:r>
            <a:endParaRPr/>
          </a:p>
        </p:txBody>
      </p:sp>
      <p:sp>
        <p:nvSpPr>
          <p:cNvPr id="1356" name="Google Shape;1356;p27"/>
          <p:cNvSpPr/>
          <p:nvPr/>
        </p:nvSpPr>
        <p:spPr>
          <a:xfrm>
            <a:off x="822960" y="5532120"/>
            <a:ext cx="12938760" cy="1143000"/>
          </a:xfrm>
          <a:prstGeom prst="roundRect">
            <a:avLst>
              <a:gd fmla="val 16667" name="adj"/>
            </a:avLst>
          </a:prstGeom>
          <a:solidFill>
            <a:srgbClr val="142B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27"/>
          <p:cNvSpPr txBox="1"/>
          <p:nvPr/>
        </p:nvSpPr>
        <p:spPr>
          <a:xfrm>
            <a:off x="1051560" y="5687568"/>
            <a:ext cx="1248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6F0FC"/>
                </a:solidFill>
                <a:latin typeface="Calibri"/>
                <a:ea typeface="Calibri"/>
                <a:cs typeface="Calibri"/>
                <a:sym typeface="Calibri"/>
              </a:rPr>
              <a:t>Sistema propuesto de uso operativo</a:t>
            </a:r>
            <a:endParaRPr/>
          </a:p>
        </p:txBody>
      </p:sp>
      <p:sp>
        <p:nvSpPr>
          <p:cNvPr id="1358" name="Google Shape;1358;p27"/>
          <p:cNvSpPr txBox="1"/>
          <p:nvPr/>
        </p:nvSpPr>
        <p:spPr>
          <a:xfrm>
            <a:off x="1143000" y="6062472"/>
            <a:ext cx="1229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Clasificador prioriza alertas  -&gt;  Regresor estima impacto  -&gt;  Segmentación define donde intervenir primero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28"/>
          <p:cNvSpPr txBox="1"/>
          <p:nvPr/>
        </p:nvSpPr>
        <p:spPr>
          <a:xfrm>
            <a:off x="685800" y="3200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HALLAZGOS FINALES</a:t>
            </a:r>
            <a:endParaRPr/>
          </a:p>
        </p:txBody>
      </p:sp>
      <p:sp>
        <p:nvSpPr>
          <p:cNvPr id="1364" name="Google Shape;1364;p28"/>
          <p:cNvSpPr txBox="1"/>
          <p:nvPr/>
        </p:nvSpPr>
        <p:spPr>
          <a:xfrm>
            <a:off x="685800" y="676656"/>
            <a:ext cx="11704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Qué aprendimos sobre los atrasos</a:t>
            </a:r>
            <a:endParaRPr/>
          </a:p>
        </p:txBody>
      </p:sp>
      <p:sp>
        <p:nvSpPr>
          <p:cNvPr id="1365" name="Google Shape;1365;p28"/>
          <p:cNvSpPr txBox="1"/>
          <p:nvPr/>
        </p:nvSpPr>
        <p:spPr>
          <a:xfrm>
            <a:off x="713232" y="1170432"/>
            <a:ext cx="1216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El atraso no se comporta como un evento aislado: aparece como resultado acumulado de ruta, historial y contexto operativo.</a:t>
            </a:r>
            <a:endParaRPr/>
          </a:p>
        </p:txBody>
      </p:sp>
      <p:sp>
        <p:nvSpPr>
          <p:cNvPr id="1366" name="Google Shape;1366;p28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28"/>
          <p:cNvSpPr/>
          <p:nvPr/>
        </p:nvSpPr>
        <p:spPr>
          <a:xfrm>
            <a:off x="868680" y="2011680"/>
            <a:ext cx="251460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D645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28"/>
          <p:cNvSpPr txBox="1"/>
          <p:nvPr/>
        </p:nvSpPr>
        <p:spPr>
          <a:xfrm>
            <a:off x="1005839" y="2212848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Entregas tarde</a:t>
            </a:r>
            <a:endParaRPr/>
          </a:p>
        </p:txBody>
      </p:sp>
      <p:sp>
        <p:nvSpPr>
          <p:cNvPr id="1369" name="Google Shape;1369;p28"/>
          <p:cNvSpPr txBox="1"/>
          <p:nvPr/>
        </p:nvSpPr>
        <p:spPr>
          <a:xfrm>
            <a:off x="1005839" y="2542032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9-10%</a:t>
            </a:r>
            <a:endParaRPr/>
          </a:p>
        </p:txBody>
      </p:sp>
      <p:sp>
        <p:nvSpPr>
          <p:cNvPr id="1370" name="Google Shape;1370;p28"/>
          <p:cNvSpPr/>
          <p:nvPr/>
        </p:nvSpPr>
        <p:spPr>
          <a:xfrm>
            <a:off x="3794760" y="2011680"/>
            <a:ext cx="251460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28"/>
          <p:cNvSpPr txBox="1"/>
          <p:nvPr/>
        </p:nvSpPr>
        <p:spPr>
          <a:xfrm>
            <a:off x="3931920" y="2212848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Atrasos detectables</a:t>
            </a:r>
            <a:endParaRPr/>
          </a:p>
        </p:txBody>
      </p:sp>
      <p:sp>
        <p:nvSpPr>
          <p:cNvPr id="1372" name="Google Shape;1372;p28"/>
          <p:cNvSpPr txBox="1"/>
          <p:nvPr/>
        </p:nvSpPr>
        <p:spPr>
          <a:xfrm>
            <a:off x="3931920" y="2542032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75/100</a:t>
            </a:r>
            <a:endParaRPr/>
          </a:p>
        </p:txBody>
      </p:sp>
      <p:sp>
        <p:nvSpPr>
          <p:cNvPr id="1373" name="Google Shape;1373;p28"/>
          <p:cNvSpPr/>
          <p:nvPr/>
        </p:nvSpPr>
        <p:spPr>
          <a:xfrm>
            <a:off x="6720840" y="2011680"/>
            <a:ext cx="251460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6F42C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28"/>
          <p:cNvSpPr txBox="1"/>
          <p:nvPr/>
        </p:nvSpPr>
        <p:spPr>
          <a:xfrm>
            <a:off x="6858000" y="2212848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Segmento crítico</a:t>
            </a:r>
            <a:endParaRPr/>
          </a:p>
        </p:txBody>
      </p:sp>
      <p:sp>
        <p:nvSpPr>
          <p:cNvPr id="1375" name="Google Shape;1375;p28"/>
          <p:cNvSpPr txBox="1"/>
          <p:nvPr/>
        </p:nvSpPr>
        <p:spPr>
          <a:xfrm>
            <a:off x="6858000" y="2542032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6F42C1"/>
                </a:solidFill>
                <a:latin typeface="Calibri"/>
                <a:ea typeface="Calibri"/>
                <a:cs typeface="Calibri"/>
                <a:sym typeface="Calibri"/>
              </a:rPr>
              <a:t>14%</a:t>
            </a:r>
            <a:endParaRPr/>
          </a:p>
        </p:txBody>
      </p:sp>
      <p:sp>
        <p:nvSpPr>
          <p:cNvPr id="1376" name="Google Shape;1376;p28"/>
          <p:cNvSpPr/>
          <p:nvPr/>
        </p:nvSpPr>
        <p:spPr>
          <a:xfrm>
            <a:off x="9646920" y="2011680"/>
            <a:ext cx="251460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299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28"/>
          <p:cNvSpPr txBox="1"/>
          <p:nvPr/>
        </p:nvSpPr>
        <p:spPr>
          <a:xfrm>
            <a:off x="9784080" y="2212848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Tasa en segmento</a:t>
            </a:r>
            <a:endParaRPr/>
          </a:p>
        </p:txBody>
      </p:sp>
      <p:sp>
        <p:nvSpPr>
          <p:cNvPr id="1378" name="Google Shape;1378;p28"/>
          <p:cNvSpPr txBox="1"/>
          <p:nvPr/>
        </p:nvSpPr>
        <p:spPr>
          <a:xfrm>
            <a:off x="9784080" y="2542032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32.2%</a:t>
            </a:r>
            <a:endParaRPr/>
          </a:p>
        </p:txBody>
      </p:sp>
      <p:sp>
        <p:nvSpPr>
          <p:cNvPr id="1379" name="Google Shape;1379;p28"/>
          <p:cNvSpPr/>
          <p:nvPr/>
        </p:nvSpPr>
        <p:spPr>
          <a:xfrm>
            <a:off x="868680" y="3703320"/>
            <a:ext cx="3977639" cy="2011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28"/>
          <p:cNvSpPr txBox="1"/>
          <p:nvPr/>
        </p:nvSpPr>
        <p:spPr>
          <a:xfrm>
            <a:off x="1097280" y="3867911"/>
            <a:ext cx="352043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1. El riesgo se acumula</a:t>
            </a:r>
            <a:endParaRPr/>
          </a:p>
        </p:txBody>
      </p:sp>
      <p:sp>
        <p:nvSpPr>
          <p:cNvPr id="1381" name="Google Shape;1381;p28"/>
          <p:cNvSpPr txBox="1"/>
          <p:nvPr/>
        </p:nvSpPr>
        <p:spPr>
          <a:xfrm>
            <a:off x="1097280" y="4270248"/>
            <a:ext cx="3520439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Las señales secuenciales e históricas explican gran parte del salto de rendimiento. Si una ruta ya viene atrasada, las siguientes paradas heredan riesgo.</a:t>
            </a:r>
            <a:endParaRPr/>
          </a:p>
        </p:txBody>
      </p:sp>
      <p:sp>
        <p:nvSpPr>
          <p:cNvPr id="1382" name="Google Shape;1382;p28"/>
          <p:cNvSpPr/>
          <p:nvPr/>
        </p:nvSpPr>
        <p:spPr>
          <a:xfrm>
            <a:off x="5166360" y="3703320"/>
            <a:ext cx="3977639" cy="2011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F299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28"/>
          <p:cNvSpPr txBox="1"/>
          <p:nvPr/>
        </p:nvSpPr>
        <p:spPr>
          <a:xfrm>
            <a:off x="5394960" y="3867911"/>
            <a:ext cx="352043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2. No todo extremo es error</a:t>
            </a:r>
            <a:endParaRPr/>
          </a:p>
        </p:txBody>
      </p:sp>
      <p:sp>
        <p:nvSpPr>
          <p:cNvPr id="1384" name="Google Shape;1384;p28"/>
          <p:cNvSpPr txBox="1"/>
          <p:nvPr/>
        </p:nvSpPr>
        <p:spPr>
          <a:xfrm>
            <a:off x="5394960" y="4270248"/>
            <a:ext cx="3520439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Algunos outliers son operación real. La limpieza se enfocó en inconsistencias, no en borrar casos difíciles que el negocio necesita anticipar.</a:t>
            </a:r>
            <a:endParaRPr/>
          </a:p>
        </p:txBody>
      </p:sp>
      <p:sp>
        <p:nvSpPr>
          <p:cNvPr id="1385" name="Google Shape;1385;p28"/>
          <p:cNvSpPr/>
          <p:nvPr/>
        </p:nvSpPr>
        <p:spPr>
          <a:xfrm>
            <a:off x="9464040" y="3703320"/>
            <a:ext cx="3977639" cy="2011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6F42C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28"/>
          <p:cNvSpPr txBox="1"/>
          <p:nvPr/>
        </p:nvSpPr>
        <p:spPr>
          <a:xfrm>
            <a:off x="9692640" y="3867911"/>
            <a:ext cx="352043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F42C1"/>
                </a:solidFill>
                <a:latin typeface="Calibri"/>
                <a:ea typeface="Calibri"/>
                <a:cs typeface="Calibri"/>
                <a:sym typeface="Calibri"/>
              </a:rPr>
              <a:t>3. El riesgo está concentrado</a:t>
            </a:r>
            <a:endParaRPr/>
          </a:p>
        </p:txBody>
      </p:sp>
      <p:sp>
        <p:nvSpPr>
          <p:cNvPr id="1387" name="Google Shape;1387;p28"/>
          <p:cNvSpPr txBox="1"/>
          <p:nvPr/>
        </p:nvSpPr>
        <p:spPr>
          <a:xfrm>
            <a:off x="9692640" y="4270248"/>
            <a:ext cx="3520439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GMM identificó un segmento pequeño pero crítico: cerca del 14% de entregas con una tasa de atraso de 32.2%.</a:t>
            </a:r>
            <a:endParaRPr/>
          </a:p>
        </p:txBody>
      </p:sp>
      <p:sp>
        <p:nvSpPr>
          <p:cNvPr id="1388" name="Google Shape;1388;p28"/>
          <p:cNvSpPr/>
          <p:nvPr/>
        </p:nvSpPr>
        <p:spPr>
          <a:xfrm>
            <a:off x="868680" y="6355080"/>
            <a:ext cx="12573000" cy="685800"/>
          </a:xfrm>
          <a:prstGeom prst="roundRect">
            <a:avLst>
              <a:gd fmla="val 16667" name="adj"/>
            </a:avLst>
          </a:prstGeom>
          <a:solidFill>
            <a:srgbClr val="142B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28"/>
          <p:cNvSpPr txBox="1"/>
          <p:nvPr/>
        </p:nvSpPr>
        <p:spPr>
          <a:xfrm>
            <a:off x="1051560" y="6510528"/>
            <a:ext cx="1220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Insight central: la oportunidad no está en tratar toda la operación igual, sino en intervenir donde el riesgo se concentra.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F"/>
        </a:solidFill>
      </p:bgPr>
    </p:bg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29"/>
          <p:cNvSpPr txBox="1"/>
          <p:nvPr/>
        </p:nvSpPr>
        <p:spPr>
          <a:xfrm>
            <a:off x="685800" y="3200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DECISIONES OPERATIVAS</a:t>
            </a:r>
            <a:endParaRPr/>
          </a:p>
        </p:txBody>
      </p:sp>
      <p:sp>
        <p:nvSpPr>
          <p:cNvPr id="1395" name="Google Shape;1395;p29"/>
          <p:cNvSpPr txBox="1"/>
          <p:nvPr/>
        </p:nvSpPr>
        <p:spPr>
          <a:xfrm>
            <a:off x="685800" y="676656"/>
            <a:ext cx="11704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Cómo usar el modelo en la operación</a:t>
            </a:r>
            <a:endParaRPr/>
          </a:p>
        </p:txBody>
      </p:sp>
      <p:sp>
        <p:nvSpPr>
          <p:cNvPr id="1396" name="Google Shape;1396;p29"/>
          <p:cNvSpPr txBox="1"/>
          <p:nvPr/>
        </p:nvSpPr>
        <p:spPr>
          <a:xfrm>
            <a:off x="713232" y="1170432"/>
            <a:ext cx="1216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6C7B"/>
                </a:solidFill>
                <a:latin typeface="Calibri"/>
                <a:ea typeface="Calibri"/>
                <a:cs typeface="Calibri"/>
                <a:sym typeface="Calibri"/>
              </a:rPr>
              <a:t>El objetivo no es reemplazar al equipo operativo, sino darle señales tempranas para actuar antes de que el atraso se consolide.</a:t>
            </a:r>
            <a:endParaRPr/>
          </a:p>
        </p:txBody>
      </p:sp>
      <p:sp>
        <p:nvSpPr>
          <p:cNvPr id="1397" name="Google Shape;1397;p29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29"/>
          <p:cNvSpPr/>
          <p:nvPr/>
        </p:nvSpPr>
        <p:spPr>
          <a:xfrm>
            <a:off x="822960" y="2057400"/>
            <a:ext cx="406908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45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29"/>
          <p:cNvSpPr txBox="1"/>
          <p:nvPr/>
        </p:nvSpPr>
        <p:spPr>
          <a:xfrm>
            <a:off x="1051560" y="222199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Alerta temprana en ruta</a:t>
            </a:r>
            <a:endParaRPr/>
          </a:p>
        </p:txBody>
      </p:sp>
      <p:sp>
        <p:nvSpPr>
          <p:cNvPr id="1400" name="Google Shape;1400;p29"/>
          <p:cNvSpPr txBox="1"/>
          <p:nvPr/>
        </p:nvSpPr>
        <p:spPr>
          <a:xfrm>
            <a:off x="1051560" y="2624328"/>
            <a:ext cx="3611880" cy="202996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Activar alertas cuando el clasificador marca alto riesgo, especialmente después de una parada atrasada. Permite re-secuenciar, contactar cliente o reforzar antes de que se propague.</a:t>
            </a:r>
            <a:endParaRPr/>
          </a:p>
        </p:txBody>
      </p:sp>
      <p:sp>
        <p:nvSpPr>
          <p:cNvPr id="1401" name="Google Shape;1401;p29"/>
          <p:cNvSpPr/>
          <p:nvPr/>
        </p:nvSpPr>
        <p:spPr>
          <a:xfrm>
            <a:off x="5257800" y="2057400"/>
            <a:ext cx="406908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24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29"/>
          <p:cNvSpPr txBox="1"/>
          <p:nvPr/>
        </p:nvSpPr>
        <p:spPr>
          <a:xfrm>
            <a:off x="5486400" y="222199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Gestión del conductor</a:t>
            </a:r>
            <a:endParaRPr/>
          </a:p>
        </p:txBody>
      </p:sp>
      <p:sp>
        <p:nvSpPr>
          <p:cNvPr id="1403" name="Google Shape;1403;p29"/>
          <p:cNvSpPr txBox="1"/>
          <p:nvPr/>
        </p:nvSpPr>
        <p:spPr>
          <a:xfrm>
            <a:off x="5486400" y="2624328"/>
            <a:ext cx="3611880" cy="202996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Usar historial de atraso como señal de seguimiento: capacitación, apoyo en rutas complejas o reasignación preventiva cuando hay patrones recurrentes.</a:t>
            </a:r>
            <a:endParaRPr/>
          </a:p>
        </p:txBody>
      </p:sp>
      <p:sp>
        <p:nvSpPr>
          <p:cNvPr id="1404" name="Google Shape;1404;p29"/>
          <p:cNvSpPr/>
          <p:nvPr/>
        </p:nvSpPr>
        <p:spPr>
          <a:xfrm>
            <a:off x="9692640" y="2057400"/>
            <a:ext cx="406908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29"/>
          <p:cNvSpPr txBox="1"/>
          <p:nvPr/>
        </p:nvSpPr>
        <p:spPr>
          <a:xfrm>
            <a:off x="9921240" y="222199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Balanceo de carga</a:t>
            </a:r>
            <a:endParaRPr/>
          </a:p>
        </p:txBody>
      </p:sp>
      <p:sp>
        <p:nvSpPr>
          <p:cNvPr id="1406" name="Google Shape;1406;p29"/>
          <p:cNvSpPr txBox="1"/>
          <p:nvPr/>
        </p:nvSpPr>
        <p:spPr>
          <a:xfrm>
            <a:off x="9921240" y="2624328"/>
            <a:ext cx="3611880" cy="202996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Evitar dejar entregas críticas al final de rutas con alto riesgo acumulado. Priorizar clientes sensibles y redistribuir carga en segmentos críticos.</a:t>
            </a:r>
            <a:endParaRPr/>
          </a:p>
        </p:txBody>
      </p:sp>
      <p:sp>
        <p:nvSpPr>
          <p:cNvPr id="1407" name="Google Shape;1407;p29"/>
          <p:cNvSpPr/>
          <p:nvPr/>
        </p:nvSpPr>
        <p:spPr>
          <a:xfrm>
            <a:off x="822960" y="5532120"/>
            <a:ext cx="12938760" cy="10972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DA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29"/>
          <p:cNvSpPr txBox="1"/>
          <p:nvPr/>
        </p:nvSpPr>
        <p:spPr>
          <a:xfrm>
            <a:off x="1051560" y="5696712"/>
            <a:ext cx="1248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2000" spcFirstLastPara="1" rIns="32000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Siguientes mejoras</a:t>
            </a:r>
            <a:endParaRPr/>
          </a:p>
        </p:txBody>
      </p:sp>
      <p:sp>
        <p:nvSpPr>
          <p:cNvPr id="1409" name="Google Shape;1409;p29"/>
          <p:cNvSpPr txBox="1"/>
          <p:nvPr/>
        </p:nvSpPr>
        <p:spPr>
          <a:xfrm>
            <a:off x="1143000" y="6016752"/>
            <a:ext cx="1229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32000" spcFirstLastPara="1" rIns="32000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Agregar variables externas (tráfico, clima, hora real, densidad/zona, tipo o prioridad de entrega) y recalibrar periódicamente con nuevas semanas de datos.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B4A"/>
        </a:solidFill>
      </p:bgPr>
    </p:bg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30"/>
          <p:cNvSpPr txBox="1"/>
          <p:nvPr/>
        </p:nvSpPr>
        <p:spPr>
          <a:xfrm>
            <a:off x="868680" y="6858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6F0FC"/>
                </a:solidFill>
                <a:latin typeface="Calibri"/>
                <a:ea typeface="Calibri"/>
                <a:cs typeface="Calibri"/>
                <a:sym typeface="Calibri"/>
              </a:rPr>
              <a:t>CIERRE EJECUTIVO</a:t>
            </a:r>
            <a:endParaRPr/>
          </a:p>
        </p:txBody>
      </p:sp>
      <p:sp>
        <p:nvSpPr>
          <p:cNvPr id="1415" name="Google Shape;1415;p30"/>
          <p:cNvSpPr txBox="1"/>
          <p:nvPr/>
        </p:nvSpPr>
        <p:spPr>
          <a:xfrm>
            <a:off x="868680" y="1170432"/>
            <a:ext cx="11704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reaccionar a los atrasos a anticiparlos</a:t>
            </a:r>
            <a:endParaRPr/>
          </a:p>
        </p:txBody>
      </p:sp>
      <p:sp>
        <p:nvSpPr>
          <p:cNvPr id="1416" name="Google Shape;1416;p30"/>
          <p:cNvSpPr txBox="1"/>
          <p:nvPr/>
        </p:nvSpPr>
        <p:spPr>
          <a:xfrm>
            <a:off x="896112" y="2139696"/>
            <a:ext cx="1170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DBE8F7"/>
                </a:solidFill>
                <a:latin typeface="Calibri"/>
                <a:ea typeface="Calibri"/>
                <a:cs typeface="Calibri"/>
                <a:sym typeface="Calibri"/>
              </a:rPr>
              <a:t>El valor del proyecto está en la cadena completa: detectar riesgo, estimar severidad, segmentar la operación y actuar de forma focalizada.</a:t>
            </a:r>
            <a:endParaRPr/>
          </a:p>
        </p:txBody>
      </p:sp>
      <p:sp>
        <p:nvSpPr>
          <p:cNvPr id="1417" name="Google Shape;1417;p30"/>
          <p:cNvSpPr/>
          <p:nvPr/>
        </p:nvSpPr>
        <p:spPr>
          <a:xfrm>
            <a:off x="868680" y="3703320"/>
            <a:ext cx="274320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30"/>
          <p:cNvSpPr txBox="1"/>
          <p:nvPr/>
        </p:nvSpPr>
        <p:spPr>
          <a:xfrm>
            <a:off x="1069848" y="39136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19" name="Google Shape;1419;p30"/>
          <p:cNvSpPr txBox="1"/>
          <p:nvPr/>
        </p:nvSpPr>
        <p:spPr>
          <a:xfrm>
            <a:off x="1600200" y="395020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Detectar</a:t>
            </a:r>
            <a:endParaRPr sz="1800"/>
          </a:p>
        </p:txBody>
      </p:sp>
      <p:sp>
        <p:nvSpPr>
          <p:cNvPr id="1420" name="Google Shape;1420;p30"/>
          <p:cNvSpPr txBox="1"/>
          <p:nvPr/>
        </p:nvSpPr>
        <p:spPr>
          <a:xfrm>
            <a:off x="1097280" y="4480560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RF identifica entregas con riesgo de atraso.</a:t>
            </a:r>
            <a:endParaRPr/>
          </a:p>
        </p:txBody>
      </p:sp>
      <p:sp>
        <p:nvSpPr>
          <p:cNvPr id="1421" name="Google Shape;1421;p30"/>
          <p:cNvSpPr/>
          <p:nvPr/>
        </p:nvSpPr>
        <p:spPr>
          <a:xfrm>
            <a:off x="4069080" y="3703320"/>
            <a:ext cx="274320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30"/>
          <p:cNvSpPr txBox="1"/>
          <p:nvPr/>
        </p:nvSpPr>
        <p:spPr>
          <a:xfrm>
            <a:off x="4270248" y="39136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23" name="Google Shape;1423;p30"/>
          <p:cNvSpPr txBox="1"/>
          <p:nvPr/>
        </p:nvSpPr>
        <p:spPr>
          <a:xfrm>
            <a:off x="4800600" y="395020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Dimensionar</a:t>
            </a:r>
            <a:endParaRPr sz="1800"/>
          </a:p>
        </p:txBody>
      </p:sp>
      <p:sp>
        <p:nvSpPr>
          <p:cNvPr id="1424" name="Google Shape;1424;p30"/>
          <p:cNvSpPr txBox="1"/>
          <p:nvPr/>
        </p:nvSpPr>
        <p:spPr>
          <a:xfrm>
            <a:off x="4297680" y="4480560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Regresión estima impacto en minutos.</a:t>
            </a:r>
            <a:endParaRPr/>
          </a:p>
        </p:txBody>
      </p:sp>
      <p:sp>
        <p:nvSpPr>
          <p:cNvPr id="1425" name="Google Shape;1425;p30"/>
          <p:cNvSpPr/>
          <p:nvPr/>
        </p:nvSpPr>
        <p:spPr>
          <a:xfrm>
            <a:off x="7269480" y="3703320"/>
            <a:ext cx="274320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30"/>
          <p:cNvSpPr txBox="1"/>
          <p:nvPr/>
        </p:nvSpPr>
        <p:spPr>
          <a:xfrm>
            <a:off x="7470648" y="39136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27" name="Google Shape;1427;p30"/>
          <p:cNvSpPr txBox="1"/>
          <p:nvPr/>
        </p:nvSpPr>
        <p:spPr>
          <a:xfrm>
            <a:off x="8001000" y="395020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Focalizar</a:t>
            </a:r>
            <a:endParaRPr sz="1800"/>
          </a:p>
        </p:txBody>
      </p:sp>
      <p:sp>
        <p:nvSpPr>
          <p:cNvPr id="1428" name="Google Shape;1428;p30"/>
          <p:cNvSpPr txBox="1"/>
          <p:nvPr/>
        </p:nvSpPr>
        <p:spPr>
          <a:xfrm>
            <a:off x="7498079" y="4480560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GMM encuentra segmentos de mayor riesgo.</a:t>
            </a:r>
            <a:endParaRPr/>
          </a:p>
        </p:txBody>
      </p:sp>
      <p:sp>
        <p:nvSpPr>
          <p:cNvPr id="1429" name="Google Shape;1429;p30"/>
          <p:cNvSpPr/>
          <p:nvPr/>
        </p:nvSpPr>
        <p:spPr>
          <a:xfrm>
            <a:off x="10469880" y="3703320"/>
            <a:ext cx="274320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30"/>
          <p:cNvSpPr txBox="1"/>
          <p:nvPr/>
        </p:nvSpPr>
        <p:spPr>
          <a:xfrm>
            <a:off x="10671048" y="39136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463A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31" name="Google Shape;1431;p30"/>
          <p:cNvSpPr txBox="1"/>
          <p:nvPr/>
        </p:nvSpPr>
        <p:spPr>
          <a:xfrm>
            <a:off x="11201400" y="395020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2B4A"/>
                </a:solidFill>
                <a:latin typeface="Calibri"/>
                <a:ea typeface="Calibri"/>
                <a:cs typeface="Calibri"/>
                <a:sym typeface="Calibri"/>
              </a:rPr>
              <a:t>Actuar</a:t>
            </a:r>
            <a:endParaRPr sz="1800"/>
          </a:p>
        </p:txBody>
      </p:sp>
      <p:sp>
        <p:nvSpPr>
          <p:cNvPr id="1432" name="Google Shape;1432;p30"/>
          <p:cNvSpPr txBox="1"/>
          <p:nvPr/>
        </p:nvSpPr>
        <p:spPr>
          <a:xfrm>
            <a:off x="10698480" y="4480560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Operación prioriza recursos y decisiones.</a:t>
            </a:r>
            <a:endParaRPr/>
          </a:p>
        </p:txBody>
      </p:sp>
      <p:sp>
        <p:nvSpPr>
          <p:cNvPr id="1433" name="Google Shape;1433;p30"/>
          <p:cNvSpPr/>
          <p:nvPr/>
        </p:nvSpPr>
        <p:spPr>
          <a:xfrm>
            <a:off x="960120" y="6263640"/>
            <a:ext cx="12481560" cy="749808"/>
          </a:xfrm>
          <a:prstGeom prst="roundRect">
            <a:avLst>
              <a:gd fmla="val 16667" name="adj"/>
            </a:avLst>
          </a:prstGeom>
          <a:solidFill>
            <a:srgbClr val="2463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30"/>
          <p:cNvSpPr txBox="1"/>
          <p:nvPr/>
        </p:nvSpPr>
        <p:spPr>
          <a:xfrm>
            <a:off x="1188720" y="6437376"/>
            <a:ext cx="12024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ventaja no es predecir por predecir: es intervenir antes, en menos casos, con mayor impacto.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