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5" r:id="rId36"/>
    <p:sldId id="260" r:id="rId11"/>
    <p:sldId id="261" r:id="rId12"/>
    <p:sldId id="262" r:id="rId13"/>
    <p:sldId id="270" r:id="rId21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9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2296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640080"/>
            <a:ext cx="2834640" cy="320040"/>
          </a:xfrm>
          <a:prstGeom prst="roundRect">
            <a:avLst/>
          </a:prstGeom>
          <a:solidFill>
            <a:srgbClr val="0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MINERIA DE DATOS | ÚLTIMA MILLA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577840" cy="12344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4300" b="1">
                <a:solidFill>
                  <a:srgbClr val="0E2640"/>
                </a:solidFill>
                <a:latin typeface="Calibri"/>
              </a:rPr>
              <a:t>Predicción de atrasos</a:t>
            </a:r>
            <a:br/>
            <a:r>
              <a:rPr>
                <a:latin typeface="Calibri"/>
              </a:rPr>
              <a:t>en rutas de última milla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16352"/>
            <a:ext cx="5212080" cy="38404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100" b="0">
                <a:solidFill>
                  <a:srgbClr val="64748B"/>
                </a:solidFill>
                <a:latin typeface="Calibri"/>
              </a:rPr>
              <a:t>De reaccionar a los atrasos a anticiparlos con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5120640" cy="7772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Modelo de alerta operativa para detectar riesgo, estimar severidad y focalizar acciones antes de que el atraso ocurra.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234440"/>
            <a:ext cx="4251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11112" y="1380744"/>
            <a:ext cx="347472" cy="347472"/>
          </a:xfrm>
          <a:prstGeom prst="ellipse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9752" y="1399032"/>
            <a:ext cx="30175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0E2640"/>
                </a:solidFill>
                <a:latin typeface="Calibri"/>
              </a:rPr>
              <a:t>Datos históricos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321040" y="1892808"/>
            <a:ext cx="384048" cy="320040"/>
          </a:xfrm>
          <a:prstGeom prst="downArrow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2258568"/>
            <a:ext cx="4251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11112" y="2404872"/>
            <a:ext cx="347472" cy="347472"/>
          </a:xfrm>
          <a:prstGeom prst="ellipse">
            <a:avLst/>
          </a:prstGeom>
          <a:solidFill>
            <a:srgbClr val="1C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2423160"/>
            <a:ext cx="30175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0E2640"/>
                </a:solidFill>
                <a:latin typeface="Calibri"/>
              </a:rPr>
              <a:t>Modelo predictivo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321040" y="2916936"/>
            <a:ext cx="384048" cy="320040"/>
          </a:xfrm>
          <a:prstGeom prst="downArrow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3282696"/>
            <a:ext cx="4251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11112" y="3429000"/>
            <a:ext cx="347472" cy="347472"/>
          </a:xfrm>
          <a:prstGeom prst="ellipse">
            <a:avLst/>
          </a:prstGeom>
          <a:solidFill>
            <a:srgbClr val="E58F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9752" y="3447288"/>
            <a:ext cx="30175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0E2640"/>
                </a:solidFill>
                <a:latin typeface="Calibri"/>
              </a:rPr>
              <a:t>Alerta operativa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321040" y="3941064"/>
            <a:ext cx="384048" cy="320040"/>
          </a:xfrm>
          <a:prstGeom prst="downArrow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306824"/>
            <a:ext cx="4251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11112" y="4453128"/>
            <a:ext cx="347472" cy="347472"/>
          </a:xfrm>
          <a:prstGeom prst="ellipse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9752" y="4471416"/>
            <a:ext cx="30175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0E2640"/>
                </a:solidFill>
                <a:latin typeface="Calibri"/>
              </a:rPr>
              <a:t>Acción preventiva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200" b="1">
                <a:solidFill>
                  <a:srgbClr val="2463AA"/>
                </a:solidFill>
                <a:latin typeface="Calibri"/>
              </a:rPr>
              <a:t>PROBLEMA Y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3000" b="1">
                <a:solidFill>
                  <a:srgbClr val="142B4A"/>
                </a:solidFill>
                <a:latin typeface="Calibri"/>
              </a:rPr>
              <a:t>Anticipar atrasos antes de que impacten al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117043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El desafio no es solo medir que entregas llegaron tarde, sino detectar riesgo mientras todavia hay margen operativo para actuar.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56231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4617720" cy="3337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33472"/>
            <a:ext cx="4069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600" b="1">
                <a:solidFill>
                  <a:srgbClr val="D64550"/>
                </a:solidFill>
                <a:latin typeface="Calibri"/>
              </a:rPr>
              <a:t>Problema operativo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63240"/>
            <a:ext cx="3977639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3800" b="1">
                <a:solidFill>
                  <a:srgbClr val="D64550"/>
                </a:solidFill>
                <a:latin typeface="Calibri"/>
              </a:rPr>
              <a:t>1 de cada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67328"/>
            <a:ext cx="3749039" cy="29260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142B4A"/>
                </a:solidFill>
                <a:latin typeface="Calibri"/>
              </a:rPr>
              <a:t>entregas llega tarde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70832"/>
            <a:ext cx="3931920" cy="694944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500" b="0">
                <a:solidFill>
                  <a:srgbClr val="232D3C"/>
                </a:solidFill>
                <a:latin typeface="Calibri"/>
              </a:rPr>
              <a:t>Ese grupo minoritario concentra costo: espera del cliente, reprogramaciones, llamadas y perdida de confianza.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331720"/>
            <a:ext cx="7863840" cy="3337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633472"/>
            <a:ext cx="72694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600" b="1">
                <a:solidFill>
                  <a:srgbClr val="2463AA"/>
                </a:solidFill>
                <a:latin typeface="Calibri"/>
              </a:rPr>
              <a:t>Objetivo del proyecto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54680"/>
            <a:ext cx="32461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364992"/>
            <a:ext cx="288036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100" b="1">
                <a:solidFill>
                  <a:srgbClr val="28A745"/>
                </a:solidFill>
                <a:latin typeface="Calibri"/>
              </a:rPr>
              <a:t>CLASIFICACIÓN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49039"/>
            <a:ext cx="2788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142B4A"/>
                </a:solidFill>
                <a:latin typeface="Calibri"/>
              </a:rPr>
              <a:t>¿Llegará tarde?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87952"/>
            <a:ext cx="27889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500" b="0">
                <a:solidFill>
                  <a:srgbClr val="232D3C"/>
                </a:solidFill>
                <a:latin typeface="Calibri"/>
              </a:rPr>
              <a:t>Detectar riesgo de atraso
Sí / 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3154680"/>
            <a:ext cx="32461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95559" y="3364992"/>
            <a:ext cx="288036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100" b="1">
                <a:solidFill>
                  <a:srgbClr val="F2994A"/>
                </a:solidFill>
                <a:latin typeface="Calibri"/>
              </a:rPr>
              <a:t>REGRESIÓN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749039"/>
            <a:ext cx="2788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800" b="1">
                <a:solidFill>
                  <a:srgbClr val="142B4A"/>
                </a:solidFill>
                <a:latin typeface="Calibri"/>
              </a:rPr>
              <a:t>¿Cuántos minutos?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4187952"/>
            <a:ext cx="27889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500" b="0">
                <a:solidFill>
                  <a:srgbClr val="232D3C"/>
                </a:solidFill>
                <a:latin typeface="Calibri"/>
              </a:rPr>
              <a:t>Estimar severidad
del delay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6263640"/>
            <a:ext cx="12938760" cy="777240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6428232"/>
            <a:ext cx="1248156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Resultado esperado: pasar de reaccionar tarde a priorizar entregas en riesgo antes de que el atraso ocurra.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95960" y="7635240"/>
            <a:ext cx="4114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900" b="1">
                <a:solidFill>
                  <a:srgbClr val="606C7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1600200" cy="292608"/>
          </a:xfrm>
          <a:prstGeom prst="roundRect">
            <a:avLst/>
          </a:prstGeom>
          <a:solidFill>
            <a:srgbClr val="0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8046720" cy="4754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0E2640"/>
                </a:solidFill>
                <a:latin typeface="Calibri"/>
              </a:rPr>
              <a:t>CRISP-DM aplicado al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9875520" cy="40233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Calibri"/>
              </a:rPr>
              <a:t>La presentación sigue la misma lógica del proyecto: entender el negocio, preparar datos, modelar y traducir resultados a decisiones.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441448"/>
            <a:ext cx="438912" cy="438912"/>
          </a:xfrm>
          <a:prstGeom prst="ellipse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523744"/>
            <a:ext cx="22860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404872"/>
            <a:ext cx="196596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2640"/>
                </a:solidFill>
                <a:latin typeface="Calibri"/>
              </a:rPr>
              <a:t>Business</a:t>
            </a:r>
            <a:br/>
            <a:r>
              <a:rPr>
                <a:latin typeface="Calibri"/>
              </a:rPr>
              <a:t>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99816"/>
            <a:ext cx="2514600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Problema operativo y objetivos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4028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3712" y="2441448"/>
            <a:ext cx="438912" cy="438912"/>
          </a:xfrm>
          <a:prstGeom prst="ellipse">
            <a:avLst/>
          </a:prstGeom>
          <a:solidFill>
            <a:srgbClr val="1C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523744"/>
            <a:ext cx="22860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404872"/>
            <a:ext cx="196596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2640"/>
                </a:solidFill>
                <a:latin typeface="Calibri"/>
              </a:rPr>
              <a:t>Data</a:t>
            </a:r>
            <a:br/>
            <a:r>
              <a:rPr>
                <a:latin typeface="Calibri"/>
              </a:rPr>
              <a:t>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099816"/>
            <a:ext cx="2514600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Variables, atraso, calidad y outliers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24028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11312" y="2441448"/>
            <a:ext cx="438912" cy="438912"/>
          </a:xfrm>
          <a:prstGeom prst="ellipse">
            <a:avLst/>
          </a:prstGeom>
          <a:solidFill>
            <a:srgbClr val="E58F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523744"/>
            <a:ext cx="22860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2404872"/>
            <a:ext cx="196596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2640"/>
                </a:solidFill>
                <a:latin typeface="Calibri"/>
              </a:rPr>
              <a:t>Data</a:t>
            </a:r>
            <a:br/>
            <a:r>
              <a:rPr>
                <a:latin typeface="Calibri"/>
              </a:rPr>
              <a:t>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099816"/>
            <a:ext cx="2514600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Limpieza, features y split temporal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4340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4544568"/>
            <a:ext cx="438912" cy="438912"/>
          </a:xfrm>
          <a:prstGeom prst="ellipse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" y="4626864"/>
            <a:ext cx="22860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507992"/>
            <a:ext cx="196596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2640"/>
                </a:solidFill>
                <a:latin typeface="Calibri"/>
              </a:rPr>
              <a:t>Modeling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202936"/>
            <a:ext cx="2514600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Clasificación, regresión y clustering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34340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53712" y="4544568"/>
            <a:ext cx="438912" cy="438912"/>
          </a:xfrm>
          <a:prstGeom prst="ellipse">
            <a:avLst/>
          </a:prstGeom>
          <a:solidFill>
            <a:srgbClr val="1C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4626864"/>
            <a:ext cx="22860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4507992"/>
            <a:ext cx="196596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2640"/>
                </a:solidFill>
                <a:latin typeface="Calibri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5202936"/>
            <a:ext cx="2514600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Métricas, umbrales y validación temporal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343400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11312" y="4544568"/>
            <a:ext cx="438912" cy="438912"/>
          </a:xfrm>
          <a:prstGeom prst="ellipse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4626864"/>
            <a:ext cx="22860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4507992"/>
            <a:ext cx="196596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2640"/>
                </a:solidFill>
                <a:latin typeface="Calibri"/>
              </a:rPr>
              <a:t>Recommendations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5202936"/>
            <a:ext cx="2514600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Calibri"/>
              </a:rPr>
              <a:t>Alertas y acciones focalizadas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2148840" cy="292608"/>
          </a:xfrm>
          <a:prstGeom prst="roundRect">
            <a:avLst/>
          </a:prstGeom>
          <a:solidFill>
            <a:srgbClr val="0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DATA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96696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100" b="1">
                <a:solidFill>
                  <a:srgbClr val="0E2640"/>
                </a:solidFill>
                <a:latin typeface="Calibri"/>
              </a:rPr>
              <a:t>Variables del dataset: qué sabemos de cada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149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30" b="0">
                <a:solidFill>
                  <a:srgbClr val="64748B"/>
                </a:solidFill>
                <a:latin typeface="Calibri"/>
              </a:rPr>
              <a:t>El dataset combina planificación, ejecución y contexto. Desde ahi se construyen dos objetivos: atraso sí/no y minutos de delay.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1821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2286000"/>
            <a:ext cx="1965960" cy="274320"/>
          </a:xfrm>
          <a:prstGeom prst="round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PLANIFICACIÓN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70632"/>
            <a:ext cx="2560320" cy="1143000"/>
          </a:xfrm>
          <a:prstGeom prst="rect">
            <a:avLst/>
          </a:prstGeom>
          <a:noFill/>
        </p:spPr>
        <p:txBody>
          <a:bodyPr wrap="square" lIns="64008" rIns="64008" tIns="18288" bIns="18288">
            <a:spAutoFit/>
          </a:bodyPr>
          <a:lstStyle/>
          <a:p>
            <a:pPr>
              <a:spcAft>
                <a:spcPts val="2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rPr>
                <a:latin typeface="Calibri"/>
              </a:rPr>
              <a:t>Earliest Time</a:t>
            </a:r>
          </a:p>
          <a:p>
            <a:pPr>
              <a:spcAft>
                <a:spcPts val="2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rPr>
                <a:latin typeface="Calibri"/>
              </a:rPr>
              <a:t>Latest Time</a:t>
            </a:r>
          </a:p>
          <a:p>
            <a:pPr>
              <a:spcAft>
                <a:spcPts val="2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rPr>
                <a:latin typeface="Calibri"/>
              </a:rPr>
              <a:t>IndexP</a:t>
            </a:r>
          </a:p>
          <a:p>
            <a:pPr>
              <a:spcAft>
                <a:spcPts val="2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rPr>
                <a:latin typeface="Calibri"/>
              </a:rPr>
              <a:t>DistanceP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057400"/>
            <a:ext cx="31821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08576" y="2286000"/>
            <a:ext cx="1965960" cy="274320"/>
          </a:xfrm>
          <a:prstGeom prst="roundRect">
            <a:avLst/>
          </a:prstGeom>
          <a:solidFill>
            <a:srgbClr val="1C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EJECUCIÓN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770632"/>
            <a:ext cx="2560320" cy="1143000"/>
          </a:xfrm>
          <a:prstGeom prst="rect">
            <a:avLst/>
          </a:prstGeom>
          <a:noFill/>
        </p:spPr>
        <p:txBody>
          <a:bodyPr wrap="square" lIns="64008" rIns="64008" tIns="18288" bIns="18288">
            <a:spAutoFit/>
          </a:bodyPr>
          <a:lstStyle/>
          <a:p>
            <a:pPr>
              <a:spcAft>
                <a:spcPts val="2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rPr>
                <a:latin typeface="Calibri"/>
              </a:rPr>
              <a:t>Arrived Time</a:t>
            </a:r>
          </a:p>
          <a:p>
            <a:pPr>
              <a:spcAft>
                <a:spcPts val="2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rPr>
                <a:latin typeface="Calibri"/>
              </a:rPr>
              <a:t>IndexA</a:t>
            </a:r>
          </a:p>
          <a:p>
            <a:pPr>
              <a:spcAft>
                <a:spcPts val="2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rPr>
                <a:latin typeface="Calibri"/>
              </a:rPr>
              <a:t>DistanceA</a:t>
            </a:r>
          </a:p>
          <a:p>
            <a:pPr>
              <a:spcAft>
                <a:spcPts val="2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rPr>
                <a:latin typeface="Calibri"/>
              </a:rPr>
              <a:t>route_deviation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2057400"/>
            <a:ext cx="31821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30184" y="2286000"/>
            <a:ext cx="1965960" cy="274320"/>
          </a:xfrm>
          <a:prstGeom prst="roundRect">
            <a:avLst/>
          </a:prstGeom>
          <a:solidFill>
            <a:srgbClr val="E58F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CONTEXTO OPERATIVO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9056" y="2770632"/>
            <a:ext cx="2560320" cy="1143000"/>
          </a:xfrm>
          <a:prstGeom prst="rect">
            <a:avLst/>
          </a:prstGeom>
          <a:noFill/>
        </p:spPr>
        <p:txBody>
          <a:bodyPr wrap="square" lIns="64008" rIns="64008" tIns="18288" bIns="18288">
            <a:spAutoFit/>
          </a:bodyPr>
          <a:lstStyle/>
          <a:p>
            <a:pPr>
              <a:spcAft>
                <a:spcPts val="2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rPr>
                <a:latin typeface="Calibri"/>
              </a:rPr>
              <a:t>Week ID</a:t>
            </a:r>
          </a:p>
          <a:p>
            <a:pPr>
              <a:spcAft>
                <a:spcPts val="2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rPr>
                <a:latin typeface="Calibri"/>
              </a:rPr>
              <a:t>Country</a:t>
            </a:r>
          </a:p>
          <a:p>
            <a:pPr>
              <a:spcAft>
                <a:spcPts val="2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rPr>
                <a:latin typeface="Calibri"/>
              </a:rPr>
              <a:t>Day of Week</a:t>
            </a:r>
          </a:p>
          <a:p>
            <a:pPr>
              <a:spcAft>
                <a:spcPts val="2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rPr>
                <a:latin typeface="Calibri"/>
              </a:rPr>
              <a:t>Route ID</a:t>
            </a:r>
          </a:p>
          <a:p>
            <a:pPr>
              <a:spcAft>
                <a:spcPts val="2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rPr>
                <a:latin typeface="Calibri"/>
              </a:rPr>
              <a:t>Driver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828032"/>
            <a:ext cx="4526280" cy="896112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4983480"/>
            <a:ext cx="33832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A6FAF"/>
                </a:solidFill>
                <a:latin typeface="Calibri"/>
              </a:rPr>
              <a:t>Variable objetivo categórica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5321808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50" b="0">
                <a:solidFill>
                  <a:srgbClr val="1E293B"/>
                </a:solidFill>
                <a:latin typeface="Calibri"/>
              </a:rPr>
              <a:t>delayed -&gt; llega tarde / no llega tarde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828032"/>
            <a:ext cx="4526280" cy="8961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4983480"/>
            <a:ext cx="33832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C9688"/>
                </a:solidFill>
                <a:latin typeface="Calibri"/>
              </a:rPr>
              <a:t>Variable objetivo numérica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5321808"/>
            <a:ext cx="3977639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50" b="0">
                <a:solidFill>
                  <a:srgbClr val="1E293B"/>
                </a:solidFill>
                <a:latin typeface="Calibri"/>
              </a:rPr>
              <a:t>delay -&gt; minutos de atraso respecto al límite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6016752"/>
            <a:ext cx="96926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80" b="1">
                <a:solidFill>
                  <a:srgbClr val="0E2640"/>
                </a:solidFill>
                <a:latin typeface="Calibri"/>
              </a:rPr>
              <a:t>Lectura inicial: el atraso afecta a ~9-10% de entregas; no es masivo, pero concentra costo y riesgo operacional.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5303520" cy="32004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MATRIZ DE CORRELACIÓN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704320" cy="530352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La correlación lineal no alcanza para explicar el atraso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2161520" cy="41148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El heatmap se usa como diagnóstico: muestra redundancias y riesgos de leakage, pero también evidencia que hace falta feature engineering.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73935"/>
            <a:ext cx="438912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50" b="1">
                <a:solidFill>
                  <a:srgbClr val="606C7B"/>
                </a:solidFill>
                <a:latin typeface="Calibri"/>
              </a:rPr>
              <a:t>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1773935"/>
            <a:ext cx="438912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50" b="1">
                <a:solidFill>
                  <a:srgbClr val="606C7B"/>
                </a:solidFill>
                <a:latin typeface="Calibri"/>
              </a:rPr>
              <a:t>Ctry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9424" y="1773935"/>
            <a:ext cx="438912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50" b="1">
                <a:solidFill>
                  <a:srgbClr val="606C7B"/>
                </a:solidFill>
                <a:latin typeface="Calibri"/>
              </a:rPr>
              <a:t>IdxP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1773935"/>
            <a:ext cx="438912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50" b="1">
                <a:solidFill>
                  <a:srgbClr val="606C7B"/>
                </a:solidFill>
                <a:latin typeface="Calibri"/>
              </a:rPr>
              <a:t>IdxA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773935"/>
            <a:ext cx="438912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50" b="1">
                <a:solidFill>
                  <a:srgbClr val="606C7B"/>
                </a:solidFill>
                <a:latin typeface="Calibri"/>
              </a:rPr>
              <a:t>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73935"/>
            <a:ext cx="438912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50" b="1">
                <a:solidFill>
                  <a:srgbClr val="606C7B"/>
                </a:solidFill>
                <a:latin typeface="Calibri"/>
              </a:rPr>
              <a:t>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1773935"/>
            <a:ext cx="438912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50" b="1">
                <a:solidFill>
                  <a:srgbClr val="606C7B"/>
                </a:solidFill>
                <a:latin typeface="Calibri"/>
              </a:rPr>
              <a:t>Lat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3" y="1773935"/>
            <a:ext cx="438912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50" b="1">
                <a:solidFill>
                  <a:srgbClr val="606C7B"/>
                </a:solidFill>
                <a:latin typeface="Calibri"/>
              </a:rPr>
              <a:t>DistP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1773935"/>
            <a:ext cx="438912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50" b="1">
                <a:solidFill>
                  <a:srgbClr val="606C7B"/>
                </a:solidFill>
                <a:latin typeface="Calibri"/>
              </a:rPr>
              <a:t>DistA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1773935"/>
            <a:ext cx="438912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50" b="1">
                <a:solidFill>
                  <a:srgbClr val="606C7B"/>
                </a:solidFill>
                <a:latin typeface="Calibri"/>
              </a:rPr>
              <a:t>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773935"/>
            <a:ext cx="438912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50" b="1">
                <a:solidFill>
                  <a:srgbClr val="606C7B"/>
                </a:solidFill>
                <a:latin typeface="Calibri"/>
              </a:rPr>
              <a:t>delay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1" y="1773935"/>
            <a:ext cx="438912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50" b="1">
                <a:solidFill>
                  <a:srgbClr val="606C7B"/>
                </a:solidFill>
                <a:latin typeface="Calibri"/>
              </a:rPr>
              <a:t>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203703"/>
            <a:ext cx="621792" cy="173736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750" b="1">
                <a:solidFill>
                  <a:srgbClr val="606C7B"/>
                </a:solidFill>
                <a:latin typeface="Calibri"/>
              </a:rPr>
              <a:t>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642615"/>
            <a:ext cx="621792" cy="173736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750" b="1">
                <a:solidFill>
                  <a:srgbClr val="606C7B"/>
                </a:solidFill>
                <a:latin typeface="Calibri"/>
              </a:rPr>
              <a:t>Ctry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081527"/>
            <a:ext cx="621792" cy="173736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750" b="1">
                <a:solidFill>
                  <a:srgbClr val="606C7B"/>
                </a:solidFill>
                <a:latin typeface="Calibri"/>
              </a:rPr>
              <a:t>IdxP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520439"/>
            <a:ext cx="621792" cy="173736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750" b="1">
                <a:solidFill>
                  <a:srgbClr val="606C7B"/>
                </a:solidFill>
                <a:latin typeface="Calibri"/>
              </a:rPr>
              <a:t>IdxA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959352"/>
            <a:ext cx="621792" cy="173736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750" b="1">
                <a:solidFill>
                  <a:srgbClr val="606C7B"/>
                </a:solidFill>
                <a:latin typeface="Calibri"/>
              </a:rPr>
              <a:t>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98264"/>
            <a:ext cx="621792" cy="173736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750" b="1">
                <a:solidFill>
                  <a:srgbClr val="606C7B"/>
                </a:solidFill>
                <a:latin typeface="Calibri"/>
              </a:rPr>
              <a:t>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837175"/>
            <a:ext cx="621792" cy="173736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750" b="1">
                <a:solidFill>
                  <a:srgbClr val="606C7B"/>
                </a:solidFill>
                <a:latin typeface="Calibri"/>
              </a:rPr>
              <a:t>Lat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276088"/>
            <a:ext cx="621792" cy="173736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750" b="1">
                <a:solidFill>
                  <a:srgbClr val="606C7B"/>
                </a:solidFill>
                <a:latin typeface="Calibri"/>
              </a:rPr>
              <a:t>DistP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715000"/>
            <a:ext cx="621792" cy="173736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750" b="1">
                <a:solidFill>
                  <a:srgbClr val="606C7B"/>
                </a:solidFill>
                <a:latin typeface="Calibri"/>
              </a:rPr>
              <a:t>DistA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153912"/>
            <a:ext cx="621792" cy="173736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750" b="1">
                <a:solidFill>
                  <a:srgbClr val="606C7B"/>
                </a:solidFill>
                <a:latin typeface="Calibri"/>
              </a:rPr>
              <a:t>Dev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592823"/>
            <a:ext cx="621792" cy="173736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750" b="1">
                <a:solidFill>
                  <a:srgbClr val="606C7B"/>
                </a:solidFill>
                <a:latin typeface="Calibri"/>
              </a:rPr>
              <a:t>delay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7031736"/>
            <a:ext cx="621792" cy="173736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750" b="1">
                <a:solidFill>
                  <a:srgbClr val="606C7B"/>
                </a:solidFill>
                <a:latin typeface="Calibri"/>
              </a:rPr>
              <a:t>late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2084831"/>
            <a:ext cx="438912" cy="438912"/>
          </a:xfrm>
          <a:prstGeom prst="rect">
            <a:avLst/>
          </a:prstGeom>
          <a:solidFill>
            <a:srgbClr val="BE2D3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744" y="2231136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10512" y="2084831"/>
            <a:ext cx="438912" cy="438912"/>
          </a:xfrm>
          <a:prstGeom prst="rect">
            <a:avLst/>
          </a:prstGeom>
          <a:solidFill>
            <a:srgbClr val="EEDEE3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49424" y="2084831"/>
            <a:ext cx="438912" cy="438912"/>
          </a:xfrm>
          <a:prstGeom prst="rect">
            <a:avLst/>
          </a:prstGeom>
          <a:solidFill>
            <a:srgbClr val="F2EEF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88336" y="2084831"/>
            <a:ext cx="438912" cy="438912"/>
          </a:xfrm>
          <a:prstGeom prst="rect">
            <a:avLst/>
          </a:prstGeom>
          <a:solidFill>
            <a:srgbClr val="F2EEF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27248" y="2084831"/>
            <a:ext cx="438912" cy="438912"/>
          </a:xfrm>
          <a:prstGeom prst="rect">
            <a:avLst/>
          </a:prstGeom>
          <a:solidFill>
            <a:srgbClr val="DFE6F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66160" y="2084831"/>
            <a:ext cx="438912" cy="438912"/>
          </a:xfrm>
          <a:prstGeom prst="rect">
            <a:avLst/>
          </a:prstGeom>
          <a:solidFill>
            <a:srgbClr val="E5EBF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05072" y="2084831"/>
            <a:ext cx="438912" cy="438912"/>
          </a:xfrm>
          <a:prstGeom prst="rect">
            <a:avLst/>
          </a:prstGeom>
          <a:solidFill>
            <a:srgbClr val="E7ECF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43983" y="2084831"/>
            <a:ext cx="438912" cy="438912"/>
          </a:xfrm>
          <a:prstGeom prst="rect">
            <a:avLst/>
          </a:prstGeom>
          <a:solidFill>
            <a:srgbClr val="F3F5F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82896" y="2084831"/>
            <a:ext cx="438912" cy="438912"/>
          </a:xfrm>
          <a:prstGeom prst="rect">
            <a:avLst/>
          </a:prstGeom>
          <a:solidFill>
            <a:srgbClr val="F3F5F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21808" y="2084831"/>
            <a:ext cx="438912" cy="438912"/>
          </a:xfrm>
          <a:prstGeom prst="rect">
            <a:avLst/>
          </a:prstGeom>
          <a:solidFill>
            <a:srgbClr val="F3F5F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60720" y="2084831"/>
            <a:ext cx="438912" cy="438912"/>
          </a:xfrm>
          <a:prstGeom prst="rect">
            <a:avLst/>
          </a:prstGeom>
          <a:solidFill>
            <a:srgbClr val="F1F4F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9631" y="2084831"/>
            <a:ext cx="438912" cy="438912"/>
          </a:xfrm>
          <a:prstGeom prst="rect">
            <a:avLst/>
          </a:prstGeom>
          <a:solidFill>
            <a:srgbClr val="EDF1F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371600" y="2523744"/>
            <a:ext cx="438912" cy="438912"/>
          </a:xfrm>
          <a:prstGeom prst="rect">
            <a:avLst/>
          </a:prstGeom>
          <a:solidFill>
            <a:srgbClr val="EEDEE3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810512" y="2523744"/>
            <a:ext cx="438912" cy="438912"/>
          </a:xfrm>
          <a:prstGeom prst="rect">
            <a:avLst/>
          </a:prstGeom>
          <a:solidFill>
            <a:srgbClr val="BE2D3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19656" y="2670048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49424" y="2523744"/>
            <a:ext cx="438912" cy="438912"/>
          </a:xfrm>
          <a:prstGeom prst="rect">
            <a:avLst/>
          </a:prstGeom>
          <a:solidFill>
            <a:srgbClr val="ECD8DD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88336" y="2523744"/>
            <a:ext cx="438912" cy="438912"/>
          </a:xfrm>
          <a:prstGeom prst="rect">
            <a:avLst/>
          </a:prstGeom>
          <a:solidFill>
            <a:srgbClr val="ECD8DD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27248" y="2523744"/>
            <a:ext cx="438912" cy="438912"/>
          </a:xfrm>
          <a:prstGeom prst="rect">
            <a:avLst/>
          </a:prstGeom>
          <a:solidFill>
            <a:srgbClr val="D3DEF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66160" y="2523744"/>
            <a:ext cx="438912" cy="438912"/>
          </a:xfrm>
          <a:prstGeom prst="rect">
            <a:avLst/>
          </a:prstGeom>
          <a:solidFill>
            <a:srgbClr val="EDDC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05072" y="2523744"/>
            <a:ext cx="438912" cy="438912"/>
          </a:xfrm>
          <a:prstGeom prst="rect">
            <a:avLst/>
          </a:prstGeom>
          <a:solidFill>
            <a:srgbClr val="C0CFE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43983" y="2523744"/>
            <a:ext cx="438912" cy="438912"/>
          </a:xfrm>
          <a:prstGeom prst="rect">
            <a:avLst/>
          </a:prstGeom>
          <a:solidFill>
            <a:srgbClr val="D5DFF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82896" y="2523744"/>
            <a:ext cx="438912" cy="438912"/>
          </a:xfrm>
          <a:prstGeom prst="rect">
            <a:avLst/>
          </a:prstGeom>
          <a:solidFill>
            <a:srgbClr val="D5DFF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21808" y="2523744"/>
            <a:ext cx="438912" cy="438912"/>
          </a:xfrm>
          <a:prstGeom prst="rect">
            <a:avLst/>
          </a:prstGeom>
          <a:solidFill>
            <a:srgbClr val="ECD6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760720" y="2523744"/>
            <a:ext cx="438912" cy="438912"/>
          </a:xfrm>
          <a:prstGeom prst="rect">
            <a:avLst/>
          </a:prstGeom>
          <a:solidFill>
            <a:srgbClr val="EDDAD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99631" y="2523744"/>
            <a:ext cx="438912" cy="438912"/>
          </a:xfrm>
          <a:prstGeom prst="rect">
            <a:avLst/>
          </a:prstGeom>
          <a:solidFill>
            <a:srgbClr val="E9EEF7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71600" y="2962656"/>
            <a:ext cx="438912" cy="438912"/>
          </a:xfrm>
          <a:prstGeom prst="rect">
            <a:avLst/>
          </a:prstGeom>
          <a:solidFill>
            <a:srgbClr val="F2EEF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10512" y="2962656"/>
            <a:ext cx="438912" cy="438912"/>
          </a:xfrm>
          <a:prstGeom prst="rect">
            <a:avLst/>
          </a:prstGeom>
          <a:solidFill>
            <a:srgbClr val="ECD8DD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249424" y="2962656"/>
            <a:ext cx="438912" cy="438912"/>
          </a:xfrm>
          <a:prstGeom prst="rect">
            <a:avLst/>
          </a:prstGeom>
          <a:solidFill>
            <a:srgbClr val="BE2D3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58568" y="3108960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88336" y="2962656"/>
            <a:ext cx="438912" cy="438912"/>
          </a:xfrm>
          <a:prstGeom prst="rect">
            <a:avLst/>
          </a:prstGeom>
          <a:solidFill>
            <a:srgbClr val="C7515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97479" y="3108960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0.82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27248" y="2962656"/>
            <a:ext cx="438912" cy="438912"/>
          </a:xfrm>
          <a:prstGeom prst="rect">
            <a:avLst/>
          </a:prstGeom>
          <a:solidFill>
            <a:srgbClr val="DEA4A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566160" y="2962656"/>
            <a:ext cx="438912" cy="438912"/>
          </a:xfrm>
          <a:prstGeom prst="rect">
            <a:avLst/>
          </a:prstGeom>
          <a:solidFill>
            <a:srgbClr val="E6C2C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05072" y="2962656"/>
            <a:ext cx="438912" cy="438912"/>
          </a:xfrm>
          <a:prstGeom prst="rect">
            <a:avLst/>
          </a:prstGeom>
          <a:solidFill>
            <a:srgbClr val="E4BAC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43983" y="2962656"/>
            <a:ext cx="438912" cy="438912"/>
          </a:xfrm>
          <a:prstGeom prst="rect">
            <a:avLst/>
          </a:prstGeom>
          <a:solidFill>
            <a:srgbClr val="CED9F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882896" y="2962656"/>
            <a:ext cx="438912" cy="438912"/>
          </a:xfrm>
          <a:prstGeom prst="rect">
            <a:avLst/>
          </a:prstGeom>
          <a:solidFill>
            <a:srgbClr val="D3DEF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21808" y="2962656"/>
            <a:ext cx="438912" cy="438912"/>
          </a:xfrm>
          <a:prstGeom prst="rect">
            <a:avLst/>
          </a:prstGeom>
          <a:solidFill>
            <a:srgbClr val="EBD2D7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60720" y="2962656"/>
            <a:ext cx="438912" cy="438912"/>
          </a:xfrm>
          <a:prstGeom prst="rect">
            <a:avLst/>
          </a:prstGeom>
          <a:solidFill>
            <a:srgbClr val="F2ECF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99631" y="2962656"/>
            <a:ext cx="438912" cy="438912"/>
          </a:xfrm>
          <a:prstGeom prst="rect">
            <a:avLst/>
          </a:prstGeom>
          <a:solidFill>
            <a:srgbClr val="F1EAE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371600" y="3401568"/>
            <a:ext cx="438912" cy="438912"/>
          </a:xfrm>
          <a:prstGeom prst="rect">
            <a:avLst/>
          </a:prstGeom>
          <a:solidFill>
            <a:srgbClr val="F2EEF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810512" y="3401568"/>
            <a:ext cx="438912" cy="438912"/>
          </a:xfrm>
          <a:prstGeom prst="rect">
            <a:avLst/>
          </a:prstGeom>
          <a:solidFill>
            <a:srgbClr val="ECD8DD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249424" y="3401568"/>
            <a:ext cx="438912" cy="438912"/>
          </a:xfrm>
          <a:prstGeom prst="rect">
            <a:avLst/>
          </a:prstGeom>
          <a:solidFill>
            <a:srgbClr val="C7515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58568" y="3547872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0.82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88336" y="3401568"/>
            <a:ext cx="438912" cy="438912"/>
          </a:xfrm>
          <a:prstGeom prst="rect">
            <a:avLst/>
          </a:prstGeom>
          <a:solidFill>
            <a:srgbClr val="BE2D3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97479" y="3547872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27248" y="3401568"/>
            <a:ext cx="438912" cy="438912"/>
          </a:xfrm>
          <a:prstGeom prst="rect">
            <a:avLst/>
          </a:prstGeom>
          <a:solidFill>
            <a:srgbClr val="D78B9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36391" y="3547872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0.53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566160" y="3401568"/>
            <a:ext cx="438912" cy="438912"/>
          </a:xfrm>
          <a:prstGeom prst="rect">
            <a:avLst/>
          </a:prstGeom>
          <a:solidFill>
            <a:srgbClr val="E7C6C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005072" y="3401568"/>
            <a:ext cx="438912" cy="438912"/>
          </a:xfrm>
          <a:prstGeom prst="rect">
            <a:avLst/>
          </a:prstGeom>
          <a:solidFill>
            <a:srgbClr val="E5BE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443983" y="3401568"/>
            <a:ext cx="438912" cy="438912"/>
          </a:xfrm>
          <a:prstGeom prst="rect">
            <a:avLst/>
          </a:prstGeom>
          <a:solidFill>
            <a:srgbClr val="D1DCF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882896" y="3401568"/>
            <a:ext cx="438912" cy="438912"/>
          </a:xfrm>
          <a:prstGeom prst="rect">
            <a:avLst/>
          </a:prstGeom>
          <a:solidFill>
            <a:srgbClr val="CED9F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321808" y="3401568"/>
            <a:ext cx="438912" cy="438912"/>
          </a:xfrm>
          <a:prstGeom prst="rect">
            <a:avLst/>
          </a:prstGeom>
          <a:solidFill>
            <a:srgbClr val="EDDAD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3401568"/>
            <a:ext cx="438912" cy="438912"/>
          </a:xfrm>
          <a:prstGeom prst="rect">
            <a:avLst/>
          </a:prstGeom>
          <a:solidFill>
            <a:srgbClr val="EBD4D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99631" y="3401568"/>
            <a:ext cx="438912" cy="438912"/>
          </a:xfrm>
          <a:prstGeom prst="rect">
            <a:avLst/>
          </a:prstGeom>
          <a:solidFill>
            <a:srgbClr val="EDDAD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371600" y="3840479"/>
            <a:ext cx="438912" cy="438912"/>
          </a:xfrm>
          <a:prstGeom prst="rect">
            <a:avLst/>
          </a:prstGeom>
          <a:solidFill>
            <a:srgbClr val="DFE6F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810512" y="3840479"/>
            <a:ext cx="438912" cy="438912"/>
          </a:xfrm>
          <a:prstGeom prst="rect">
            <a:avLst/>
          </a:prstGeom>
          <a:solidFill>
            <a:srgbClr val="D3DEF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249424" y="3840479"/>
            <a:ext cx="438912" cy="438912"/>
          </a:xfrm>
          <a:prstGeom prst="rect">
            <a:avLst/>
          </a:prstGeom>
          <a:solidFill>
            <a:srgbClr val="DEA4A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88336" y="3840479"/>
            <a:ext cx="438912" cy="438912"/>
          </a:xfrm>
          <a:prstGeom prst="rect">
            <a:avLst/>
          </a:prstGeom>
          <a:solidFill>
            <a:srgbClr val="D78B9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97479" y="3986783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0.53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127248" y="3840479"/>
            <a:ext cx="438912" cy="438912"/>
          </a:xfrm>
          <a:prstGeom prst="rect">
            <a:avLst/>
          </a:prstGeom>
          <a:solidFill>
            <a:srgbClr val="BE2D3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136391" y="3986783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566160" y="3840479"/>
            <a:ext cx="438912" cy="438912"/>
          </a:xfrm>
          <a:prstGeom prst="rect">
            <a:avLst/>
          </a:prstGeom>
          <a:solidFill>
            <a:srgbClr val="DDA0A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005072" y="3840479"/>
            <a:ext cx="438912" cy="438912"/>
          </a:xfrm>
          <a:prstGeom prst="rect">
            <a:avLst/>
          </a:prstGeom>
          <a:solidFill>
            <a:srgbClr val="D687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014215" y="3986783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0.55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43983" y="3840479"/>
            <a:ext cx="438912" cy="438912"/>
          </a:xfrm>
          <a:prstGeom prst="rect">
            <a:avLst/>
          </a:prstGeom>
          <a:solidFill>
            <a:srgbClr val="F1F4F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882896" y="3840479"/>
            <a:ext cx="438912" cy="438912"/>
          </a:xfrm>
          <a:prstGeom prst="rect">
            <a:avLst/>
          </a:prstGeom>
          <a:solidFill>
            <a:srgbClr val="EFF2F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321808" y="3840479"/>
            <a:ext cx="438912" cy="438912"/>
          </a:xfrm>
          <a:prstGeom prst="rect">
            <a:avLst/>
          </a:prstGeom>
          <a:solidFill>
            <a:srgbClr val="EFF2F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760720" y="3840479"/>
            <a:ext cx="438912" cy="438912"/>
          </a:xfrm>
          <a:prstGeom prst="rect">
            <a:avLst/>
          </a:prstGeom>
          <a:solidFill>
            <a:srgbClr val="E3B8B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199631" y="3840479"/>
            <a:ext cx="438912" cy="438912"/>
          </a:xfrm>
          <a:prstGeom prst="rect">
            <a:avLst/>
          </a:prstGeom>
          <a:solidFill>
            <a:srgbClr val="E1AEB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371600" y="4279392"/>
            <a:ext cx="438912" cy="438912"/>
          </a:xfrm>
          <a:prstGeom prst="rect">
            <a:avLst/>
          </a:prstGeom>
          <a:solidFill>
            <a:srgbClr val="E5EBF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810512" y="4279392"/>
            <a:ext cx="438912" cy="438912"/>
          </a:xfrm>
          <a:prstGeom prst="rect">
            <a:avLst/>
          </a:prstGeom>
          <a:solidFill>
            <a:srgbClr val="EDDC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249424" y="4279392"/>
            <a:ext cx="438912" cy="438912"/>
          </a:xfrm>
          <a:prstGeom prst="rect">
            <a:avLst/>
          </a:prstGeom>
          <a:solidFill>
            <a:srgbClr val="E6C2C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688336" y="4279392"/>
            <a:ext cx="438912" cy="438912"/>
          </a:xfrm>
          <a:prstGeom prst="rect">
            <a:avLst/>
          </a:prstGeom>
          <a:solidFill>
            <a:srgbClr val="E7C6C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127248" y="4279392"/>
            <a:ext cx="438912" cy="438912"/>
          </a:xfrm>
          <a:prstGeom prst="rect">
            <a:avLst/>
          </a:prstGeom>
          <a:solidFill>
            <a:srgbClr val="DDA0A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566160" y="4279392"/>
            <a:ext cx="438912" cy="438912"/>
          </a:xfrm>
          <a:prstGeom prst="rect">
            <a:avLst/>
          </a:prstGeom>
          <a:solidFill>
            <a:srgbClr val="BE2D3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575303" y="4425696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005072" y="4279392"/>
            <a:ext cx="438912" cy="438912"/>
          </a:xfrm>
          <a:prstGeom prst="rect">
            <a:avLst/>
          </a:prstGeom>
          <a:solidFill>
            <a:srgbClr val="ECD6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443983" y="4279392"/>
            <a:ext cx="438912" cy="438912"/>
          </a:xfrm>
          <a:prstGeom prst="rect">
            <a:avLst/>
          </a:prstGeom>
          <a:solidFill>
            <a:srgbClr val="D3DEF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882896" y="4279392"/>
            <a:ext cx="438912" cy="438912"/>
          </a:xfrm>
          <a:prstGeom prst="rect">
            <a:avLst/>
          </a:prstGeom>
          <a:solidFill>
            <a:srgbClr val="D5DFF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321808" y="4279392"/>
            <a:ext cx="438912" cy="438912"/>
          </a:xfrm>
          <a:prstGeom prst="rect">
            <a:avLst/>
          </a:prstGeom>
          <a:solidFill>
            <a:srgbClr val="F3F2F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760720" y="4279392"/>
            <a:ext cx="438912" cy="438912"/>
          </a:xfrm>
          <a:prstGeom prst="rect">
            <a:avLst/>
          </a:prstGeom>
          <a:solidFill>
            <a:srgbClr val="E8CA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199631" y="4279392"/>
            <a:ext cx="438912" cy="438912"/>
          </a:xfrm>
          <a:prstGeom prst="rect">
            <a:avLst/>
          </a:prstGeom>
          <a:solidFill>
            <a:srgbClr val="F2ECF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371600" y="4718304"/>
            <a:ext cx="438912" cy="438912"/>
          </a:xfrm>
          <a:prstGeom prst="rect">
            <a:avLst/>
          </a:prstGeom>
          <a:solidFill>
            <a:srgbClr val="E7ECF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810512" y="4718304"/>
            <a:ext cx="438912" cy="438912"/>
          </a:xfrm>
          <a:prstGeom prst="rect">
            <a:avLst/>
          </a:prstGeom>
          <a:solidFill>
            <a:srgbClr val="C0CFE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49424" y="4718304"/>
            <a:ext cx="438912" cy="438912"/>
          </a:xfrm>
          <a:prstGeom prst="rect">
            <a:avLst/>
          </a:prstGeom>
          <a:solidFill>
            <a:srgbClr val="E4BAC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688336" y="4718304"/>
            <a:ext cx="438912" cy="438912"/>
          </a:xfrm>
          <a:prstGeom prst="rect">
            <a:avLst/>
          </a:prstGeom>
          <a:solidFill>
            <a:srgbClr val="E5BEC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127248" y="4718304"/>
            <a:ext cx="438912" cy="438912"/>
          </a:xfrm>
          <a:prstGeom prst="rect">
            <a:avLst/>
          </a:prstGeom>
          <a:solidFill>
            <a:srgbClr val="D6879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136391" y="4864608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0.55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66160" y="4718304"/>
            <a:ext cx="438912" cy="438912"/>
          </a:xfrm>
          <a:prstGeom prst="rect">
            <a:avLst/>
          </a:prstGeom>
          <a:solidFill>
            <a:srgbClr val="ECD6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005072" y="4718304"/>
            <a:ext cx="438912" cy="438912"/>
          </a:xfrm>
          <a:prstGeom prst="rect">
            <a:avLst/>
          </a:prstGeom>
          <a:solidFill>
            <a:srgbClr val="BE2D3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014215" y="4864608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443983" y="4718304"/>
            <a:ext cx="438912" cy="438912"/>
          </a:xfrm>
          <a:prstGeom prst="rect">
            <a:avLst/>
          </a:prstGeom>
          <a:solidFill>
            <a:srgbClr val="EDDC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882896" y="4718304"/>
            <a:ext cx="438912" cy="438912"/>
          </a:xfrm>
          <a:prstGeom prst="rect">
            <a:avLst/>
          </a:prstGeom>
          <a:solidFill>
            <a:srgbClr val="EDDC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321808" y="4718304"/>
            <a:ext cx="438912" cy="438912"/>
          </a:xfrm>
          <a:prstGeom prst="rect">
            <a:avLst/>
          </a:prstGeom>
          <a:solidFill>
            <a:srgbClr val="F4F4F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760720" y="4718304"/>
            <a:ext cx="438912" cy="438912"/>
          </a:xfrm>
          <a:prstGeom prst="rect">
            <a:avLst/>
          </a:prstGeom>
          <a:solidFill>
            <a:srgbClr val="7C9B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69864" y="4864608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-0.62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99631" y="4718304"/>
            <a:ext cx="438912" cy="438912"/>
          </a:xfrm>
          <a:prstGeom prst="rect">
            <a:avLst/>
          </a:prstGeom>
          <a:solidFill>
            <a:srgbClr val="D9E2F3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371600" y="5157216"/>
            <a:ext cx="438912" cy="438912"/>
          </a:xfrm>
          <a:prstGeom prst="rect">
            <a:avLst/>
          </a:prstGeom>
          <a:solidFill>
            <a:srgbClr val="F3F5F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810512" y="5157216"/>
            <a:ext cx="438912" cy="438912"/>
          </a:xfrm>
          <a:prstGeom prst="rect">
            <a:avLst/>
          </a:prstGeom>
          <a:solidFill>
            <a:srgbClr val="D5DFF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249424" y="5157216"/>
            <a:ext cx="438912" cy="438912"/>
          </a:xfrm>
          <a:prstGeom prst="rect">
            <a:avLst/>
          </a:prstGeom>
          <a:solidFill>
            <a:srgbClr val="CED9F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688336" y="5157216"/>
            <a:ext cx="438912" cy="438912"/>
          </a:xfrm>
          <a:prstGeom prst="rect">
            <a:avLst/>
          </a:prstGeom>
          <a:solidFill>
            <a:srgbClr val="D1DCF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127248" y="5157216"/>
            <a:ext cx="438912" cy="438912"/>
          </a:xfrm>
          <a:prstGeom prst="rect">
            <a:avLst/>
          </a:prstGeom>
          <a:solidFill>
            <a:srgbClr val="F1F4F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566160" y="5157216"/>
            <a:ext cx="438912" cy="438912"/>
          </a:xfrm>
          <a:prstGeom prst="rect">
            <a:avLst/>
          </a:prstGeom>
          <a:solidFill>
            <a:srgbClr val="D3DEF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005072" y="5157216"/>
            <a:ext cx="438912" cy="438912"/>
          </a:xfrm>
          <a:prstGeom prst="rect">
            <a:avLst/>
          </a:prstGeom>
          <a:solidFill>
            <a:srgbClr val="EDDC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43983" y="5157216"/>
            <a:ext cx="438912" cy="438912"/>
          </a:xfrm>
          <a:prstGeom prst="rect">
            <a:avLst/>
          </a:prstGeom>
          <a:solidFill>
            <a:srgbClr val="BE2D3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453127" y="5303520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882896" y="5157216"/>
            <a:ext cx="438912" cy="438912"/>
          </a:xfrm>
          <a:prstGeom prst="rect">
            <a:avLst/>
          </a:prstGeom>
          <a:solidFill>
            <a:srgbClr val="C5495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892040" y="5303520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0.86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321808" y="5157216"/>
            <a:ext cx="438912" cy="438912"/>
          </a:xfrm>
          <a:prstGeom prst="rect">
            <a:avLst/>
          </a:prstGeom>
          <a:solidFill>
            <a:srgbClr val="E3E9F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760720" y="5157216"/>
            <a:ext cx="438912" cy="438912"/>
          </a:xfrm>
          <a:prstGeom prst="rect">
            <a:avLst/>
          </a:prstGeom>
          <a:solidFill>
            <a:srgbClr val="D3DEF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1" y="5157216"/>
            <a:ext cx="438912" cy="438912"/>
          </a:xfrm>
          <a:prstGeom prst="rect">
            <a:avLst/>
          </a:prstGeom>
          <a:solidFill>
            <a:srgbClr val="F3F5F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371600" y="5596127"/>
            <a:ext cx="438912" cy="438912"/>
          </a:xfrm>
          <a:prstGeom prst="rect">
            <a:avLst/>
          </a:prstGeom>
          <a:solidFill>
            <a:srgbClr val="F3F5F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810512" y="5596127"/>
            <a:ext cx="438912" cy="438912"/>
          </a:xfrm>
          <a:prstGeom prst="rect">
            <a:avLst/>
          </a:prstGeom>
          <a:solidFill>
            <a:srgbClr val="D5DFF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249424" y="5596127"/>
            <a:ext cx="438912" cy="438912"/>
          </a:xfrm>
          <a:prstGeom prst="rect">
            <a:avLst/>
          </a:prstGeom>
          <a:solidFill>
            <a:srgbClr val="D3DEF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688336" y="5596127"/>
            <a:ext cx="438912" cy="438912"/>
          </a:xfrm>
          <a:prstGeom prst="rect">
            <a:avLst/>
          </a:prstGeom>
          <a:solidFill>
            <a:srgbClr val="CED9F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127248" y="5596127"/>
            <a:ext cx="438912" cy="438912"/>
          </a:xfrm>
          <a:prstGeom prst="rect">
            <a:avLst/>
          </a:prstGeom>
          <a:solidFill>
            <a:srgbClr val="EFF2F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566160" y="5596127"/>
            <a:ext cx="438912" cy="438912"/>
          </a:xfrm>
          <a:prstGeom prst="rect">
            <a:avLst/>
          </a:prstGeom>
          <a:solidFill>
            <a:srgbClr val="D5DFF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005072" y="5596127"/>
            <a:ext cx="438912" cy="438912"/>
          </a:xfrm>
          <a:prstGeom prst="rect">
            <a:avLst/>
          </a:prstGeom>
          <a:solidFill>
            <a:srgbClr val="EDDCE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443983" y="5596127"/>
            <a:ext cx="438912" cy="438912"/>
          </a:xfrm>
          <a:prstGeom prst="rect">
            <a:avLst/>
          </a:prstGeom>
          <a:solidFill>
            <a:srgbClr val="C5495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453127" y="5742431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0.86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882896" y="5596127"/>
            <a:ext cx="438912" cy="438912"/>
          </a:xfrm>
          <a:prstGeom prst="rect">
            <a:avLst/>
          </a:prstGeom>
          <a:solidFill>
            <a:srgbClr val="BE2D3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892040" y="5742431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321808" y="5596127"/>
            <a:ext cx="438912" cy="438912"/>
          </a:xfrm>
          <a:prstGeom prst="rect">
            <a:avLst/>
          </a:prstGeom>
          <a:solidFill>
            <a:srgbClr val="E3E9F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760720" y="5596127"/>
            <a:ext cx="438912" cy="438912"/>
          </a:xfrm>
          <a:prstGeom prst="rect">
            <a:avLst/>
          </a:prstGeom>
          <a:solidFill>
            <a:srgbClr val="D1DCF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99631" y="5596127"/>
            <a:ext cx="438912" cy="438912"/>
          </a:xfrm>
          <a:prstGeom prst="rect">
            <a:avLst/>
          </a:prstGeom>
          <a:solidFill>
            <a:srgbClr val="F1F4F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371600" y="6035040"/>
            <a:ext cx="438912" cy="438912"/>
          </a:xfrm>
          <a:prstGeom prst="rect">
            <a:avLst/>
          </a:prstGeom>
          <a:solidFill>
            <a:srgbClr val="F3F5F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810512" y="6035040"/>
            <a:ext cx="438912" cy="438912"/>
          </a:xfrm>
          <a:prstGeom prst="rect">
            <a:avLst/>
          </a:prstGeom>
          <a:solidFill>
            <a:srgbClr val="ECD6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249424" y="6035040"/>
            <a:ext cx="438912" cy="438912"/>
          </a:xfrm>
          <a:prstGeom prst="rect">
            <a:avLst/>
          </a:prstGeom>
          <a:solidFill>
            <a:srgbClr val="EBD2D7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688336" y="6035040"/>
            <a:ext cx="438912" cy="438912"/>
          </a:xfrm>
          <a:prstGeom prst="rect">
            <a:avLst/>
          </a:prstGeom>
          <a:solidFill>
            <a:srgbClr val="EDDAD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127248" y="6035040"/>
            <a:ext cx="438912" cy="438912"/>
          </a:xfrm>
          <a:prstGeom prst="rect">
            <a:avLst/>
          </a:prstGeom>
          <a:solidFill>
            <a:srgbClr val="EFF2F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566160" y="6035040"/>
            <a:ext cx="438912" cy="438912"/>
          </a:xfrm>
          <a:prstGeom prst="rect">
            <a:avLst/>
          </a:prstGeom>
          <a:solidFill>
            <a:srgbClr val="F3F2F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005072" y="6035040"/>
            <a:ext cx="438912" cy="438912"/>
          </a:xfrm>
          <a:prstGeom prst="rect">
            <a:avLst/>
          </a:prstGeom>
          <a:solidFill>
            <a:srgbClr val="F4F4F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443983" y="6035040"/>
            <a:ext cx="438912" cy="438912"/>
          </a:xfrm>
          <a:prstGeom prst="rect">
            <a:avLst/>
          </a:prstGeom>
          <a:solidFill>
            <a:srgbClr val="E3E9F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882896" y="6035040"/>
            <a:ext cx="438912" cy="438912"/>
          </a:xfrm>
          <a:prstGeom prst="rect">
            <a:avLst/>
          </a:prstGeom>
          <a:solidFill>
            <a:srgbClr val="E3E9F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321808" y="6035040"/>
            <a:ext cx="438912" cy="438912"/>
          </a:xfrm>
          <a:prstGeom prst="rect">
            <a:avLst/>
          </a:prstGeom>
          <a:solidFill>
            <a:srgbClr val="BE2D3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330952" y="6181344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60720" y="6035040"/>
            <a:ext cx="438912" cy="438912"/>
          </a:xfrm>
          <a:prstGeom prst="rect">
            <a:avLst/>
          </a:prstGeom>
          <a:solidFill>
            <a:srgbClr val="EDF1F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199631" y="6035040"/>
            <a:ext cx="438912" cy="438912"/>
          </a:xfrm>
          <a:prstGeom prst="rect">
            <a:avLst/>
          </a:prstGeom>
          <a:solidFill>
            <a:srgbClr val="F3F2F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371600" y="6473952"/>
            <a:ext cx="438912" cy="438912"/>
          </a:xfrm>
          <a:prstGeom prst="rect">
            <a:avLst/>
          </a:prstGeom>
          <a:solidFill>
            <a:srgbClr val="F1F4F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810512" y="6473952"/>
            <a:ext cx="438912" cy="438912"/>
          </a:xfrm>
          <a:prstGeom prst="rect">
            <a:avLst/>
          </a:prstGeom>
          <a:solidFill>
            <a:srgbClr val="EDDAD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2249424" y="6473952"/>
            <a:ext cx="438912" cy="438912"/>
          </a:xfrm>
          <a:prstGeom prst="rect">
            <a:avLst/>
          </a:prstGeom>
          <a:solidFill>
            <a:srgbClr val="F2ECF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2688336" y="6473952"/>
            <a:ext cx="438912" cy="438912"/>
          </a:xfrm>
          <a:prstGeom prst="rect">
            <a:avLst/>
          </a:prstGeom>
          <a:solidFill>
            <a:srgbClr val="EBD4D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127248" y="6473952"/>
            <a:ext cx="438912" cy="438912"/>
          </a:xfrm>
          <a:prstGeom prst="rect">
            <a:avLst/>
          </a:prstGeom>
          <a:solidFill>
            <a:srgbClr val="E3B8B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136391" y="6620256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232D3C"/>
                </a:solidFill>
                <a:latin typeface="Calibri"/>
              </a:rPr>
              <a:t>0.31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566160" y="6473952"/>
            <a:ext cx="438912" cy="438912"/>
          </a:xfrm>
          <a:prstGeom prst="rect">
            <a:avLst/>
          </a:prstGeom>
          <a:solidFill>
            <a:srgbClr val="E8CAD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005072" y="6473952"/>
            <a:ext cx="438912" cy="438912"/>
          </a:xfrm>
          <a:prstGeom prst="rect">
            <a:avLst/>
          </a:prstGeom>
          <a:solidFill>
            <a:srgbClr val="7C9BD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014215" y="6620256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-0.62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443983" y="6473952"/>
            <a:ext cx="438912" cy="438912"/>
          </a:xfrm>
          <a:prstGeom prst="rect">
            <a:avLst/>
          </a:prstGeom>
          <a:solidFill>
            <a:srgbClr val="D3DEF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4882896" y="6473952"/>
            <a:ext cx="438912" cy="438912"/>
          </a:xfrm>
          <a:prstGeom prst="rect">
            <a:avLst/>
          </a:prstGeom>
          <a:solidFill>
            <a:srgbClr val="D1DCF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5321808" y="6473952"/>
            <a:ext cx="438912" cy="438912"/>
          </a:xfrm>
          <a:prstGeom prst="rect">
            <a:avLst/>
          </a:prstGeom>
          <a:solidFill>
            <a:srgbClr val="EDF1F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5760720" y="6473952"/>
            <a:ext cx="438912" cy="438912"/>
          </a:xfrm>
          <a:prstGeom prst="rect">
            <a:avLst/>
          </a:prstGeom>
          <a:solidFill>
            <a:srgbClr val="BE2D3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769864" y="6620256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199631" y="6473952"/>
            <a:ext cx="438912" cy="438912"/>
          </a:xfrm>
          <a:prstGeom prst="rect">
            <a:avLst/>
          </a:prstGeom>
          <a:solidFill>
            <a:srgbClr val="D9929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208775" y="6620256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0.50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371600" y="6912863"/>
            <a:ext cx="438912" cy="438912"/>
          </a:xfrm>
          <a:prstGeom prst="rect">
            <a:avLst/>
          </a:prstGeom>
          <a:solidFill>
            <a:srgbClr val="EDF1F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810512" y="6912863"/>
            <a:ext cx="438912" cy="438912"/>
          </a:xfrm>
          <a:prstGeom prst="rect">
            <a:avLst/>
          </a:prstGeom>
          <a:solidFill>
            <a:srgbClr val="E9EEF7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2249424" y="6912863"/>
            <a:ext cx="438912" cy="438912"/>
          </a:xfrm>
          <a:prstGeom prst="rect">
            <a:avLst/>
          </a:prstGeom>
          <a:solidFill>
            <a:srgbClr val="F1EAE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2688336" y="6912863"/>
            <a:ext cx="438912" cy="438912"/>
          </a:xfrm>
          <a:prstGeom prst="rect">
            <a:avLst/>
          </a:prstGeom>
          <a:solidFill>
            <a:srgbClr val="EDDAD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127248" y="6912863"/>
            <a:ext cx="438912" cy="438912"/>
          </a:xfrm>
          <a:prstGeom prst="rect">
            <a:avLst/>
          </a:prstGeom>
          <a:solidFill>
            <a:srgbClr val="E1AEB5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136391" y="7059167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232D3C"/>
                </a:solidFill>
                <a:latin typeface="Calibri"/>
              </a:rPr>
              <a:t>0.36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566160" y="6912863"/>
            <a:ext cx="438912" cy="438912"/>
          </a:xfrm>
          <a:prstGeom prst="rect">
            <a:avLst/>
          </a:prstGeom>
          <a:solidFill>
            <a:srgbClr val="F2ECF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005072" y="6912863"/>
            <a:ext cx="438912" cy="438912"/>
          </a:xfrm>
          <a:prstGeom prst="rect">
            <a:avLst/>
          </a:prstGeom>
          <a:solidFill>
            <a:srgbClr val="D9E2F3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443983" y="6912863"/>
            <a:ext cx="438912" cy="438912"/>
          </a:xfrm>
          <a:prstGeom prst="rect">
            <a:avLst/>
          </a:prstGeom>
          <a:solidFill>
            <a:srgbClr val="F3F5F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882896" y="6912863"/>
            <a:ext cx="438912" cy="438912"/>
          </a:xfrm>
          <a:prstGeom prst="rect">
            <a:avLst/>
          </a:prstGeom>
          <a:solidFill>
            <a:srgbClr val="F1F4F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321808" y="6912863"/>
            <a:ext cx="438912" cy="438912"/>
          </a:xfrm>
          <a:prstGeom prst="rect">
            <a:avLst/>
          </a:prstGeom>
          <a:solidFill>
            <a:srgbClr val="F3F2F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760720" y="6912863"/>
            <a:ext cx="438912" cy="438912"/>
          </a:xfrm>
          <a:prstGeom prst="rect">
            <a:avLst/>
          </a:prstGeom>
          <a:solidFill>
            <a:srgbClr val="D9929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5769864" y="7059167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0.50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199631" y="6912863"/>
            <a:ext cx="438912" cy="438912"/>
          </a:xfrm>
          <a:prstGeom prst="rect">
            <a:avLst/>
          </a:prstGeom>
          <a:solidFill>
            <a:srgbClr val="BE2D3C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208775" y="7059167"/>
            <a:ext cx="420623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858000" y="2011680"/>
            <a:ext cx="6995160" cy="29260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800" b="1">
                <a:solidFill>
                  <a:srgbClr val="142B4A"/>
                </a:solidFill>
                <a:latin typeface="Calibri"/>
              </a:rPr>
              <a:t>Tres lecturas clave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6858000" y="2487168"/>
            <a:ext cx="699516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7022592" y="2743200"/>
            <a:ext cx="457200" cy="457200"/>
          </a:xfrm>
          <a:prstGeom prst="ellipse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7022592" y="2834640"/>
            <a:ext cx="457200" cy="13716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644383" y="2651760"/>
            <a:ext cx="5989320" cy="22860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1">
                <a:solidFill>
                  <a:srgbClr val="2463AA"/>
                </a:solidFill>
                <a:latin typeface="Calibri"/>
              </a:rPr>
              <a:t>No hay una correlación única dominante con delayed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644383" y="2962656"/>
            <a:ext cx="5897880" cy="36576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La clase atrasada no se explica por una sola variable original.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6858000" y="3767328"/>
            <a:ext cx="699516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7022592" y="4023360"/>
            <a:ext cx="457200" cy="45720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7022592" y="4114800"/>
            <a:ext cx="457200" cy="13716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644383" y="3931920"/>
            <a:ext cx="5989320" cy="22860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1">
                <a:solidFill>
                  <a:srgbClr val="F2994A"/>
                </a:solidFill>
                <a:latin typeface="Calibri"/>
              </a:rPr>
              <a:t>Hay redundancias y relaciones mecánicas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644383" y="4242816"/>
            <a:ext cx="5897880" cy="36576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IndexP/IndexA, DistanceP/DistanceA y Latest Time vs delay deben leerse con cuidado.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6858000" y="5047488"/>
            <a:ext cx="699516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7022592" y="5303520"/>
            <a:ext cx="457200" cy="4572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7022592" y="5394959"/>
            <a:ext cx="457200" cy="13716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644383" y="5212079"/>
            <a:ext cx="5989320" cy="22860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1">
                <a:solidFill>
                  <a:srgbClr val="28A745"/>
                </a:solidFill>
                <a:latin typeface="Calibri"/>
              </a:rPr>
              <a:t>La señal aparece al construir contexto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644383" y="5522975"/>
            <a:ext cx="5897880" cy="36576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Por eso se crean ventana, historial del conductor y acumulación de atrasos en ruta.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6858000" y="6419088"/>
            <a:ext cx="6995160" cy="475488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7040880" y="6537960"/>
            <a:ext cx="6629400" cy="164592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IDs, Depot y Day of Week se analizaron fuera de esta matriz principal.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15568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2800" b="1">
                <a:solidFill>
                  <a:srgbClr val="142B4A"/>
                </a:solidFill>
                <a:latin typeface="Calibri"/>
              </a:rPr>
              <a:t>Preparar datos sin borrar realidad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88720"/>
            <a:ext cx="1188720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/>
            <a:r>
              <a:rPr sz="1550" b="0">
                <a:solidFill>
                  <a:srgbClr val="606C7B"/>
                </a:solidFill>
                <a:latin typeface="Calibri"/>
              </a:rPr>
              <a:t>La limpieza elimina inconsistencias claras, pero conserva extremos plausibles que representan rutas reales.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2880360" cy="2743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606040"/>
            <a:ext cx="530352" cy="530352"/>
          </a:xfrm>
          <a:prstGeom prst="ellipse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24912"/>
            <a:ext cx="530352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37560"/>
            <a:ext cx="2423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D64550"/>
                </a:solidFill>
                <a:latin typeface="Calibri"/>
              </a:rPr>
              <a:t>Limpiar invalidos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31920"/>
            <a:ext cx="2359152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500" b="0">
                <a:solidFill>
                  <a:srgbClr val="232D3C"/>
                </a:solidFill>
                <a:latin typeface="Calibri"/>
              </a:rPr>
              <a:t>Tiempos imposibles, ventanas invalidas y registros fuera de escala.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331720"/>
            <a:ext cx="2880360" cy="2743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2606040"/>
            <a:ext cx="530352" cy="530352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724912"/>
            <a:ext cx="530352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337560"/>
            <a:ext cx="2423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F2994A"/>
                </a:solidFill>
                <a:latin typeface="Calibri"/>
              </a:rPr>
              <a:t>Conservar outliers plausibles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931920"/>
            <a:ext cx="2359152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500" b="0">
                <a:solidFill>
                  <a:srgbClr val="232D3C"/>
                </a:solidFill>
                <a:latin typeface="Calibri"/>
              </a:rPr>
              <a:t>Distancias largas, muchas paradas o desviaciones pueden ser operación real.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331720"/>
            <a:ext cx="2880360" cy="2743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09560" y="2606040"/>
            <a:ext cx="530352" cy="530352"/>
          </a:xfrm>
          <a:prstGeom prst="ellipse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2724912"/>
            <a:ext cx="530352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337560"/>
            <a:ext cx="2423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2463AA"/>
                </a:solidFill>
                <a:latin typeface="Calibri"/>
              </a:rPr>
              <a:t>Validar y transformar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931920"/>
            <a:ext cx="2359152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320" b="0">
                <a:solidFill>
                  <a:srgbClr val="232D3C"/>
                </a:solidFill>
                <a:latin typeface="Calibri"/>
              </a:rPr>
              <a:t>0 nulos en X, Day of Week con OHE y escalado solo desde train.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09960" y="2331720"/>
            <a:ext cx="2880360" cy="2743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38560" y="2606040"/>
            <a:ext cx="530352" cy="530352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0" y="2724912"/>
            <a:ext cx="530352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3337560"/>
            <a:ext cx="2423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700" b="1">
                <a:solidFill>
                  <a:srgbClr val="28A745"/>
                </a:solidFill>
                <a:latin typeface="Calibri"/>
              </a:rPr>
              <a:t>Separar temporalmente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3931920"/>
            <a:ext cx="2359152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500" b="0">
                <a:solidFill>
                  <a:srgbClr val="232D3C"/>
                </a:solidFill>
                <a:latin typeface="Calibri"/>
              </a:rPr>
              <a:t>Entrenar con semanas anteriores y evaluar semanas posteriores.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69280"/>
            <a:ext cx="131673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833872"/>
            <a:ext cx="127101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550" b="1">
                <a:solidFill>
                  <a:srgbClr val="142B4A"/>
                </a:solidFill>
                <a:latin typeface="Calibri"/>
              </a:rPr>
              <a:t>Salida para modelado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199632"/>
            <a:ext cx="1261872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500" b="0">
                <a:solidFill>
                  <a:srgbClr val="232D3C"/>
                </a:solidFill>
                <a:latin typeface="Calibri"/>
              </a:rPr>
              <a:t>Dos versiones de X: escalada para modelos lineales y sin escalar para árboles. En ambos casos, el scaler se ajusta solo con train.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7040880"/>
            <a:ext cx="13167360" cy="365760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7114032"/>
            <a:ext cx="12801600" cy="12801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Criterio central: limpiar errores, no simplificar artificialmente la operación.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5303520" cy="32004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704320" cy="530352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Las variables derivadas revelan señales que no estaban claras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2252960" cy="41148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Después de la matriz original, se construyen variables que capturan margen horario, acumulación de atrasos e historial operativo.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76272"/>
            <a:ext cx="4251960" cy="74980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3749039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1">
                <a:solidFill>
                  <a:srgbClr val="2463AA"/>
                </a:solidFill>
                <a:latin typeface="Calibri"/>
              </a:rPr>
              <a:t>Ventana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9464"/>
            <a:ext cx="3749039" cy="18288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margen horario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72384"/>
            <a:ext cx="4251960" cy="74980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82112"/>
            <a:ext cx="3749039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1">
                <a:solidFill>
                  <a:srgbClr val="F2994A"/>
                </a:solidFill>
                <a:latin typeface="Calibri"/>
              </a:rPr>
              <a:t>Plan vs ejecución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65576"/>
            <a:ext cx="3749039" cy="18288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diferencias plan/real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68496"/>
            <a:ext cx="4251960" cy="74980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78224"/>
            <a:ext cx="3749039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1">
                <a:solidFill>
                  <a:srgbClr val="28A745"/>
                </a:solidFill>
                <a:latin typeface="Calibri"/>
              </a:rPr>
              <a:t>Ruta en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61688"/>
            <a:ext cx="3749039" cy="18288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atraso acumulado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64608"/>
            <a:ext cx="4251960" cy="74980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74336"/>
            <a:ext cx="3749039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1">
                <a:solidFill>
                  <a:srgbClr val="6F42C1"/>
                </a:solidFill>
                <a:latin typeface="Calibri"/>
              </a:rPr>
              <a:t>Historial conductor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57800"/>
            <a:ext cx="3749039" cy="18288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comportamiento previo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989320"/>
            <a:ext cx="4251960" cy="777240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6144768"/>
            <a:ext cx="3886200" cy="32004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 mejora viene del contexto acumulado, no solo de variables crudas.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048256"/>
            <a:ext cx="603504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840" b="1">
                <a:solidFill>
                  <a:srgbClr val="606C7B"/>
                </a:solidFill>
                <a:latin typeface="Calibri"/>
              </a:rPr>
              <a:t>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5704" y="2048256"/>
            <a:ext cx="603504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840" b="1">
                <a:solidFill>
                  <a:srgbClr val="606C7B"/>
                </a:solidFill>
                <a:latin typeface="Calibri"/>
              </a:rPr>
              <a:t>idxD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2048256"/>
            <a:ext cx="603504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840" b="1">
                <a:solidFill>
                  <a:srgbClr val="606C7B"/>
                </a:solidFill>
                <a:latin typeface="Calibri"/>
              </a:rPr>
              <a:t>distR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2" y="2048256"/>
            <a:ext cx="603504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840" b="1">
                <a:solidFill>
                  <a:srgbClr val="606C7B"/>
                </a:solidFill>
                <a:latin typeface="Calibri"/>
              </a:rPr>
              <a:t>prev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6216" y="2048256"/>
            <a:ext cx="603504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840" b="1">
                <a:solidFill>
                  <a:srgbClr val="606C7B"/>
                </a:solidFill>
                <a:latin typeface="Calibri"/>
              </a:rPr>
              <a:t>cumR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048256"/>
            <a:ext cx="603504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840" b="1">
                <a:solidFill>
                  <a:srgbClr val="606C7B"/>
                </a:solidFill>
                <a:latin typeface="Calibri"/>
              </a:rPr>
              <a:t>stops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224" y="2048256"/>
            <a:ext cx="603504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840" b="1">
                <a:solidFill>
                  <a:srgbClr val="606C7B"/>
                </a:solidFill>
                <a:latin typeface="Calibri"/>
              </a:rPr>
              <a:t>hist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96728" y="2048256"/>
            <a:ext cx="603504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840" b="1">
                <a:solidFill>
                  <a:srgbClr val="606C7B"/>
                </a:solidFill>
                <a:latin typeface="Calibri"/>
              </a:rPr>
              <a:t>delay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0232" y="2048256"/>
            <a:ext cx="603504" cy="20116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840" b="1">
                <a:solidFill>
                  <a:srgbClr val="606C7B"/>
                </a:solidFill>
                <a:latin typeface="Calibri"/>
              </a:rPr>
              <a:t>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2542032"/>
            <a:ext cx="603503" cy="164592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840" b="1">
                <a:solidFill>
                  <a:srgbClr val="606C7B"/>
                </a:solidFill>
                <a:latin typeface="Calibri"/>
              </a:rPr>
              <a:t>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145536"/>
            <a:ext cx="603503" cy="164592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840" b="1">
                <a:solidFill>
                  <a:srgbClr val="606C7B"/>
                </a:solidFill>
                <a:latin typeface="Calibri"/>
              </a:rPr>
              <a:t>idxD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749040"/>
            <a:ext cx="603503" cy="164592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840" b="1">
                <a:solidFill>
                  <a:srgbClr val="606C7B"/>
                </a:solidFill>
                <a:latin typeface="Calibri"/>
              </a:rPr>
              <a:t>distR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4352544"/>
            <a:ext cx="603503" cy="164592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840" b="1">
                <a:solidFill>
                  <a:srgbClr val="606C7B"/>
                </a:solidFill>
                <a:latin typeface="Calibri"/>
              </a:rPr>
              <a:t>prev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4956048"/>
            <a:ext cx="603503" cy="164592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840" b="1">
                <a:solidFill>
                  <a:srgbClr val="606C7B"/>
                </a:solidFill>
                <a:latin typeface="Calibri"/>
              </a:rPr>
              <a:t>cumR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5559552"/>
            <a:ext cx="603503" cy="164592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840" b="1">
                <a:solidFill>
                  <a:srgbClr val="606C7B"/>
                </a:solidFill>
                <a:latin typeface="Calibri"/>
              </a:rPr>
              <a:t>stops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6163056"/>
            <a:ext cx="603503" cy="164592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840" b="1">
                <a:solidFill>
                  <a:srgbClr val="606C7B"/>
                </a:solidFill>
                <a:latin typeface="Calibri"/>
              </a:rPr>
              <a:t>hist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6766560"/>
            <a:ext cx="603503" cy="164592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840" b="1">
                <a:solidFill>
                  <a:srgbClr val="606C7B"/>
                </a:solidFill>
                <a:latin typeface="Calibri"/>
              </a:rPr>
              <a:t>delay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7370064"/>
            <a:ext cx="603503" cy="164592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l"/>
            <a:r>
              <a:rPr sz="840" b="1">
                <a:solidFill>
                  <a:srgbClr val="606C7B"/>
                </a:solidFill>
                <a:latin typeface="Calibri"/>
              </a:rPr>
              <a:t>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359152"/>
            <a:ext cx="603504" cy="603504"/>
          </a:xfrm>
          <a:prstGeom prst="rect">
            <a:avLst/>
          </a:prstGeom>
          <a:solidFill>
            <a:srgbClr val="BE2D3C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81344" y="2569464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75704" y="2359152"/>
            <a:ext cx="603504" cy="603504"/>
          </a:xfrm>
          <a:prstGeom prst="rect">
            <a:avLst/>
          </a:prstGeom>
          <a:solidFill>
            <a:srgbClr val="F4F5F8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79208" y="2359152"/>
            <a:ext cx="603504" cy="603504"/>
          </a:xfrm>
          <a:prstGeom prst="rect">
            <a:avLst/>
          </a:prstGeom>
          <a:solidFill>
            <a:srgbClr val="F3F1F5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82712" y="2359152"/>
            <a:ext cx="603504" cy="603504"/>
          </a:xfrm>
          <a:prstGeom prst="rect">
            <a:avLst/>
          </a:prstGeom>
          <a:solidFill>
            <a:srgbClr val="EDF0F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86216" y="2359152"/>
            <a:ext cx="603504" cy="603504"/>
          </a:xfrm>
          <a:prstGeom prst="rect">
            <a:avLst/>
          </a:prstGeom>
          <a:solidFill>
            <a:srgbClr val="ECF0F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89720" y="2359152"/>
            <a:ext cx="603504" cy="603504"/>
          </a:xfrm>
          <a:prstGeom prst="rect">
            <a:avLst/>
          </a:prstGeom>
          <a:solidFill>
            <a:srgbClr val="F0E8EB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793224" y="2359152"/>
            <a:ext cx="603504" cy="603504"/>
          </a:xfrm>
          <a:prstGeom prst="rect">
            <a:avLst/>
          </a:prstGeom>
          <a:solidFill>
            <a:srgbClr val="E1E8F5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396728" y="2359152"/>
            <a:ext cx="603504" cy="603504"/>
          </a:xfrm>
          <a:prstGeom prst="rect">
            <a:avLst/>
          </a:prstGeom>
          <a:solidFill>
            <a:srgbClr val="6D90D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05872" y="2569464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Calibri"/>
              </a:rPr>
              <a:t>-0.69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000232" y="2359152"/>
            <a:ext cx="603504" cy="603504"/>
          </a:xfrm>
          <a:prstGeom prst="rect">
            <a:avLst/>
          </a:prstGeom>
          <a:solidFill>
            <a:srgbClr val="D6DFF2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72200" y="2962656"/>
            <a:ext cx="603504" cy="603504"/>
          </a:xfrm>
          <a:prstGeom prst="rect">
            <a:avLst/>
          </a:prstGeom>
          <a:solidFill>
            <a:srgbClr val="F4F5F8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75704" y="2962656"/>
            <a:ext cx="603504" cy="603504"/>
          </a:xfrm>
          <a:prstGeom prst="rect">
            <a:avLst/>
          </a:prstGeom>
          <a:solidFill>
            <a:srgbClr val="BE2D3C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84848" y="3172968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79208" y="2962656"/>
            <a:ext cx="603504" cy="603504"/>
          </a:xfrm>
          <a:prstGeom prst="rect">
            <a:avLst/>
          </a:prstGeom>
          <a:solidFill>
            <a:srgbClr val="DDE5F4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82712" y="2962656"/>
            <a:ext cx="603504" cy="603504"/>
          </a:xfrm>
          <a:prstGeom prst="rect">
            <a:avLst/>
          </a:prstGeom>
          <a:solidFill>
            <a:srgbClr val="F3F2F5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86216" y="2962656"/>
            <a:ext cx="603504" cy="603504"/>
          </a:xfrm>
          <a:prstGeom prst="rect">
            <a:avLst/>
          </a:prstGeom>
          <a:solidFill>
            <a:srgbClr val="EEF2F8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89720" y="2962656"/>
            <a:ext cx="603504" cy="603504"/>
          </a:xfrm>
          <a:prstGeom prst="rect">
            <a:avLst/>
          </a:prstGeom>
          <a:solidFill>
            <a:srgbClr val="BBCBEB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793224" y="2962656"/>
            <a:ext cx="603504" cy="603504"/>
          </a:xfrm>
          <a:prstGeom prst="rect">
            <a:avLst/>
          </a:prstGeom>
          <a:solidFill>
            <a:srgbClr val="F3F6F9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396728" y="2962656"/>
            <a:ext cx="603504" cy="603504"/>
          </a:xfrm>
          <a:prstGeom prst="rect">
            <a:avLst/>
          </a:prstGeom>
          <a:solidFill>
            <a:srgbClr val="E9CDD3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000232" y="2962656"/>
            <a:ext cx="603504" cy="603504"/>
          </a:xfrm>
          <a:prstGeom prst="rect">
            <a:avLst/>
          </a:prstGeom>
          <a:solidFill>
            <a:srgbClr val="ECD9DE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72200" y="3566160"/>
            <a:ext cx="603504" cy="603504"/>
          </a:xfrm>
          <a:prstGeom prst="rect">
            <a:avLst/>
          </a:prstGeom>
          <a:solidFill>
            <a:srgbClr val="F3F1F5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775704" y="3566160"/>
            <a:ext cx="603504" cy="603504"/>
          </a:xfrm>
          <a:prstGeom prst="rect">
            <a:avLst/>
          </a:prstGeom>
          <a:solidFill>
            <a:srgbClr val="DDE5F4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79208" y="3566160"/>
            <a:ext cx="603504" cy="603504"/>
          </a:xfrm>
          <a:prstGeom prst="rect">
            <a:avLst/>
          </a:prstGeom>
          <a:solidFill>
            <a:srgbClr val="BE2D3C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88352" y="3776472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82712" y="3566160"/>
            <a:ext cx="603504" cy="603504"/>
          </a:xfrm>
          <a:prstGeom prst="rect">
            <a:avLst/>
          </a:prstGeom>
          <a:solidFill>
            <a:srgbClr val="F4F5F9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86216" y="3566160"/>
            <a:ext cx="603504" cy="603504"/>
          </a:xfrm>
          <a:prstGeom prst="rect">
            <a:avLst/>
          </a:prstGeom>
          <a:solidFill>
            <a:srgbClr val="F3F2F6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89720" y="3566160"/>
            <a:ext cx="603504" cy="603504"/>
          </a:xfrm>
          <a:prstGeom prst="rect">
            <a:avLst/>
          </a:prstGeom>
          <a:solidFill>
            <a:srgbClr val="E9EEF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793224" y="3566160"/>
            <a:ext cx="603504" cy="603504"/>
          </a:xfrm>
          <a:prstGeom prst="rect">
            <a:avLst/>
          </a:prstGeom>
          <a:solidFill>
            <a:srgbClr val="F4F5F8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396728" y="3566160"/>
            <a:ext cx="603504" cy="603504"/>
          </a:xfrm>
          <a:prstGeom prst="rect">
            <a:avLst/>
          </a:prstGeom>
          <a:solidFill>
            <a:srgbClr val="EBEFF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000232" y="3566160"/>
            <a:ext cx="603504" cy="603504"/>
          </a:xfrm>
          <a:prstGeom prst="rect">
            <a:avLst/>
          </a:prstGeom>
          <a:solidFill>
            <a:srgbClr val="F0F3F8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72200" y="4169664"/>
            <a:ext cx="603504" cy="603504"/>
          </a:xfrm>
          <a:prstGeom prst="rect">
            <a:avLst/>
          </a:prstGeom>
          <a:solidFill>
            <a:srgbClr val="EDF0F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75704" y="4169664"/>
            <a:ext cx="603504" cy="603504"/>
          </a:xfrm>
          <a:prstGeom prst="rect">
            <a:avLst/>
          </a:prstGeom>
          <a:solidFill>
            <a:srgbClr val="F3F2F5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79208" y="4169664"/>
            <a:ext cx="603504" cy="603504"/>
          </a:xfrm>
          <a:prstGeom prst="rect">
            <a:avLst/>
          </a:prstGeom>
          <a:solidFill>
            <a:srgbClr val="F4F5F9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982712" y="4169664"/>
            <a:ext cx="603504" cy="603504"/>
          </a:xfrm>
          <a:prstGeom prst="rect">
            <a:avLst/>
          </a:prstGeom>
          <a:solidFill>
            <a:srgbClr val="BE2D3C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91856" y="4379976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86216" y="4169664"/>
            <a:ext cx="603504" cy="603504"/>
          </a:xfrm>
          <a:prstGeom prst="rect">
            <a:avLst/>
          </a:prstGeom>
          <a:solidFill>
            <a:srgbClr val="D06F7A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95360" y="4379976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Calibri"/>
              </a:rPr>
              <a:t>0.67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89720" y="4169664"/>
            <a:ext cx="603504" cy="603504"/>
          </a:xfrm>
          <a:prstGeom prst="rect">
            <a:avLst/>
          </a:prstGeom>
          <a:solidFill>
            <a:srgbClr val="EFE3E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793224" y="4169664"/>
            <a:ext cx="603504" cy="603504"/>
          </a:xfrm>
          <a:prstGeom prst="rect">
            <a:avLst/>
          </a:prstGeom>
          <a:solidFill>
            <a:srgbClr val="E3B6BD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02368" y="4379976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232D3C"/>
                </a:solidFill>
                <a:latin typeface="Calibri"/>
              </a:rPr>
              <a:t>0.32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396728" y="4169664"/>
            <a:ext cx="603504" cy="603504"/>
          </a:xfrm>
          <a:prstGeom prst="rect">
            <a:avLst/>
          </a:prstGeom>
          <a:solidFill>
            <a:srgbClr val="E6C1C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1000232" y="4169664"/>
            <a:ext cx="603504" cy="603504"/>
          </a:xfrm>
          <a:prstGeom prst="rect">
            <a:avLst/>
          </a:prstGeom>
          <a:solidFill>
            <a:srgbClr val="E0AAB2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009376" y="4379976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232D3C"/>
                </a:solidFill>
                <a:latin typeface="Calibri"/>
              </a:rPr>
              <a:t>0.38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72200" y="4773168"/>
            <a:ext cx="603504" cy="603504"/>
          </a:xfrm>
          <a:prstGeom prst="rect">
            <a:avLst/>
          </a:prstGeom>
          <a:solidFill>
            <a:srgbClr val="ECF0F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75704" y="4773168"/>
            <a:ext cx="603504" cy="603504"/>
          </a:xfrm>
          <a:prstGeom prst="rect">
            <a:avLst/>
          </a:prstGeom>
          <a:solidFill>
            <a:srgbClr val="EEF2F8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79208" y="4773168"/>
            <a:ext cx="603504" cy="603504"/>
          </a:xfrm>
          <a:prstGeom prst="rect">
            <a:avLst/>
          </a:prstGeom>
          <a:solidFill>
            <a:srgbClr val="F3F2F6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82712" y="4773168"/>
            <a:ext cx="603504" cy="603504"/>
          </a:xfrm>
          <a:prstGeom prst="rect">
            <a:avLst/>
          </a:prstGeom>
          <a:solidFill>
            <a:srgbClr val="D06F7A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91856" y="4983480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Calibri"/>
              </a:rPr>
              <a:t>0.67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86216" y="4773168"/>
            <a:ext cx="603504" cy="603504"/>
          </a:xfrm>
          <a:prstGeom prst="rect">
            <a:avLst/>
          </a:prstGeom>
          <a:solidFill>
            <a:srgbClr val="BE2D3C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595360" y="4983480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89720" y="4773168"/>
            <a:ext cx="603504" cy="603504"/>
          </a:xfrm>
          <a:prstGeom prst="rect">
            <a:avLst/>
          </a:prstGeom>
          <a:solidFill>
            <a:srgbClr val="EFE3E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793224" y="4773168"/>
            <a:ext cx="603504" cy="603504"/>
          </a:xfrm>
          <a:prstGeom prst="rect">
            <a:avLst/>
          </a:prstGeom>
          <a:solidFill>
            <a:srgbClr val="DB98A0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802368" y="4983480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232D3C"/>
                </a:solidFill>
                <a:latin typeface="Calibri"/>
              </a:rPr>
              <a:t>0.47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396728" y="4773168"/>
            <a:ext cx="603504" cy="603504"/>
          </a:xfrm>
          <a:prstGeom prst="rect">
            <a:avLst/>
          </a:prstGeom>
          <a:solidFill>
            <a:srgbClr val="E4BBC1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000232" y="4773168"/>
            <a:ext cx="603504" cy="603504"/>
          </a:xfrm>
          <a:prstGeom prst="rect">
            <a:avLst/>
          </a:prstGeom>
          <a:solidFill>
            <a:srgbClr val="DFA8B0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009376" y="4983480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232D3C"/>
                </a:solidFill>
                <a:latin typeface="Calibri"/>
              </a:rPr>
              <a:t>0.39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72200" y="5376672"/>
            <a:ext cx="603504" cy="603504"/>
          </a:xfrm>
          <a:prstGeom prst="rect">
            <a:avLst/>
          </a:prstGeom>
          <a:solidFill>
            <a:srgbClr val="F0E8EB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775704" y="5376672"/>
            <a:ext cx="603504" cy="603504"/>
          </a:xfrm>
          <a:prstGeom prst="rect">
            <a:avLst/>
          </a:prstGeom>
          <a:solidFill>
            <a:srgbClr val="BBCBEB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379208" y="5376672"/>
            <a:ext cx="603504" cy="603504"/>
          </a:xfrm>
          <a:prstGeom prst="rect">
            <a:avLst/>
          </a:prstGeom>
          <a:solidFill>
            <a:srgbClr val="E9EEF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982712" y="5376672"/>
            <a:ext cx="603504" cy="603504"/>
          </a:xfrm>
          <a:prstGeom prst="rect">
            <a:avLst/>
          </a:prstGeom>
          <a:solidFill>
            <a:srgbClr val="EFE3E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86216" y="5376672"/>
            <a:ext cx="603504" cy="603504"/>
          </a:xfrm>
          <a:prstGeom prst="rect">
            <a:avLst/>
          </a:prstGeom>
          <a:solidFill>
            <a:srgbClr val="EFE3E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189720" y="5376672"/>
            <a:ext cx="603504" cy="603504"/>
          </a:xfrm>
          <a:prstGeom prst="rect">
            <a:avLst/>
          </a:prstGeom>
          <a:solidFill>
            <a:srgbClr val="BE2D3C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98864" y="5586984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793224" y="5376672"/>
            <a:ext cx="603504" cy="603504"/>
          </a:xfrm>
          <a:prstGeom prst="rect">
            <a:avLst/>
          </a:prstGeom>
          <a:solidFill>
            <a:srgbClr val="E8EDF6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396728" y="5376672"/>
            <a:ext cx="603504" cy="603504"/>
          </a:xfrm>
          <a:prstGeom prst="rect">
            <a:avLst/>
          </a:prstGeom>
          <a:solidFill>
            <a:srgbClr val="F1EAEE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000232" y="5376672"/>
            <a:ext cx="603504" cy="603504"/>
          </a:xfrm>
          <a:prstGeom prst="rect">
            <a:avLst/>
          </a:prstGeom>
          <a:solidFill>
            <a:srgbClr val="F2ECEF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172200" y="5980176"/>
            <a:ext cx="603504" cy="603504"/>
          </a:xfrm>
          <a:prstGeom prst="rect">
            <a:avLst/>
          </a:prstGeom>
          <a:solidFill>
            <a:srgbClr val="E1E8F5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775704" y="5980176"/>
            <a:ext cx="603504" cy="603504"/>
          </a:xfrm>
          <a:prstGeom prst="rect">
            <a:avLst/>
          </a:prstGeom>
          <a:solidFill>
            <a:srgbClr val="F3F6F9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379208" y="5980176"/>
            <a:ext cx="603504" cy="603504"/>
          </a:xfrm>
          <a:prstGeom prst="rect">
            <a:avLst/>
          </a:prstGeom>
          <a:solidFill>
            <a:srgbClr val="F4F5F8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982712" y="5980176"/>
            <a:ext cx="603504" cy="603504"/>
          </a:xfrm>
          <a:prstGeom prst="rect">
            <a:avLst/>
          </a:prstGeom>
          <a:solidFill>
            <a:srgbClr val="E3B6BD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991856" y="6190488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232D3C"/>
                </a:solidFill>
                <a:latin typeface="Calibri"/>
              </a:rPr>
              <a:t>0.32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86216" y="5980176"/>
            <a:ext cx="603504" cy="603504"/>
          </a:xfrm>
          <a:prstGeom prst="rect">
            <a:avLst/>
          </a:prstGeom>
          <a:solidFill>
            <a:srgbClr val="DB98A0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595360" y="6190488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232D3C"/>
                </a:solidFill>
                <a:latin typeface="Calibri"/>
              </a:rPr>
              <a:t>0.47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189720" y="5980176"/>
            <a:ext cx="603504" cy="603504"/>
          </a:xfrm>
          <a:prstGeom prst="rect">
            <a:avLst/>
          </a:prstGeom>
          <a:solidFill>
            <a:srgbClr val="E8EDF6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93224" y="5980176"/>
            <a:ext cx="603504" cy="603504"/>
          </a:xfrm>
          <a:prstGeom prst="rect">
            <a:avLst/>
          </a:prstGeom>
          <a:solidFill>
            <a:srgbClr val="BE2D3C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802368" y="6190488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396728" y="5980176"/>
            <a:ext cx="603504" cy="603504"/>
          </a:xfrm>
          <a:prstGeom prst="rect">
            <a:avLst/>
          </a:prstGeom>
          <a:solidFill>
            <a:srgbClr val="E3B8BF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405872" y="6190488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232D3C"/>
                </a:solidFill>
                <a:latin typeface="Calibri"/>
              </a:rPr>
              <a:t>0.31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000232" y="5980176"/>
            <a:ext cx="603504" cy="603504"/>
          </a:xfrm>
          <a:prstGeom prst="rect">
            <a:avLst/>
          </a:prstGeom>
          <a:solidFill>
            <a:srgbClr val="E3B5BC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009376" y="6190488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232D3C"/>
                </a:solidFill>
                <a:latin typeface="Calibri"/>
              </a:rPr>
              <a:t>0.32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72200" y="6583680"/>
            <a:ext cx="603504" cy="603504"/>
          </a:xfrm>
          <a:prstGeom prst="rect">
            <a:avLst/>
          </a:prstGeom>
          <a:solidFill>
            <a:srgbClr val="6D90D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81344" y="6793992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Calibri"/>
              </a:rPr>
              <a:t>-0.69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775704" y="6583680"/>
            <a:ext cx="603504" cy="603504"/>
          </a:xfrm>
          <a:prstGeom prst="rect">
            <a:avLst/>
          </a:prstGeom>
          <a:solidFill>
            <a:srgbClr val="E9CDD3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379208" y="6583680"/>
            <a:ext cx="603504" cy="603504"/>
          </a:xfrm>
          <a:prstGeom prst="rect">
            <a:avLst/>
          </a:prstGeom>
          <a:solidFill>
            <a:srgbClr val="EBEFF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982712" y="6583680"/>
            <a:ext cx="603504" cy="603504"/>
          </a:xfrm>
          <a:prstGeom prst="rect">
            <a:avLst/>
          </a:prstGeom>
          <a:solidFill>
            <a:srgbClr val="E6C1C7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586216" y="6583680"/>
            <a:ext cx="603504" cy="603504"/>
          </a:xfrm>
          <a:prstGeom prst="rect">
            <a:avLst/>
          </a:prstGeom>
          <a:solidFill>
            <a:srgbClr val="E4BBC1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189720" y="6583680"/>
            <a:ext cx="603504" cy="603504"/>
          </a:xfrm>
          <a:prstGeom prst="rect">
            <a:avLst/>
          </a:prstGeom>
          <a:solidFill>
            <a:srgbClr val="F1EAEE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793224" y="6583680"/>
            <a:ext cx="603504" cy="603504"/>
          </a:xfrm>
          <a:prstGeom prst="rect">
            <a:avLst/>
          </a:prstGeom>
          <a:solidFill>
            <a:srgbClr val="E3B8BF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802368" y="6793992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232D3C"/>
                </a:solidFill>
                <a:latin typeface="Calibri"/>
              </a:rPr>
              <a:t>0.31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396728" y="6583680"/>
            <a:ext cx="603504" cy="603504"/>
          </a:xfrm>
          <a:prstGeom prst="rect">
            <a:avLst/>
          </a:prstGeom>
          <a:solidFill>
            <a:srgbClr val="BE2D3C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05872" y="6793992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1000232" y="6583680"/>
            <a:ext cx="603504" cy="603504"/>
          </a:xfrm>
          <a:prstGeom prst="rect">
            <a:avLst/>
          </a:prstGeom>
          <a:solidFill>
            <a:srgbClr val="D9929B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009376" y="6793992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232D3C"/>
                </a:solidFill>
                <a:latin typeface="Calibri"/>
              </a:rPr>
              <a:t>0.50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172200" y="7187184"/>
            <a:ext cx="603504" cy="603504"/>
          </a:xfrm>
          <a:prstGeom prst="rect">
            <a:avLst/>
          </a:prstGeom>
          <a:solidFill>
            <a:srgbClr val="D6DFF2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775704" y="7187184"/>
            <a:ext cx="603504" cy="603504"/>
          </a:xfrm>
          <a:prstGeom prst="rect">
            <a:avLst/>
          </a:prstGeom>
          <a:solidFill>
            <a:srgbClr val="ECD9DE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379208" y="7187184"/>
            <a:ext cx="603504" cy="603504"/>
          </a:xfrm>
          <a:prstGeom prst="rect">
            <a:avLst/>
          </a:prstGeom>
          <a:solidFill>
            <a:srgbClr val="F0F3F8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982712" y="7187184"/>
            <a:ext cx="603504" cy="603504"/>
          </a:xfrm>
          <a:prstGeom prst="rect">
            <a:avLst/>
          </a:prstGeom>
          <a:solidFill>
            <a:srgbClr val="E0AAB2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991856" y="7397496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232D3C"/>
                </a:solidFill>
                <a:latin typeface="Calibri"/>
              </a:rPr>
              <a:t>0.38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586216" y="7187184"/>
            <a:ext cx="603504" cy="603504"/>
          </a:xfrm>
          <a:prstGeom prst="rect">
            <a:avLst/>
          </a:prstGeom>
          <a:solidFill>
            <a:srgbClr val="DFA8B0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595360" y="7397496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232D3C"/>
                </a:solidFill>
                <a:latin typeface="Calibri"/>
              </a:rPr>
              <a:t>0.39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189720" y="7187184"/>
            <a:ext cx="603504" cy="603504"/>
          </a:xfrm>
          <a:prstGeom prst="rect">
            <a:avLst/>
          </a:prstGeom>
          <a:solidFill>
            <a:srgbClr val="F2ECEF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793224" y="7187184"/>
            <a:ext cx="603504" cy="603504"/>
          </a:xfrm>
          <a:prstGeom prst="rect">
            <a:avLst/>
          </a:prstGeom>
          <a:solidFill>
            <a:srgbClr val="E3B5BC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802368" y="7397496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232D3C"/>
                </a:solidFill>
                <a:latin typeface="Calibri"/>
              </a:rPr>
              <a:t>0.32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396728" y="7187184"/>
            <a:ext cx="603504" cy="603504"/>
          </a:xfrm>
          <a:prstGeom prst="rect">
            <a:avLst/>
          </a:prstGeom>
          <a:solidFill>
            <a:srgbClr val="D9929B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405872" y="7397496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232D3C"/>
                </a:solidFill>
                <a:latin typeface="Calibri"/>
              </a:rPr>
              <a:t>0.50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000232" y="7187184"/>
            <a:ext cx="603504" cy="603504"/>
          </a:xfrm>
          <a:prstGeom prst="rect">
            <a:avLst/>
          </a:prstGeom>
          <a:solidFill>
            <a:srgbClr val="BE2D3C"/>
          </a:solidFill>
          <a:ln w="444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009376" y="7397496"/>
            <a:ext cx="585216" cy="109728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1932920" y="2359152"/>
            <a:ext cx="1874519" cy="960120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2051792" y="2523744"/>
            <a:ext cx="1645920" cy="219456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Heatmap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051792" y="2834640"/>
            <a:ext cx="1645920" cy="256032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1050" b="1">
                <a:solidFill>
                  <a:srgbClr val="E6F0FC"/>
                </a:solidFill>
                <a:latin typeface="Calibri"/>
              </a:rPr>
              <a:t>derivadas + targets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1932920" y="3520440"/>
            <a:ext cx="1874519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2051792" y="3675887"/>
            <a:ext cx="1645920" cy="256032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1150" b="1">
                <a:solidFill>
                  <a:srgbClr val="2463AA"/>
                </a:solidFill>
                <a:latin typeface="Calibri"/>
              </a:rPr>
              <a:t>Lectura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2070080" y="4023360"/>
            <a:ext cx="1609344" cy="502920"/>
          </a:xfrm>
          <a:prstGeom prst="rect">
            <a:avLst/>
          </a:prstGeom>
          <a:noFill/>
        </p:spPr>
        <p:txBody>
          <a:bodyPr wrap="square" lIns="36576" rIns="36576" tIns="9144" bIns="9144">
            <a:normAutofit/>
          </a:bodyPr>
          <a:lstStyle/>
          <a:p>
            <a:pPr algn="ctr"/>
            <a:r>
              <a:rPr sz="900" b="0">
                <a:solidFill>
                  <a:srgbClr val="232D3C"/>
                </a:solidFill>
                <a:latin typeface="Calibri"/>
              </a:rPr>
              <a:t>Las señales de ruta e historial conectan mejor con delayed.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920240" cy="292608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FEATURE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1155680" cy="502920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2700" b="1">
                <a:solidFill>
                  <a:srgbClr val="142B4A"/>
                </a:solidFill>
                <a:latin typeface="Calibri"/>
              </a:rPr>
              <a:t>Conjuntos de variables usados en las iteraciones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43584"/>
            <a:ext cx="11338560" cy="329184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Cada set prueba una hipotesis distinta sobre que información aporta valor predictivo.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5989320" cy="384048"/>
          </a:xfrm>
          <a:prstGeom prst="round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39696"/>
            <a:ext cx="5715000" cy="109728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Exploración progresiva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057400"/>
            <a:ext cx="5989320" cy="38404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2139696"/>
            <a:ext cx="5715000" cy="109728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Reducción y selección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5989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697480"/>
            <a:ext cx="109728" cy="749808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992" y="2862072"/>
            <a:ext cx="1234440" cy="402336"/>
          </a:xfrm>
          <a:prstGeom prst="round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2962656"/>
            <a:ext cx="1179576" cy="109728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Calibri"/>
              </a:rPr>
              <a:t>F_BASE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816352"/>
            <a:ext cx="4023360" cy="219456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Variables originales seleccionadas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3108960"/>
            <a:ext cx="4023360" cy="164592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Linea base de comparación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11880"/>
            <a:ext cx="5989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611880"/>
            <a:ext cx="109728" cy="749808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78992" y="3776472"/>
            <a:ext cx="1234440" cy="402336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" y="3877056"/>
            <a:ext cx="1179576" cy="109728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Calibri"/>
              </a:rPr>
              <a:t>F_OPER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3730752"/>
            <a:ext cx="4023360" cy="219456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Base + derivadas operativas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023360"/>
            <a:ext cx="4023360" cy="164592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Margen horario y diferencia plan/real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26280"/>
            <a:ext cx="5989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526280"/>
            <a:ext cx="109728" cy="7498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78992" y="4690872"/>
            <a:ext cx="1234440" cy="402336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" y="4791456"/>
            <a:ext cx="1179576" cy="109728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Calibri"/>
              </a:rPr>
              <a:t>F_SEQ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4645152"/>
            <a:ext cx="4023360" cy="219456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Base + señales secuenciales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4937760"/>
            <a:ext cx="4023360" cy="164592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Atraso acumulado dentro de la ruta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440680"/>
            <a:ext cx="5989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5440680"/>
            <a:ext cx="109728" cy="74980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78992" y="5605272"/>
            <a:ext cx="1234440" cy="402336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6424" y="5705856"/>
            <a:ext cx="1179576" cy="109728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Calibri"/>
              </a:rPr>
              <a:t>F_HIST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5559552"/>
            <a:ext cx="4023360" cy="219456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Base + historial del conductor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7168" y="5852160"/>
            <a:ext cx="4023360" cy="164592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Comportamiento recurrente previo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2697480"/>
            <a:ext cx="5989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52360" y="2697480"/>
            <a:ext cx="109728" cy="749808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08392" y="2862072"/>
            <a:ext cx="1234440" cy="402336"/>
          </a:xfrm>
          <a:prstGeom prst="round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35824" y="2962656"/>
            <a:ext cx="1179576" cy="109728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Calibri"/>
              </a:rPr>
              <a:t>F_RED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2816352"/>
            <a:ext cx="4023360" cy="219456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Base sin redundancias fuertes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6568" y="3108960"/>
            <a:ext cx="4023360" cy="164592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Probar parsimonia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3611880"/>
            <a:ext cx="5989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52360" y="3611880"/>
            <a:ext cx="109728" cy="749808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708392" y="3776472"/>
            <a:ext cx="1234440" cy="402336"/>
          </a:xfrm>
          <a:prstGeom prst="round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35824" y="3877056"/>
            <a:ext cx="1179576" cy="109728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Calibri"/>
              </a:rPr>
              <a:t>F_NOTIME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16568" y="3730752"/>
            <a:ext cx="4023360" cy="219456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Sin ventana horaria planificada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16568" y="4023360"/>
            <a:ext cx="4023360" cy="164592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Medir perdida al quitar tiempo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52360" y="4526280"/>
            <a:ext cx="5989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52360" y="4526280"/>
            <a:ext cx="109728" cy="7498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708392" y="4690872"/>
            <a:ext cx="1234440" cy="402336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35824" y="4791456"/>
            <a:ext cx="1179576" cy="109728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Calibri"/>
              </a:rPr>
              <a:t>F_FULL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16568" y="4645152"/>
            <a:ext cx="4023360" cy="219456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Todas las fuentes de señal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16568" y="4937760"/>
            <a:ext cx="4023360" cy="164592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Maximizar información disponible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2360" y="5440680"/>
            <a:ext cx="5989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0" y="5440680"/>
            <a:ext cx="109728" cy="74980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708392" y="5605272"/>
            <a:ext cx="1234440" cy="402336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35824" y="5705856"/>
            <a:ext cx="1179576" cy="109728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ctr"/>
            <a:r>
              <a:rPr sz="1070" b="1">
                <a:solidFill>
                  <a:srgbClr val="FFFFFF"/>
                </a:solidFill>
                <a:latin typeface="Calibri"/>
              </a:rPr>
              <a:t>F_TOP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16568" y="5559552"/>
            <a:ext cx="4023360" cy="219456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Versión compacta por importancia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16568" y="5852160"/>
            <a:ext cx="4023360" cy="164592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Reducir ruido sin perder rendimiento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6492240"/>
            <a:ext cx="12801600" cy="566928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1560" y="6629400"/>
            <a:ext cx="12344400" cy="201168"/>
          </a:xfrm>
          <a:prstGeom prst="rect">
            <a:avLst/>
          </a:prstGeom>
          <a:noFill/>
        </p:spPr>
        <p:txBody>
          <a:bodyPr wrap="square" lIns="41148" rIns="41148" tIns="9144" bIns="9144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Objetivo metodológico: entender que mejora el modelo, no solo buscar una métrica final.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4206240" cy="320040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MÉTRICAS DE 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155680" cy="530352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2800" b="1">
                <a:solidFill>
                  <a:srgbClr val="142B4A"/>
                </a:solidFill>
                <a:latin typeface="Calibri"/>
              </a:rPr>
              <a:t>Cómo leer los resultados de los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1887200" cy="365760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Las métricas conectan desempeño técnico con decisiones: alertar mejor y estimar minutos con menor error.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6080760" cy="4160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6080760" cy="502920"/>
          </a:xfrm>
          <a:prstGeom prst="round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31136"/>
            <a:ext cx="5715000" cy="164592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Clasificación: riesgo de atraso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103120"/>
            <a:ext cx="6080760" cy="4160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640" y="2103120"/>
            <a:ext cx="6080760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19" y="2231136"/>
            <a:ext cx="5715000" cy="164592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Regresión: minutos de delay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834640"/>
            <a:ext cx="1143000" cy="530352"/>
          </a:xfrm>
          <a:prstGeom prst="round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2990088"/>
            <a:ext cx="1033271" cy="146304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871216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Balance entre precision y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3145536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Métrica principal para comparar clasificadores.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703320"/>
            <a:ext cx="1143000" cy="530352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3858768"/>
            <a:ext cx="1033271" cy="146304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3739896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Cuantos atrasos reales detecta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4014215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Clave si perder un atraso cuesta más que una falsa alarma.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572000"/>
            <a:ext cx="1143000" cy="53035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" y="4727448"/>
            <a:ext cx="1033271" cy="146304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4608576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Calidad de las alertas emitidas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6312" y="4882896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Evita saturar a operaciones con alertas falsas.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40680"/>
            <a:ext cx="1143000" cy="530352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7864" y="5596128"/>
            <a:ext cx="1033271" cy="146304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6312" y="5477256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Ordena casos por riesgo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6312" y="5751576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Indica si el modelo rankea bien antes de fijar umbral.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2834640"/>
            <a:ext cx="1143000" cy="53035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81544" y="2990088"/>
            <a:ext cx="1033271" cy="146304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9992" y="2871216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Error en minutos penalizando grandes fallos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3145536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Principal cuando errores grandes son costosos.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3703320"/>
            <a:ext cx="1143000" cy="530352"/>
          </a:xfrm>
          <a:prstGeom prst="round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81544" y="3858768"/>
            <a:ext cx="1033271" cy="146304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2" y="3739896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Error absoluto promedio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9992" y="4014215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Lectura directa: minutos promedio de error.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4572000"/>
            <a:ext cx="1143000" cy="530352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81544" y="4727448"/>
            <a:ext cx="1033271" cy="146304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9992" y="4608576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Varianza del delay explicada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9992" y="4882896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Mide capacidad global de explicar el comportamiento.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79" y="5440680"/>
            <a:ext cx="1143000" cy="530352"/>
          </a:xfrm>
          <a:prstGeom prst="round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81544" y="5596128"/>
            <a:ext cx="1033271" cy="146304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5477256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Predicción media en atrasadas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9992" y="5751576"/>
            <a:ext cx="4297680" cy="201168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Valida si reconoce la dirección del atraso real.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6629400"/>
            <a:ext cx="12938760" cy="594360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6766560"/>
            <a:ext cx="12481560" cy="219456"/>
          </a:xfrm>
          <a:prstGeom prst="rect">
            <a:avLst/>
          </a:prstGeom>
          <a:noFill/>
        </p:spPr>
        <p:txBody>
          <a:bodyPr wrap="square" lIns="45720" rIns="45720" tIns="13716" bIns="13716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Accuracy se reporta, pero no decide: con clases desbalanceadas puede verse alta aunque el modelo ignore los atrasos.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347472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200" b="1">
                <a:solidFill>
                  <a:srgbClr val="2463AA"/>
                </a:solidFill>
                <a:latin typeface="Calibri"/>
              </a:rPr>
              <a:t>MODELO 1 - CLASIFICACIÓN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1430000" cy="566928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3400" b="1">
                <a:solidFill>
                  <a:srgbClr val="142B4A"/>
                </a:solidFill>
                <a:latin typeface="Calibri"/>
              </a:rPr>
              <a:t>Regresión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4920" y="804672"/>
            <a:ext cx="3840480" cy="329184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800" b="1">
                <a:solidFill>
                  <a:srgbClr val="2463AA"/>
                </a:solidFill>
                <a:latin typeface="Calibri"/>
              </a:rPr>
              <a:t>Benchmark interpretable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12070080" cy="347472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600" b="0">
                <a:solidFill>
                  <a:srgbClr val="606C7B"/>
                </a:solidFill>
                <a:latin typeface="Calibri"/>
              </a:rPr>
              <a:t>Modelo base para medir cuánto aportan las nuevas señales antes de pasar a modelos no lineales.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13258800" cy="36576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4800600" cy="1965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50008"/>
            <a:ext cx="4251960" cy="320040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800" b="1">
                <a:solidFill>
                  <a:srgbClr val="2463AA"/>
                </a:solidFill>
                <a:latin typeface="Calibri"/>
              </a:rPr>
              <a:t>Cómo funciona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2862072"/>
            <a:ext cx="4160520" cy="329184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520" b="0">
                <a:solidFill>
                  <a:srgbClr val="232D3C"/>
                </a:solidFill>
                <a:latin typeface="Calibri"/>
              </a:rPr>
              <a:t>- Calcula probabilidad de atraso.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374136"/>
            <a:ext cx="4160520" cy="329184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520" b="0">
                <a:solidFill>
                  <a:srgbClr val="232D3C"/>
                </a:solidFill>
                <a:latin typeface="Calibri"/>
              </a:rPr>
              <a:t>- Es simple y explicable.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886200"/>
            <a:ext cx="4160520" cy="329184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520" b="0">
                <a:solidFill>
                  <a:srgbClr val="232D3C"/>
                </a:solidFill>
                <a:latin typeface="Calibri"/>
              </a:rPr>
              <a:t>- No captura bien relaciones complejas.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34840"/>
            <a:ext cx="4800600" cy="2057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636007"/>
            <a:ext cx="4251960" cy="320040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800" b="1">
                <a:solidFill>
                  <a:srgbClr val="F2994A"/>
                </a:solidFill>
                <a:latin typeface="Calibri"/>
              </a:rPr>
              <a:t>Qué se probó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5148072"/>
            <a:ext cx="4160520" cy="329184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520" b="0">
                <a:solidFill>
                  <a:srgbClr val="232D3C"/>
                </a:solidFill>
                <a:latin typeface="Calibri"/>
              </a:rPr>
              <a:t>- 10 iteraciones de variables.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5660136"/>
            <a:ext cx="4160520" cy="329184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520" b="0">
                <a:solidFill>
                  <a:srgbClr val="232D3C"/>
                </a:solidFill>
                <a:latin typeface="Calibri"/>
              </a:rPr>
              <a:t>- Sin outliers: casi sin cambio.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6172200"/>
            <a:ext cx="4160520" cy="329184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520" b="0">
                <a:solidFill>
                  <a:srgbClr val="232D3C"/>
                </a:solidFill>
                <a:latin typeface="Calibri"/>
              </a:rPr>
              <a:t>- El salto vino con señales secuenciales e históricas.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148840"/>
            <a:ext cx="210312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5" y="2359152"/>
            <a:ext cx="1847088" cy="237744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ctr"/>
            <a:r>
              <a:rPr sz="1500" b="1">
                <a:solidFill>
                  <a:srgbClr val="606C7B"/>
                </a:solidFill>
                <a:latin typeface="Calibri"/>
              </a:rPr>
              <a:t>F1 atrasada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2724912"/>
            <a:ext cx="1883664" cy="438912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ctr"/>
            <a:r>
              <a:rPr sz="3000" b="1">
                <a:solidFill>
                  <a:srgbClr val="2463AA"/>
                </a:solidFill>
                <a:latin typeface="Calibri"/>
              </a:rPr>
              <a:t>0.5180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2148840"/>
            <a:ext cx="210312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94776" y="2359152"/>
            <a:ext cx="1847088" cy="237744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ctr"/>
            <a:r>
              <a:rPr sz="1250" b="1">
                <a:solidFill>
                  <a:srgbClr val="606C7B"/>
                </a:solidFill>
                <a:latin typeface="Calibri"/>
              </a:rPr>
              <a:t>AUC-ROC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2724912"/>
            <a:ext cx="1883664" cy="438912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ctr"/>
            <a:r>
              <a:rPr sz="3000" b="1">
                <a:solidFill>
                  <a:srgbClr val="28A745"/>
                </a:solidFill>
                <a:latin typeface="Calibri"/>
              </a:rPr>
              <a:t>0.9068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98480" y="2148840"/>
            <a:ext cx="210312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26496" y="2359152"/>
            <a:ext cx="1847088" cy="237744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ctr"/>
            <a:r>
              <a:rPr sz="1500" b="1">
                <a:solidFill>
                  <a:srgbClr val="606C7B"/>
                </a:solidFill>
                <a:latin typeface="Calibri"/>
              </a:rPr>
              <a:t>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8207" y="2724912"/>
            <a:ext cx="1883664" cy="438912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ctr"/>
            <a:r>
              <a:rPr sz="3000" b="1">
                <a:solidFill>
                  <a:srgbClr val="F2994A"/>
                </a:solidFill>
                <a:latin typeface="Calibri"/>
              </a:rPr>
              <a:t>0.8722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938760" y="2148840"/>
            <a:ext cx="960120" cy="1417320"/>
          </a:xfrm>
          <a:prstGeom prst="round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011912" y="2404872"/>
            <a:ext cx="804672" cy="182880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11912" y="2770632"/>
            <a:ext cx="804672" cy="329184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886200"/>
            <a:ext cx="7589520" cy="310896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2000" b="1">
                <a:solidFill>
                  <a:srgbClr val="142B4A"/>
                </a:solidFill>
                <a:latin typeface="Calibri"/>
              </a:rPr>
              <a:t>Análisis ejecutivo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4370832"/>
            <a:ext cx="78638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4370832"/>
            <a:ext cx="109728" cy="658368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4462272"/>
            <a:ext cx="2423160" cy="219456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500" b="1">
                <a:solidFill>
                  <a:srgbClr val="2463AA"/>
                </a:solidFill>
                <a:latin typeface="Calibri"/>
              </a:rPr>
              <a:t>Competitiva con F_FULL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462272"/>
            <a:ext cx="489204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Las variables enriquecidas levantan claramente el baseline.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5157216"/>
            <a:ext cx="78638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5157216"/>
            <a:ext cx="109728" cy="658368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5248656"/>
            <a:ext cx="2423160" cy="219456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500" b="1">
                <a:solidFill>
                  <a:srgbClr val="F2994A"/>
                </a:solidFill>
                <a:latin typeface="Calibri"/>
              </a:rPr>
              <a:t>La ventana horaria pesa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5248656"/>
            <a:ext cx="489204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Quitar información temporal degrada fuerte el rendimiento.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5943600"/>
            <a:ext cx="78638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35040" y="5943600"/>
            <a:ext cx="109728" cy="65836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6035040"/>
            <a:ext cx="2423160" cy="219456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500" b="1">
                <a:solidFill>
                  <a:srgbClr val="28A745"/>
                </a:solidFill>
                <a:latin typeface="Calibri"/>
              </a:rPr>
              <a:t>Sirve como vara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6035040"/>
            <a:ext cx="489204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Exige que los modelos no lineales superen F1=0.518.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6720840"/>
            <a:ext cx="7863840" cy="512064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6848856"/>
            <a:ext cx="7406640" cy="164592"/>
          </a:xfrm>
          <a:prstGeom prst="rect">
            <a:avLst/>
          </a:prstGeom>
          <a:noFill/>
        </p:spPr>
        <p:txBody>
          <a:bodyPr wrap="square" lIns="54864" rIns="54864" tIns="18288" bIns="18288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Conclusión: buen baseline; el potencial real requiere modelos no lineales.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31089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MODELO 2 - CLASIFICACIÓN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1498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Árbol de Decisión: reglas claras, pero alta varianza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1338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Permite leer decisiones tipo "si pasa esto, entonces riesgo", aunque un árbol único sobreajusta rápido.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977639" cy="23317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F2994A"/>
                </a:solidFill>
                <a:latin typeface="Calibri"/>
              </a:rPr>
              <a:t>Cómo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Divide los datos en reglas sucesivas hasta separar casos.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Muy interpretable, pero memoriza si no se poda.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Necesita controlar profundidad y tamaño de hoja.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26280"/>
            <a:ext cx="3977639" cy="25146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F2994A"/>
                </a:solidFill>
                <a:latin typeface="Calibri"/>
              </a:rPr>
              <a:t>Qué se probó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Sin límite: profundidad 40, F1 train=1.0 y mal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max_depth=10 fue el mejor equilibrio.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min_samples_leaf=50 redujo overfitting y mejoró AUC.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F1 atrasada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F2994A"/>
                </a:solidFill>
                <a:latin typeface="Calibri"/>
              </a:rPr>
              <a:t>0.4650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AUC-ROC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F2994A"/>
                </a:solidFill>
                <a:latin typeface="Calibri"/>
              </a:rPr>
              <a:t>0.8893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4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F2994A"/>
                </a:solidFill>
                <a:latin typeface="Calibri"/>
              </a:rPr>
              <a:t>-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1920240"/>
            <a:ext cx="2057400" cy="1234440"/>
          </a:xfrm>
          <a:prstGeom prst="round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3504" y="2084831"/>
            <a:ext cx="17556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00" b="1">
                <a:solidFill>
                  <a:srgbClr val="2463AA"/>
                </a:solidFill>
                <a:latin typeface="Calibri"/>
              </a:rPr>
              <a:t>LECTURA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96928" y="2441448"/>
            <a:ext cx="1810512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600" b="1">
                <a:solidFill>
                  <a:srgbClr val="142B4A"/>
                </a:solidFill>
                <a:latin typeface="Calibri"/>
              </a:rPr>
              <a:t>No supera LR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3703320"/>
            <a:ext cx="8778240" cy="3337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85816" y="3867911"/>
            <a:ext cx="83393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F2994A"/>
                </a:solidFill>
                <a:latin typeface="Calibri"/>
              </a:rPr>
              <a:t>Análisis ejecutivo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4270248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Confirma que las señales secuenciales/históricas explican el salto.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4718304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Aún regularizado queda por debajo de LR con F_FULL.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5166360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La conclusión técnica: un árbol solo no alcanza; hace falta un ensemble.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31089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MODELO 3 - CLASIFICACIÓN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1498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Random Forest: mejor clasificador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1338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Combina muchos árboles independientes para reducir varianza y estabilizar la predicción.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977639" cy="23317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8A745"/>
                </a:solidFill>
                <a:latin typeface="Calibri"/>
              </a:rPr>
              <a:t>Cómo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Entrena multiples árboles sobre muestras y variables distintas.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Promedia/vota, evitando depender de una sola estructura.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Funciona muy bien cuando hay relaciones no lineales y ruido.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26280"/>
            <a:ext cx="3977639" cy="25146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8A745"/>
                </a:solidFill>
                <a:latin typeface="Calibri"/>
              </a:rPr>
              <a:t>Qué se probó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F_RED_FULL y F_TOP para reducir ruido.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Barrido de max_features confirmó sqrt.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min_samples_leaf=5 fue el ajuste clave.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F1 atrasada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28A745"/>
                </a:solidFill>
                <a:latin typeface="Calibri"/>
              </a:rPr>
              <a:t>0.5917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AUC-ROC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28A745"/>
                </a:solidFill>
                <a:latin typeface="Calibri"/>
              </a:rPr>
              <a:t>0.9221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4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28A745"/>
                </a:solidFill>
                <a:latin typeface="Calibri"/>
              </a:rPr>
              <a:t>0.9128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1920240"/>
            <a:ext cx="2057400" cy="12344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3504" y="2084831"/>
            <a:ext cx="17556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LECTURA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96928" y="2441448"/>
            <a:ext cx="1810512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Modelo lider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3703320"/>
            <a:ext cx="8778240" cy="3337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85816" y="3867911"/>
            <a:ext cx="83393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8A745"/>
                </a:solidFill>
                <a:latin typeface="Calibri"/>
              </a:rPr>
              <a:t>Análisis ejecutivo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4270248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Supera a todos los modelos de clasificación en F1.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4718304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F_TOP=13 mejora al quitar Week ID y día de semana como ruido.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5166360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Con umbral operativo 0.41 detecta cerca de 75 de cada 100 atrasos reales.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31089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MODELO 4 - CLASIFICACIÓN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1498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Gradient Boosting: separa bien, pero con perfil rígido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1338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Construye árboles secuenciales: cada nuevo árbol corrige errores del anterior.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977639" cy="23317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A9DBF"/>
                </a:solidFill>
                <a:latin typeface="Calibri"/>
              </a:rPr>
              <a:t>Cómo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Aprende de forma incremental corrigiendo residuos.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Suele lograr alta capacidad de separación.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El tradeoff precision/recall puede quedar rígido si el umbral no acompaña.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26280"/>
            <a:ext cx="3977639" cy="25146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A9DBF"/>
                </a:solidFill>
                <a:latin typeface="Calibri"/>
              </a:rPr>
              <a:t>Qué se probó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Se probaron learning rate, n_estimators, max_depth y subsample.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max_depth fue la única palanca realmente efectiva.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El mejor punto fue depth=6 con F_TOP=13.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9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F1 atrasada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2A9DBF"/>
                </a:solidFill>
                <a:latin typeface="Calibri"/>
              </a:rPr>
              <a:t>0.5211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9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AUC-ROC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2A9DBF"/>
                </a:solidFill>
                <a:latin typeface="Calibri"/>
              </a:rPr>
              <a:t>0.9226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9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4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2A9DBF"/>
                </a:solidFill>
                <a:latin typeface="Calibri"/>
              </a:rPr>
              <a:t>-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1920240"/>
            <a:ext cx="2057400" cy="1234440"/>
          </a:xfrm>
          <a:prstGeom prst="round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3504" y="2084831"/>
            <a:ext cx="17556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00" b="1">
                <a:solidFill>
                  <a:srgbClr val="2463AA"/>
                </a:solidFill>
                <a:latin typeface="Calibri"/>
              </a:rPr>
              <a:t>LECTURA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96928" y="2441448"/>
            <a:ext cx="1810512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600" b="1">
                <a:solidFill>
                  <a:srgbClr val="142B4A"/>
                </a:solidFill>
                <a:latin typeface="Calibri"/>
              </a:rPr>
              <a:t>AUC alto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3703320"/>
            <a:ext cx="8778240" cy="3337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85816" y="3867911"/>
            <a:ext cx="83393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A9DBF"/>
                </a:solidFill>
                <a:latin typeface="Calibri"/>
              </a:rPr>
              <a:t>Análisis ejecutivo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4270248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Tiene AUC comparable a RF, pero F1 bastante menor.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4718304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Mantiene recall alto y precision baja en casi todas las variantes.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5166360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Necesitaria optimización de umbral para traducir mejor su separación en decisiones.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31089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MODELO 5 - CLASIFICACIÓN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1498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HistGradientBoosting: boosting más eficiente y flexible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1338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Usa histogramas para acelerar particiones y permite mayor expresividad que GB clásico.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977639" cy="23317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463AA"/>
                </a:solidFill>
                <a:latin typeface="Calibri"/>
              </a:rPr>
              <a:t>Cómo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Agrupa valores numéricos en bins para entrenar más rápido.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Controla complejidad con max_leaf_nodes y min_samples_leaf.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Captura no linealidad con buen costo computacional.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26280"/>
            <a:ext cx="3977639" cy="25146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463AA"/>
                </a:solidFill>
                <a:latin typeface="Calibri"/>
              </a:rPr>
              <a:t>Qué se probó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F_TOP=13 como set 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max_leaf_nodes fue el lever que movió el perfil.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min_samples_leaf casi no cambio el resultado.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F1 atrasada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2463AA"/>
                </a:solidFill>
                <a:latin typeface="Calibri"/>
              </a:rPr>
              <a:t>0.5446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AUC-ROC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2463AA"/>
                </a:solidFill>
                <a:latin typeface="Calibri"/>
              </a:rPr>
              <a:t>0.9228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4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2463AA"/>
                </a:solidFill>
                <a:latin typeface="Calibri"/>
              </a:rPr>
              <a:t>-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1920240"/>
            <a:ext cx="2057400" cy="1234440"/>
          </a:xfrm>
          <a:prstGeom prst="round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3504" y="2084831"/>
            <a:ext cx="17556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00" b="1">
                <a:solidFill>
                  <a:srgbClr val="2463AA"/>
                </a:solidFill>
                <a:latin typeface="Calibri"/>
              </a:rPr>
              <a:t>LECTURA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96928" y="2441448"/>
            <a:ext cx="1810512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600" b="1">
                <a:solidFill>
                  <a:srgbClr val="142B4A"/>
                </a:solidFill>
                <a:latin typeface="Calibri"/>
              </a:rPr>
              <a:t>Segundo mejor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3703320"/>
            <a:ext cx="8778240" cy="3337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85816" y="3867911"/>
            <a:ext cx="83393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463AA"/>
                </a:solidFill>
                <a:latin typeface="Calibri"/>
              </a:rPr>
              <a:t>Análisis ejecutivo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4270248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Supera a LR y GB, confirmando mayor expresividad.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4718304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Aún así no alcanza a RF: la brecha en F1 queda cerca de 0.047.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5166360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Buena alternativa si se prioriza velocidad y AUC, no el máximo F1.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31089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MODELO 6 - CLASIFICACIÓN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1498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XGBoost: mejor ranking probabilístico, no mejor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1338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Boosting regularizado, potente y robusto; excelente para ordenar riesgo, menos ganador en umbral 0.50.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977639" cy="23317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D64550"/>
                </a:solidFill>
                <a:latin typeface="Calibri"/>
              </a:rPr>
              <a:t>Cómo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Construye árboles secuenciales con regularización L1/L2.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Maneja desbalance con scale_pos_weight.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Suele destacar por estabilidad y ranking de probabilidades.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26280"/>
            <a:ext cx="3977639" cy="25146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D64550"/>
                </a:solidFill>
                <a:latin typeface="Calibri"/>
              </a:rPr>
              <a:t>Qué se probó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- 5 iteraciones: depth, n_estimators, subsample/colsample y learning 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depth=6, n=200, lr=0.1 maximizó AUC.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Más complejidad no rompió el techo de F1.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F1 atrasada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D64550"/>
                </a:solidFill>
                <a:latin typeface="Calibri"/>
              </a:rPr>
              <a:t>0.5293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AUC-ROC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D64550"/>
                </a:solidFill>
                <a:latin typeface="Calibri"/>
              </a:rPr>
              <a:t>0.9236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1920240"/>
            <a:ext cx="20116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4664" y="2075688"/>
            <a:ext cx="171907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50" b="1">
                <a:solidFill>
                  <a:srgbClr val="606C7B"/>
                </a:solidFill>
                <a:latin typeface="Calibri"/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2450592"/>
            <a:ext cx="1792224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D64550"/>
                </a:solidFill>
                <a:latin typeface="Calibri"/>
              </a:rPr>
              <a:t>-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1920240"/>
            <a:ext cx="2057400" cy="1234440"/>
          </a:xfrm>
          <a:prstGeom prst="round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3504" y="2084831"/>
            <a:ext cx="1755648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00" b="1">
                <a:solidFill>
                  <a:srgbClr val="2463AA"/>
                </a:solidFill>
                <a:latin typeface="Calibri"/>
              </a:rPr>
              <a:t>LECTURA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96928" y="2441448"/>
            <a:ext cx="1810512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600" b="1">
                <a:solidFill>
                  <a:srgbClr val="142B4A"/>
                </a:solidFill>
                <a:latin typeface="Calibri"/>
              </a:rPr>
              <a:t>Mejor AUC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3703320"/>
            <a:ext cx="8778240" cy="3337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85816" y="3867911"/>
            <a:ext cx="83393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D64550"/>
                </a:solidFill>
                <a:latin typeface="Calibri"/>
              </a:rPr>
              <a:t>Análisis ejecutivo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4270248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Tiene el AUC más alto de clasificación, señal de excelente ranking.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4718304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Pero su F1 queda bajo RF e HGB con el umbral por defecto.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5166360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Conclusión: muy buen candidato si el negocio calibra umbrales, no como ganador directo de F1.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42062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COMPARACIÓN GLOBAL - CLASIFICACIÓN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Random Forest queda como modelo recomendado para alertas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16128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La selección no depende solo del AUC: para el negocio importa detectar atrasos reales con un balance razonable de falsas alarmas.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93392"/>
            <a:ext cx="754380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57984"/>
            <a:ext cx="7086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2463AA"/>
                </a:solidFill>
                <a:latin typeface="Calibri"/>
              </a:rPr>
              <a:t>Ranking de modelos finales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3317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606C7B"/>
                </a:solidFill>
                <a:latin typeface="Calibri"/>
              </a:rPr>
              <a:t>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51760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050" b="1">
                <a:solidFill>
                  <a:srgbClr val="606C7B"/>
                </a:solidFill>
                <a:latin typeface="Calibri"/>
              </a:rPr>
              <a:t>F1 atrasada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2651760"/>
            <a:ext cx="10058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050" b="1">
                <a:solidFill>
                  <a:srgbClr val="606C7B"/>
                </a:solidFill>
                <a:latin typeface="Calibri"/>
              </a:rPr>
              <a:t>AUC-ROC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651760"/>
            <a:ext cx="201168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606C7B"/>
                </a:solidFill>
                <a:latin typeface="Calibri"/>
              </a:rPr>
              <a:t>Lectura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2962656"/>
            <a:ext cx="7324344" cy="484632"/>
          </a:xfrm>
          <a:prstGeom prst="roundRect">
            <a:avLst/>
          </a:prstGeom>
          <a:solidFill>
            <a:srgbClr val="E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44952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28A745"/>
                </a:solidFill>
                <a:latin typeface="Calibri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44952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40" b="1">
                <a:solidFill>
                  <a:srgbClr val="28A745"/>
                </a:solidFill>
                <a:latin typeface="Calibri"/>
              </a:rPr>
              <a:t>0.5917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3044952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40" b="1">
                <a:solidFill>
                  <a:srgbClr val="28A745"/>
                </a:solidFill>
                <a:latin typeface="Calibri"/>
              </a:rPr>
              <a:t>0.9221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44952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Mejor F1 y modelo elegido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29584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240" b="0">
                <a:solidFill>
                  <a:srgbClr val="232D3C"/>
                </a:solidFill>
                <a:latin typeface="Calibri"/>
              </a:rPr>
              <a:t>HGB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529584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40" b="1">
                <a:solidFill>
                  <a:srgbClr val="232D3C"/>
                </a:solidFill>
                <a:latin typeface="Calibri"/>
              </a:rPr>
              <a:t>0.5446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3529584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40" b="1">
                <a:solidFill>
                  <a:srgbClr val="232D3C"/>
                </a:solidFill>
                <a:latin typeface="Calibri"/>
              </a:rPr>
              <a:t>0.9228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529584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Segundo mejor; muy buen 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014216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014216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40" b="1">
                <a:solidFill>
                  <a:srgbClr val="232D3C"/>
                </a:solidFill>
                <a:latin typeface="Calibri"/>
              </a:rPr>
              <a:t>0.5293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4014216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40" b="1">
                <a:solidFill>
                  <a:srgbClr val="232D3C"/>
                </a:solidFill>
                <a:latin typeface="Calibri"/>
              </a:rPr>
              <a:t>0.9236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14216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Mejor ranking probabilístico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98848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Gradient Boosting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498848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40" b="1">
                <a:solidFill>
                  <a:srgbClr val="232D3C"/>
                </a:solidFill>
                <a:latin typeface="Calibri"/>
              </a:rPr>
              <a:t>0.5211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449884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40" b="1">
                <a:solidFill>
                  <a:srgbClr val="232D3C"/>
                </a:solidFill>
                <a:latin typeface="Calibri"/>
              </a:rPr>
              <a:t>0.9226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498848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AUC alto, F1 rígido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983480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Regresión Logística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983480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40" b="1">
                <a:solidFill>
                  <a:srgbClr val="232D3C"/>
                </a:solidFill>
                <a:latin typeface="Calibri"/>
              </a:rPr>
              <a:t>0.5180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59" y="498348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40" b="1">
                <a:solidFill>
                  <a:srgbClr val="232D3C"/>
                </a:solidFill>
                <a:latin typeface="Calibri"/>
              </a:rPr>
              <a:t>0.9068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983480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Baseline fuerte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468112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Decision Tree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468112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40" b="1">
                <a:solidFill>
                  <a:srgbClr val="232D3C"/>
                </a:solidFill>
                <a:latin typeface="Calibri"/>
              </a:rPr>
              <a:t>0.4650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5468112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40" b="1">
                <a:solidFill>
                  <a:srgbClr val="232D3C"/>
                </a:solidFill>
                <a:latin typeface="Calibri"/>
              </a:rPr>
              <a:t>0.8893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5468112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Interpretable, pero limitado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32520" y="1993392"/>
            <a:ext cx="521208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2157984"/>
            <a:ext cx="4754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28A745"/>
                </a:solidFill>
                <a:latin typeface="Calibri"/>
              </a:rPr>
              <a:t>Decisión metodológica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2560320"/>
            <a:ext cx="4754880" cy="7040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Se elige Random Forest porque maximiza F1 en la clase atrasada: es el mejor equilibrio entre detectar atrasos y controlar falsas alarmas.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32520" y="3611880"/>
            <a:ext cx="521208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3776472"/>
            <a:ext cx="4754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2463AA"/>
                </a:solidFill>
                <a:latin typeface="Calibri"/>
              </a:rPr>
              <a:t>Matiz importante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178808"/>
            <a:ext cx="4754880" cy="7040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XGBoost y HGB rankean muy bien el riesgo (AUC alto), pero con el umbral por defecto no convierten esa separación en mejor F1.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5230368"/>
            <a:ext cx="521208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0" y="5394959"/>
            <a:ext cx="4754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F2994A"/>
                </a:solidFill>
                <a:latin typeface="Calibri"/>
              </a:rPr>
              <a:t>Lectura de negocio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5797296"/>
            <a:ext cx="4754880" cy="7040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El modelo no reemplaza la operación: prioriza la atención. Sirve para enfocar supervisores, conductores y replanificación donde el riesgo es mayor.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6446520"/>
            <a:ext cx="13167360" cy="685800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6611112"/>
            <a:ext cx="127101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Mensaje clave: no buscamos el modelo más complejo, sino el que mejor convierte datos históricos en alertas accionables para reducir atrasos.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85800"/>
            <a:ext cx="3657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300" b="1">
                <a:solidFill>
                  <a:srgbClr val="E6F0FC"/>
                </a:solidFill>
                <a:latin typeface="Calibri"/>
              </a:rPr>
              <a:t>REGRESIÓN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1069848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Segundo objetivo: estimar minutos de atraso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057400"/>
            <a:ext cx="115214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700" b="0">
                <a:solidFill>
                  <a:srgbClr val="DBE8F7"/>
                </a:solidFill>
                <a:latin typeface="Calibri"/>
              </a:rPr>
              <a:t>Después de detectar si una entrega está en riesgo, el negocio necesita dimensionar la severidad: no es lo mismo llegar 5 minutos tarde que 90.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703320"/>
            <a:ext cx="31546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913632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800" b="1">
                <a:solidFill>
                  <a:srgbClr val="2463A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3977639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Clasificador detecta riesgo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703320"/>
            <a:ext cx="31546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3913632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800" b="1">
                <a:solidFill>
                  <a:srgbClr val="2463A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3977639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Regresor estima magnitud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703320"/>
            <a:ext cx="31546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3913632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800" b="1">
                <a:solidFill>
                  <a:srgbClr val="2463AA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977639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alibri"/>
              </a:rPr>
              <a:t>Operación prioriza acciones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72200"/>
            <a:ext cx="123444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Métricas centrales: RMSE/MAE para error en minutos, R2 para explicación global y pred_late para validar señal en entregas atrasadas.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MODELO R1 - REGRESIÓN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5214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Familia lineal: baseline y selección de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20700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OLS, Ridge y Lasso fijan el piso: explican parte del delay, pero no capturan bien los atrasos reales.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977639" cy="23317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463AA"/>
                </a:solidFill>
                <a:latin typeface="Calibri"/>
              </a:rPr>
              <a:t>Cómo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Predicen delay como suma ponderada de variables.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Ridge estabiliza coeficientes; Lasso elimina variables redundantes.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Son utiles para interpretar, no necesariamente para producir.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26280"/>
            <a:ext cx="3977639" cy="25146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463AA"/>
                </a:solidFill>
                <a:latin typeface="Calibri"/>
              </a:rPr>
              <a:t>Qué se probó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OLS con F_BASE y F_FULL.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Ridge para regularización L2.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Lasso alpha=1 seleccionó 15 features y fue el mejor lineal.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2463AA"/>
                </a:solidFill>
                <a:latin typeface="Calibri"/>
              </a:rPr>
              <a:t>80.29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749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2463AA"/>
                </a:solidFill>
                <a:latin typeface="Calibri"/>
              </a:rPr>
              <a:t>~60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061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R2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2463AA"/>
                </a:solidFill>
                <a:latin typeface="Calibri"/>
              </a:rPr>
              <a:t>0.726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7572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0373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Pred 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6716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2463AA"/>
                </a:solidFill>
                <a:latin typeface="Calibri"/>
              </a:rPr>
              <a:t>neg.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3364992"/>
            <a:ext cx="8229600" cy="310896"/>
          </a:xfrm>
          <a:prstGeom prst="round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3410712"/>
            <a:ext cx="786384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142B4A"/>
                </a:solidFill>
                <a:latin typeface="Calibri"/>
              </a:rPr>
              <a:t>Mejor lineal: Lasso, pero no sirve como modelo final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60" y="3840480"/>
            <a:ext cx="8778240" cy="32004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85816" y="4005072"/>
            <a:ext cx="83393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463AA"/>
                </a:solidFill>
                <a:latin typeface="Calibri"/>
              </a:rPr>
              <a:t>Análisis ejecutivo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4407408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El techo lineal queda cerca de R2=0.72-0.73.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8" y="4855464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Lasso confirma variables relevantes: Latest Time, ventana, IndexA e historial.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5303520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Problema de negocio: en entregas atrasadas mantiene predicción media negativa.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MODELO R2 - REGRESIÓN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5214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Decision Tree Regressor: no linealidad con reglas simples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20700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Primer modelo no lineal: mejora al lineal, pero sigue limitado como árbol único.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977639" cy="23317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F2994A"/>
                </a:solidFill>
                <a:latin typeface="Calibri"/>
              </a:rPr>
              <a:t>Cómo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Divide el espacio en reglas y predice el promedio de cada hoja.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No necesita escalamiento y tolera colinealidad.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Sin poda memoriza el entrenamiento.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26280"/>
            <a:ext cx="3977639" cy="25146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F2994A"/>
                </a:solidFill>
                <a:latin typeface="Calibri"/>
              </a:rPr>
              <a:t>Qué se probó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Sin límite: RMSE 95.26, overfitting extremo.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Barrido de profundidad entre 3 y 20.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max_depth=10 fue el mejor punto.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F2994A"/>
                </a:solidFill>
                <a:latin typeface="Calibri"/>
              </a:rPr>
              <a:t>78.16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749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F2994A"/>
                </a:solidFill>
                <a:latin typeface="Calibri"/>
              </a:rPr>
              <a:t>57.16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061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R2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F2994A"/>
                </a:solidFill>
                <a:latin typeface="Calibri"/>
              </a:rPr>
              <a:t>0.740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7572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0373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Pred 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6716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F2994A"/>
                </a:solidFill>
                <a:latin typeface="Calibri"/>
              </a:rPr>
              <a:t>-12.39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3364992"/>
            <a:ext cx="8229600" cy="310896"/>
          </a:xfrm>
          <a:prstGeom prst="round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3410712"/>
            <a:ext cx="786384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142B4A"/>
                </a:solidFill>
                <a:latin typeface="Calibri"/>
              </a:rPr>
              <a:t>Mejora al lineal, pero falla en la cola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60" y="3840480"/>
            <a:ext cx="8778240" cy="32004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85816" y="4005072"/>
            <a:ext cx="83393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F2994A"/>
                </a:solidFill>
                <a:latin typeface="Calibri"/>
              </a:rPr>
              <a:t>Análisis ejecutivo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4407408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Captura algo de no linealidad y mejora RMSE.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8" y="4855464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Aún predice signo negativo en atrasos reales.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5303520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Sirve para justificar ensembles: un árbol solo no estabiliza suficiente.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MODELO R3 - REGRESIÓN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5214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Random Forest Regressor: mejor error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20700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Promedia muchos árboles para reducir varianza y lograr el menor error general del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977639" cy="23317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8A745"/>
                </a:solidFill>
                <a:latin typeface="Calibri"/>
              </a:rPr>
              <a:t>Cómo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Entrena muchos árboles independientes con bootstrap.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Promedia predicciones para estabilizar el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Muy fuerte en datos tabulares con patrones claros.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26280"/>
            <a:ext cx="3977639" cy="25146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8A745"/>
                </a:solidFill>
                <a:latin typeface="Calibri"/>
              </a:rPr>
              <a:t>Qué se probó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Baseline con 100 árboles.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Barrido de min_samples_leaf.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max_features=0.7 mejoró RMSE y mantuvo señal en cola.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28A745"/>
                </a:solidFill>
                <a:latin typeface="Calibri"/>
              </a:rPr>
              <a:t>65.16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749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28A745"/>
                </a:solidFill>
                <a:latin typeface="Calibri"/>
              </a:rPr>
              <a:t>46.07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061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R2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28A745"/>
                </a:solidFill>
                <a:latin typeface="Calibri"/>
              </a:rPr>
              <a:t>0.819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7572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0373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Pred 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6716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28A745"/>
                </a:solidFill>
                <a:latin typeface="Calibri"/>
              </a:rPr>
              <a:t>+5.06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3364992"/>
            <a:ext cx="8229600" cy="310896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3410712"/>
            <a:ext cx="786384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Mejor RMSE global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60" y="3840480"/>
            <a:ext cx="8778240" cy="32004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85816" y="4005072"/>
            <a:ext cx="83393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8A745"/>
                </a:solidFill>
                <a:latin typeface="Calibri"/>
              </a:rPr>
              <a:t>Análisis ejecutivo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4407408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Es el modelo con menor error promedio global.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8" y="4855464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La señal en atrasados es positiva, pero moderada.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5303520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Buen candidato si se prioriza precision global y simplicidad operativa.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MODELO R4 - REGRESIÓN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5214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Gradient Boosting Regressor: buen ajuste, cola débil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20700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Aprende secuencialmente corrigiendo errores, pero en este dataset subestima los atrasos.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977639" cy="23317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A9DBF"/>
                </a:solidFill>
                <a:latin typeface="Calibri"/>
              </a:rPr>
              <a:t>Cómo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Cada árbol corrige el error residual del anterior.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Generaliza de forma controlada con learning rate bajo.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Puede quedar corto si la señal de cola requiere más capacidad.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26280"/>
            <a:ext cx="3977639" cy="25146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A9DBF"/>
                </a:solidFill>
                <a:latin typeface="Calibri"/>
              </a:rPr>
              <a:t>Qué se probó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Baseline depth=3.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Barrido de profundidad.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Final con depth=6, lr=0.05, n=200.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9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2A9DBF"/>
                </a:solidFill>
                <a:latin typeface="Calibri"/>
              </a:rPr>
              <a:t>67.22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9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749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2A9DBF"/>
                </a:solidFill>
                <a:latin typeface="Calibri"/>
              </a:rPr>
              <a:t>48.82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9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061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R2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2A9DBF"/>
                </a:solidFill>
                <a:latin typeface="Calibri"/>
              </a:rPr>
              <a:t>0.808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7572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9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0373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Pred 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6716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2A9DBF"/>
                </a:solidFill>
                <a:latin typeface="Calibri"/>
              </a:rPr>
              <a:t>+1.61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3364992"/>
            <a:ext cx="8229600" cy="310896"/>
          </a:xfrm>
          <a:prstGeom prst="round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3410712"/>
            <a:ext cx="786384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142B4A"/>
                </a:solidFill>
                <a:latin typeface="Calibri"/>
              </a:rPr>
              <a:t>Generaliza, pero casi no ve la cola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60" y="3840480"/>
            <a:ext cx="8778240" cy="32004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85816" y="4005072"/>
            <a:ext cx="83393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2A9DBF"/>
                </a:solidFill>
                <a:latin typeface="Calibri"/>
              </a:rPr>
              <a:t>Análisis ejecutivo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4407408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Rinde bien globalmente, pero queda bajo RF/HGB/XGB.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8" y="4855464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Pred_late apenas positivo: alerta de subestimación.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5303520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No es el modelo recomendado para dimensionar atrasos.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MODELO R5 - REGRESIÓN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5214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HistGradientBoosting: mejor señal de negocio en atrasos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20700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Boosting eficiente con histogramas; sacrifica poco error global y gana mucha señal en la cola.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977639" cy="23317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6F42C1"/>
                </a:solidFill>
                <a:latin typeface="Calibri"/>
              </a:rPr>
              <a:t>Cómo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Usa bins de histogramas para acelerar los splits.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Early stopping no corto: el modelo seguia aprendiendo.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La regularización efectiva vino por max_depth.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26280"/>
            <a:ext cx="3977639" cy="25146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6F42C1"/>
                </a:solidFill>
                <a:latin typeface="Calibri"/>
              </a:rPr>
              <a:t>Qué se probó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P1 max_iter=500.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P2 max_iter=1500 mejoró cola pero subió gap.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depth=5 fue equilibrio entre gap y pred_late.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6F42C1"/>
                </a:solidFill>
                <a:latin typeface="Calibri"/>
              </a:rPr>
              <a:t>66.31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749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6F42C1"/>
                </a:solidFill>
                <a:latin typeface="Calibri"/>
              </a:rPr>
              <a:t>47.84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061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R2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6F42C1"/>
                </a:solidFill>
                <a:latin typeface="Calibri"/>
              </a:rPr>
              <a:t>0.813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7572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0373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Pred 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6716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6F42C1"/>
                </a:solidFill>
                <a:latin typeface="Calibri"/>
              </a:rPr>
              <a:t>+9.46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3364992"/>
            <a:ext cx="8229600" cy="310896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3410712"/>
            <a:ext cx="786384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Mejor lectura de atrasos reales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60" y="3840480"/>
            <a:ext cx="8778240" cy="32004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85816" y="4005072"/>
            <a:ext cx="83393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6F42C1"/>
                </a:solidFill>
                <a:latin typeface="Calibri"/>
              </a:rPr>
              <a:t>Análisis ejecutivo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4407408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Empata a RF/XGB en error global prácticamente.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8" y="4855464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Tiene la mayor predicción media en entregas atrasadas.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5303520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Si el foco es severidad del atraso, es el modelo más util para negocio.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MODELO R6 - REGRESIÓN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5214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XGBoost Regressor: mejor balance error/gap/cola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20700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Boosting regularizado con muestreo de filas y columnas; muy competitivo y estable.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977639" cy="23317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13055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D64550"/>
                </a:solidFill>
                <a:latin typeface="Calibri"/>
              </a:rPr>
              <a:t>Cómo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3288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Construye árboles secuenciales con regularización explicita.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98094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subsample y colsample controlan sobreajuste.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2900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Excelente cuando se busca balance entre error y estabilidad.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26280"/>
            <a:ext cx="3977639" cy="25146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4690872"/>
            <a:ext cx="35387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D64550"/>
                </a:solidFill>
                <a:latin typeface="Calibri"/>
              </a:rPr>
              <a:t>Qué se probó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093208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P1 con 200 árboles quedo corto.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541264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Barrido de n_estimators mostro convergencia cerca de 1000.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989320"/>
            <a:ext cx="3474720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subsample=0.7 y colsample=0.7 fue el mejor balance.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D64550"/>
                </a:solidFill>
                <a:latin typeface="Calibri"/>
              </a:rPr>
              <a:t>66.15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749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D64550"/>
                </a:solidFill>
                <a:latin typeface="Calibri"/>
              </a:rPr>
              <a:t>47.93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061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R2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D64550"/>
                </a:solidFill>
                <a:latin typeface="Calibri"/>
              </a:rPr>
              <a:t>0.814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75720" y="1920240"/>
            <a:ext cx="187451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03736" y="207568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20" b="1">
                <a:solidFill>
                  <a:srgbClr val="606C7B"/>
                </a:solidFill>
                <a:latin typeface="Calibri"/>
              </a:rPr>
              <a:t>Pred 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67160" y="2450592"/>
            <a:ext cx="167335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300" b="1">
                <a:solidFill>
                  <a:srgbClr val="D64550"/>
                </a:solidFill>
                <a:latin typeface="Calibri"/>
              </a:rPr>
              <a:t>+8.37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3364992"/>
            <a:ext cx="8229600" cy="310896"/>
          </a:xfrm>
          <a:prstGeom prst="round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3410712"/>
            <a:ext cx="786384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142B4A"/>
                </a:solidFill>
                <a:latin typeface="Calibri"/>
              </a:rPr>
              <a:t>Balance más robusto entre boosters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60" y="3840480"/>
            <a:ext cx="8778240" cy="32004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85816" y="4005072"/>
            <a:ext cx="8339327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50" b="1">
                <a:solidFill>
                  <a:srgbClr val="D64550"/>
                </a:solidFill>
                <a:latin typeface="Calibri"/>
              </a:rPr>
              <a:t>Análisis ejecutivo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4407408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RMSE casi igual al mejor global y gap más contenido que HGB.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8" y="4855464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Pred_late fuerte, aunque menor que HGB.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5303520"/>
            <a:ext cx="8275319" cy="3931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- Muy buen candidato si se privilegia estabilidad temporal y control de sobreajuste.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COMPARACIÓN GLOBAL - REGRESIÓN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5214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RF gana en error global; HGB/XGB ganan en severidad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20700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La regresión no tiene un único ganador absoluto: depende de si el negocio prioriza error promedio o capacidad de cuantificar atrasos reales.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93392"/>
            <a:ext cx="781812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57984"/>
            <a:ext cx="73609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2463AA"/>
                </a:solidFill>
                <a:latin typeface="Calibri"/>
              </a:rPr>
              <a:t>Ranking de modelos finales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19202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606C7B"/>
                </a:solidFill>
                <a:latin typeface="Calibri"/>
              </a:rPr>
              <a:t>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651760"/>
            <a:ext cx="9144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050" b="1">
                <a:solidFill>
                  <a:srgbClr val="606C7B"/>
                </a:solidFill>
                <a:latin typeface="Calibri"/>
              </a:rPr>
              <a:t>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51760"/>
            <a:ext cx="731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050" b="1">
                <a:solidFill>
                  <a:srgbClr val="606C7B"/>
                </a:solidFill>
                <a:latin typeface="Calibri"/>
              </a:rPr>
              <a:t>R2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2651760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050" b="1">
                <a:solidFill>
                  <a:srgbClr val="606C7B"/>
                </a:solidFill>
                <a:latin typeface="Calibri"/>
              </a:rPr>
              <a:t>Pred 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51760"/>
            <a:ext cx="23317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606C7B"/>
                </a:solidFill>
                <a:latin typeface="Calibri"/>
              </a:rPr>
              <a:t>Lectura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2962656"/>
            <a:ext cx="7598664" cy="484632"/>
          </a:xfrm>
          <a:prstGeom prst="roundRect">
            <a:avLst/>
          </a:prstGeom>
          <a:solidFill>
            <a:srgbClr val="E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44952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28A745"/>
                </a:solidFill>
                <a:latin typeface="Calibri"/>
              </a:rPr>
              <a:t>RF 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044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1">
                <a:solidFill>
                  <a:srgbClr val="28A745"/>
                </a:solidFill>
                <a:latin typeface="Calibri"/>
              </a:rPr>
              <a:t>65.16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04495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1">
                <a:solidFill>
                  <a:srgbClr val="28A745"/>
                </a:solidFill>
                <a:latin typeface="Calibri"/>
              </a:rPr>
              <a:t>0.819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3044952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1">
                <a:solidFill>
                  <a:srgbClr val="28A745"/>
                </a:solidFill>
                <a:latin typeface="Calibri"/>
              </a:rPr>
              <a:t>+5.06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44952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28A745"/>
                </a:solidFill>
                <a:latin typeface="Calibri"/>
              </a:rPr>
              <a:t>Menor error global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3447288"/>
            <a:ext cx="7598664" cy="484632"/>
          </a:xfrm>
          <a:prstGeom prst="roundRect">
            <a:avLst/>
          </a:prstGeom>
          <a:solidFill>
            <a:srgbClr val="FC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529584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D64550"/>
                </a:solidFill>
                <a:latin typeface="Calibri"/>
              </a:rPr>
              <a:t>XGB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529584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1">
                <a:solidFill>
                  <a:srgbClr val="D64550"/>
                </a:solidFill>
                <a:latin typeface="Calibri"/>
              </a:rPr>
              <a:t>66.15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529584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1">
                <a:solidFill>
                  <a:srgbClr val="D64550"/>
                </a:solidFill>
                <a:latin typeface="Calibri"/>
              </a:rPr>
              <a:t>0.814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529584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1">
                <a:solidFill>
                  <a:srgbClr val="D64550"/>
                </a:solidFill>
                <a:latin typeface="Calibri"/>
              </a:rPr>
              <a:t>+8.37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29584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D64550"/>
                </a:solidFill>
                <a:latin typeface="Calibri"/>
              </a:rPr>
              <a:t>Mejor balance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" y="3931920"/>
            <a:ext cx="7598664" cy="484632"/>
          </a:xfrm>
          <a:prstGeom prst="roundRect">
            <a:avLst/>
          </a:prstGeom>
          <a:solidFill>
            <a:srgbClr val="F5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014216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6F42C1"/>
                </a:solidFill>
                <a:latin typeface="Calibri"/>
              </a:rPr>
              <a:t>HGB Final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01421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1">
                <a:solidFill>
                  <a:srgbClr val="6F42C1"/>
                </a:solidFill>
                <a:latin typeface="Calibri"/>
              </a:rPr>
              <a:t>66.31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014216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1">
                <a:solidFill>
                  <a:srgbClr val="6F42C1"/>
                </a:solidFill>
                <a:latin typeface="Calibri"/>
              </a:rPr>
              <a:t>0.813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4014216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1">
                <a:solidFill>
                  <a:srgbClr val="6F42C1"/>
                </a:solidFill>
                <a:latin typeface="Calibri"/>
              </a:rPr>
              <a:t>+9.46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014216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6F42C1"/>
                </a:solidFill>
                <a:latin typeface="Calibri"/>
              </a:rPr>
              <a:t>Mejor cola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498848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GB Final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449884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0">
                <a:solidFill>
                  <a:srgbClr val="232D3C"/>
                </a:solidFill>
                <a:latin typeface="Calibri"/>
              </a:rPr>
              <a:t>67.22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498848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0">
                <a:solidFill>
                  <a:srgbClr val="232D3C"/>
                </a:solidFill>
                <a:latin typeface="Calibri"/>
              </a:rPr>
              <a:t>0.808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4498848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0">
                <a:solidFill>
                  <a:srgbClr val="232D3C"/>
                </a:solidFill>
                <a:latin typeface="Calibri"/>
              </a:rPr>
              <a:t>+1.61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498848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Cola débil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983480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DT Final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498348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0">
                <a:solidFill>
                  <a:srgbClr val="232D3C"/>
                </a:solidFill>
                <a:latin typeface="Calibri"/>
              </a:rPr>
              <a:t>78.16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98348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0">
                <a:solidFill>
                  <a:srgbClr val="232D3C"/>
                </a:solidFill>
                <a:latin typeface="Calibri"/>
              </a:rPr>
              <a:t>0.740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59" y="4983480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0">
                <a:solidFill>
                  <a:srgbClr val="232D3C"/>
                </a:solidFill>
                <a:latin typeface="Calibri"/>
              </a:rPr>
              <a:t>-12.39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983480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No recomendable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468112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80" b="0">
                <a:solidFill>
                  <a:srgbClr val="232D3C"/>
                </a:solidFill>
                <a:latin typeface="Calibri"/>
              </a:rPr>
              <a:t>Lasso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46811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0">
                <a:solidFill>
                  <a:srgbClr val="232D3C"/>
                </a:solidFill>
                <a:latin typeface="Calibri"/>
              </a:rPr>
              <a:t>80.29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46811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0">
                <a:solidFill>
                  <a:srgbClr val="232D3C"/>
                </a:solidFill>
                <a:latin typeface="Calibri"/>
              </a:rPr>
              <a:t>0.726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59" y="5468112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180" b="0">
                <a:solidFill>
                  <a:srgbClr val="232D3C"/>
                </a:solidFill>
                <a:latin typeface="Calibri"/>
              </a:rPr>
              <a:t>neg.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468112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Baseline lineal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15400" y="1993392"/>
            <a:ext cx="4892040" cy="1325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2157984"/>
            <a:ext cx="44348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28A745"/>
                </a:solidFill>
                <a:latin typeface="Calibri"/>
              </a:rPr>
              <a:t>Si se prioriza error promedio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2560320"/>
            <a:ext cx="4434840" cy="612647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Elegir RF: menor RMSE y MAE global, con configuración relativamente simple.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15400" y="3502152"/>
            <a:ext cx="4892040" cy="1325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3666744"/>
            <a:ext cx="44348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6F42C1"/>
                </a:solidFill>
                <a:latin typeface="Calibri"/>
              </a:rPr>
              <a:t>Si se prioriza severidad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4069080"/>
            <a:ext cx="4434840" cy="612647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Elegir HGB: mejor pred_late, cuantifica mejor los atrasos reales.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15400" y="5010912"/>
            <a:ext cx="4892040" cy="1325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5175504"/>
            <a:ext cx="44348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D64550"/>
                </a:solidFill>
                <a:latin typeface="Calibri"/>
              </a:rPr>
              <a:t>Si se prioriza estabilidad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577840"/>
            <a:ext cx="4434840" cy="612647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Elegir XGB: pred_late fuerte con gap más controlado que HGB.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" y="6565392"/>
            <a:ext cx="13030200" cy="594360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6702552"/>
            <a:ext cx="1252728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Recomendación: usar RF como referencia global y HGB/XGB como modelos de severidad para priorizar casos atrasados.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VALIDACIÓN TEMPORAL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70432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Los modelos se validan respetando el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21615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TimeSeriesSplit responde si el resultado es estable en distintas ventanas temporales, sin entrenar con información futura.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2331720" cy="1097280"/>
          </a:xfrm>
          <a:prstGeom prst="round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12848"/>
            <a:ext cx="384048" cy="3840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157984"/>
            <a:ext cx="14173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Calibri"/>
              </a:rPr>
              <a:t>Train inicial
semanas pasadas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2395728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800" b="1">
                <a:solidFill>
                  <a:srgbClr val="606C7B"/>
                </a:solidFill>
                <a:latin typeface="Calibr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057400"/>
            <a:ext cx="2331720" cy="10972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13631" y="2212848"/>
            <a:ext cx="384048" cy="3840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7" y="2157984"/>
            <a:ext cx="14173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Calibri"/>
              </a:rPr>
              <a:t>Validación
futuro inmediato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395728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800" b="1">
                <a:solidFill>
                  <a:srgbClr val="606C7B"/>
                </a:solidFill>
                <a:latin typeface="Calibr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057400"/>
            <a:ext cx="2331720" cy="1097280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2212848"/>
            <a:ext cx="384048" cy="3840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157984"/>
            <a:ext cx="14173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Calibri"/>
              </a:rPr>
              <a:t>Ventana crece
y se repite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395728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800" b="1">
                <a:solidFill>
                  <a:srgbClr val="606C7B"/>
                </a:solidFill>
                <a:latin typeface="Calibr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057400"/>
            <a:ext cx="2331720" cy="1097280"/>
          </a:xfrm>
          <a:prstGeom prst="round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4352" y="2212848"/>
            <a:ext cx="384048" cy="3840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8128" y="2157984"/>
            <a:ext cx="14173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Calibri"/>
              </a:rPr>
              <a:t>Test final
queda intacto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611880"/>
            <a:ext cx="3977639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776472"/>
            <a:ext cx="35204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D64550"/>
                </a:solidFill>
                <a:latin typeface="Calibri"/>
              </a:rPr>
              <a:t>Por qué no KFold clásico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78808"/>
            <a:ext cx="3520439" cy="1161287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KFold mezcla semanas al azar. En este problema eso permitiría entrenar con semanas futuras para predecir semanas pasadas: fuga temporal.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66360" y="3611880"/>
            <a:ext cx="3977639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3776472"/>
            <a:ext cx="35204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28A745"/>
                </a:solidFill>
                <a:latin typeface="Calibri"/>
              </a:rPr>
              <a:t>Clasificación confirmada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178808"/>
            <a:ext cx="3520439" cy="1161287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Random Forest gana en los 5 folds. F1 medio = 0.603 +/- 0.021 frente a XGB = 0.548 +/- 0.028.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3611880"/>
            <a:ext cx="3977639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3776472"/>
            <a:ext cx="35204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2463AA"/>
                </a:solidFill>
                <a:latin typeface="Calibri"/>
              </a:rPr>
              <a:t>Regresión matizada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178808"/>
            <a:ext cx="3520439" cy="1161287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RF y XGB empatan: RMSE medio ~70 min y R2 ~0.80. XGB queda apenas más estable.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6080760"/>
            <a:ext cx="12573000" cy="749808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6254496"/>
            <a:ext cx="1220724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Conclusión: la selección de RF en clasificación es robusta; en regresión la elección puede depender de simplicidad, severidad o estabilidad.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MODELOS NO SUPERVISADOS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70432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Segmentación operativa: entender perfiles de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21615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KMeans y GMM no predicen directamente; agrupan entregas similares para descubrir segmentos de riesgo accionables.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069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76272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2463AA"/>
                </a:solidFill>
                <a:latin typeface="Calibri"/>
              </a:rPr>
              <a:t>KMeans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78608"/>
            <a:ext cx="3611880" cy="13441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Encuentra grupos naturales con asignación dura. Con k=3 separa: Express (1%, 0% atrasos), Estándar (60%, 8.1%) y Riesgo latente (39%, 11.4%).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2011680"/>
            <a:ext cx="4069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2176272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6F42C1"/>
                </a:solidFill>
                <a:latin typeface="Calibri"/>
              </a:rPr>
              <a:t>GMM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578608"/>
            <a:ext cx="3611880" cy="13441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Usa gaussianas elípticas y asignación blanda. Aisla un cluster de alto riesgo: 14% de entregas con 32.2% de atraso.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2011680"/>
            <a:ext cx="4069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1240" y="2176272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28A745"/>
                </a:solidFill>
                <a:latin typeface="Calibri"/>
              </a:rPr>
              <a:t>Soft clustering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578608"/>
            <a:ext cx="3611880" cy="134416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La confianza media de asignación fue 0.994. Solo 0.3% queda ambiguo: los perfiles son nítidos, no una partición arbitraria.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26280"/>
            <a:ext cx="1293876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09160"/>
            <a:ext cx="124358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142B4A"/>
                </a:solidFill>
                <a:latin typeface="Calibri"/>
              </a:rPr>
              <a:t>Hallazgo principal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074920"/>
            <a:ext cx="1207008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50" b="1">
                <a:solidFill>
                  <a:srgbClr val="232D3C"/>
                </a:solidFill>
                <a:latin typeface="Calibri"/>
              </a:rPr>
              <a:t>El atraso no aparece como un grupo aislado por promedio de delay; aparece como un perfil de mayor riesgo dentro de la operación.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504688"/>
            <a:ext cx="12070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6F42C1"/>
                </a:solidFill>
                <a:latin typeface="Calibri"/>
              </a:rPr>
              <a:t>GMM lo vuelve accionable: 14% de entregas concentra una tasa de atraso de 32.2%.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446520"/>
            <a:ext cx="12938760" cy="640080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6601968"/>
            <a:ext cx="12573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Uso de negocio: priorizar auditoría, refuerzo de ruta y monitoreo sobre segmentos con riesgo estructuralmente mayor.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SÍNTESIS DE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70432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Qué modelo responde cada pregunta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21615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El proyecto no termina en un único algoritmo: combina detección, estimación y segmentación para apoyar decisiones operativas.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406908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21992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28A745"/>
                </a:solidFill>
                <a:latin typeface="Calibri"/>
              </a:rPr>
              <a:t>1. Detectar riesgo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24328"/>
            <a:ext cx="3611880" cy="21214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Pregunta: llegará tarde?
Modelo recomendado: Random Forest clasificación.
Por qué: mejor F1, robusto en validación temporal y buen punto de operación con umbral 0.41.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2057400"/>
            <a:ext cx="406908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2221992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2463AA"/>
                </a:solidFill>
                <a:latin typeface="Calibri"/>
              </a:rPr>
              <a:t>2. Estimar severidad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624328"/>
            <a:ext cx="3611880" cy="21214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Pregunta: cuántos minutos?
Modelo recomendado: RF para error global; HGB/XGB para severidad.
Por qué: RF minimiza RMSE, HGB/XGB leen mejor la cola de atrasados.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2057400"/>
            <a:ext cx="406908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1240" y="2221992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6F42C1"/>
                </a:solidFill>
                <a:latin typeface="Calibri"/>
              </a:rPr>
              <a:t>3. Segmentar operación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624328"/>
            <a:ext cx="3611880" cy="21214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Pregunta: dónde focalizar?
Modelo recomendado: GMM como apoyo analítico.
Por qué: aisla 14% de entregas con tasa de atraso 32.2%.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532120"/>
            <a:ext cx="12938760" cy="1143000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687568"/>
            <a:ext cx="124815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E6F0FC"/>
                </a:solidFill>
                <a:latin typeface="Calibri"/>
              </a:rPr>
              <a:t>Sistema propuesto de uso operativo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6062472"/>
            <a:ext cx="122986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Clasificador prioriza alertas  -&gt;  Regresor estima impacto  -&gt;  Segmentación define donde intervenir primero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HALLAZGOS FINALES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70432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Qué aprendimos sobre los atrasos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21615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El atraso no se comporta como un evento aislado: aparece como resultado acumulado de ruta, historial y contexto operativo.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2514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2212848"/>
            <a:ext cx="2240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606C7B"/>
                </a:solidFill>
                <a:latin typeface="Calibri"/>
              </a:rPr>
              <a:t>Entregas tarde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39" y="2542032"/>
            <a:ext cx="224028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500" b="1">
                <a:solidFill>
                  <a:srgbClr val="D64550"/>
                </a:solidFill>
                <a:latin typeface="Calibri"/>
              </a:rPr>
              <a:t>9-10%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2011680"/>
            <a:ext cx="2514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212848"/>
            <a:ext cx="2240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606C7B"/>
                </a:solidFill>
                <a:latin typeface="Calibri"/>
              </a:rPr>
              <a:t>Atrasos detectables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542032"/>
            <a:ext cx="224028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500" b="1">
                <a:solidFill>
                  <a:srgbClr val="28A745"/>
                </a:solidFill>
                <a:latin typeface="Calibri"/>
              </a:rPr>
              <a:t>75/100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011680"/>
            <a:ext cx="2514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212848"/>
            <a:ext cx="2240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606C7B"/>
                </a:solidFill>
                <a:latin typeface="Calibri"/>
              </a:rPr>
              <a:t>Segmento crítico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542032"/>
            <a:ext cx="224028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500" b="1">
                <a:solidFill>
                  <a:srgbClr val="6F42C1"/>
                </a:solidFill>
                <a:latin typeface="Calibri"/>
              </a:rPr>
              <a:t>14%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2011680"/>
            <a:ext cx="2514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212848"/>
            <a:ext cx="2240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606C7B"/>
                </a:solidFill>
                <a:latin typeface="Calibri"/>
              </a:rPr>
              <a:t>Tasa en segmento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542032"/>
            <a:ext cx="224028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500" b="1">
                <a:solidFill>
                  <a:srgbClr val="F2994A"/>
                </a:solidFill>
                <a:latin typeface="Calibri"/>
              </a:rPr>
              <a:t>32.2%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703320"/>
            <a:ext cx="3977639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867911"/>
            <a:ext cx="35204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2463AA"/>
                </a:solidFill>
                <a:latin typeface="Calibri"/>
              </a:rPr>
              <a:t>1. El riesgo se acumula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70248"/>
            <a:ext cx="3520439" cy="12984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Las señales secuenciales e históricas explican gran parte del salto de rendimiento. Si una ruta ya viene atrasada, las siguientes paradas heredan riesgo.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3703320"/>
            <a:ext cx="3977639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3867911"/>
            <a:ext cx="35204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F2994A"/>
                </a:solidFill>
                <a:latin typeface="Calibri"/>
              </a:rPr>
              <a:t>2. No todo extremo es 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270248"/>
            <a:ext cx="3520439" cy="12984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Algunos outliers son operación real. La limpieza se enfocó en inconsistencias, no en borrar casos difíciles que el negocio necesita anticipar.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3703320"/>
            <a:ext cx="3977639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3867911"/>
            <a:ext cx="352043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1">
                <a:solidFill>
                  <a:srgbClr val="6F42C1"/>
                </a:solidFill>
                <a:latin typeface="Calibri"/>
              </a:rPr>
              <a:t>3. El riesgo está concentrado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270248"/>
            <a:ext cx="3520439" cy="12984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GMM identificó un segmento pequeño pero crítico: cerca del 14% de entregas con una tasa de atraso de 32.2%.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6355080"/>
            <a:ext cx="12573000" cy="685800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6510528"/>
            <a:ext cx="122072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Insight central: la oportunidad no está en tratar toda la operación igual, sino en intervenir donde el riesgo se concentra.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2463AA"/>
                </a:solidFill>
                <a:latin typeface="Calibri"/>
              </a:rPr>
              <a:t>DECISIONES OPERATIVAS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170432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Calibri"/>
              </a:rPr>
              <a:t>Cómo usar el modelo en la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21615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606C7B"/>
                </a:solidFill>
                <a:latin typeface="Calibri"/>
              </a:rPr>
              <a:t>El objetivo no es reemplazar al equipo operativo, sino darle señales tempranas para actuar antes de que el atraso se consolide.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3258800" cy="2743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406908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21992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D64550"/>
                </a:solidFill>
                <a:latin typeface="Calibri"/>
              </a:rPr>
              <a:t>Alerta temprana en ruta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24328"/>
            <a:ext cx="3611880" cy="2029967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Activar alertas cuando el clasificador marca alto riesgo, especialmente después de una parada atrasada. Permite re-secuenciar, contactar cliente o reforzar antes de que se propague.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2057400"/>
            <a:ext cx="406908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2221992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2463AA"/>
                </a:solidFill>
                <a:latin typeface="Calibri"/>
              </a:rPr>
              <a:t>Gestión del conductor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624328"/>
            <a:ext cx="3611880" cy="2029967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Usar historial de atraso como señal de seguimiento: capacitación, apoyo en rutas complejas o reasignación preventiva cuando hay patrones recurrentes.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2057400"/>
            <a:ext cx="406908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1240" y="2221992"/>
            <a:ext cx="3611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28A745"/>
                </a:solidFill>
                <a:latin typeface="Calibri"/>
              </a:rPr>
              <a:t>Balanceo de carga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624328"/>
            <a:ext cx="3611880" cy="2029967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500" b="0">
                <a:solidFill>
                  <a:srgbClr val="232D3C"/>
                </a:solidFill>
                <a:latin typeface="Calibri"/>
              </a:rPr>
              <a:t>Evitar dejar entregas críticas al final de rutas con alto riesgo acumulado. Priorizar clientes sensibles y redistribuir carga en segmentos críticos.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532120"/>
            <a:ext cx="1293876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696712"/>
            <a:ext cx="12481560" cy="256032"/>
          </a:xfrm>
          <a:prstGeom prst="rect">
            <a:avLst/>
          </a:prstGeom>
          <a:noFill/>
        </p:spPr>
        <p:txBody>
          <a:bodyPr wrap="square" lIns="32004" rIns="32004" tIns="9144" bIns="9144">
            <a:normAutofit/>
          </a:bodyPr>
          <a:lstStyle/>
          <a:p>
            <a:pPr algn="ctr"/>
            <a:r>
              <a:rPr sz="1500" b="1">
                <a:solidFill>
                  <a:srgbClr val="142B4A"/>
                </a:solidFill>
                <a:latin typeface="Calibri"/>
              </a:rPr>
              <a:t>Siguientes mejoras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6016752"/>
            <a:ext cx="12298680" cy="384048"/>
          </a:xfrm>
          <a:prstGeom prst="rect">
            <a:avLst/>
          </a:prstGeom>
          <a:noFill/>
        </p:spPr>
        <p:txBody>
          <a:bodyPr wrap="square" lIns="32004" rIns="32004" tIns="9144" bIns="9144">
            <a:normAutofit/>
          </a:bodyPr>
          <a:lstStyle/>
          <a:p>
            <a:pPr algn="ctr"/>
            <a:r>
              <a:rPr sz="1500" b="1">
                <a:solidFill>
                  <a:srgbClr val="232D3C"/>
                </a:solidFill>
                <a:latin typeface="Calibri"/>
              </a:rPr>
              <a:t>Agregar variables externas (tráfico, clima, hora real, densidad/zona, tipo o prioridad de entrega) y recalibrar periódicamente con nuevas semanas de datos.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85800"/>
            <a:ext cx="3840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300" b="1">
                <a:solidFill>
                  <a:srgbClr val="E6F0FC"/>
                </a:solidFill>
                <a:latin typeface="Calibri"/>
              </a:rPr>
              <a:t>CIERRE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70432"/>
            <a:ext cx="1170432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De reaccionar a los atrasos a anticiparlos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139696"/>
            <a:ext cx="117043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700" b="0">
                <a:solidFill>
                  <a:srgbClr val="DBE8F7"/>
                </a:solidFill>
                <a:latin typeface="Calibri"/>
              </a:rPr>
              <a:t>El valor del proyecto está en la cadena completa: detectar riesgo, estimar severidad, segmentar la operación y actuar de forma focalizada.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703320"/>
            <a:ext cx="27432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3913632"/>
            <a:ext cx="411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2463A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395020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142B4A"/>
                </a:solidFill>
                <a:latin typeface="Calibri"/>
              </a:rPr>
              <a:t>Detectar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2286000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0">
                <a:solidFill>
                  <a:srgbClr val="232D3C"/>
                </a:solidFill>
                <a:latin typeface="Calibri"/>
              </a:rPr>
              <a:t>RF identifica entregas con riesgo de atraso.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3703320"/>
            <a:ext cx="27432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3913632"/>
            <a:ext cx="411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2463A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95020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142B4A"/>
                </a:solidFill>
                <a:latin typeface="Calibri"/>
              </a:rPr>
              <a:t>Dimensionar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480560"/>
            <a:ext cx="2286000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0">
                <a:solidFill>
                  <a:srgbClr val="232D3C"/>
                </a:solidFill>
                <a:latin typeface="Calibri"/>
              </a:rPr>
              <a:t>Regresión estima impacto en minutos.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703320"/>
            <a:ext cx="27432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0648" y="3913632"/>
            <a:ext cx="411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2463A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95020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142B4A"/>
                </a:solidFill>
                <a:latin typeface="Calibri"/>
              </a:rPr>
              <a:t>Focalizar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480560"/>
            <a:ext cx="2286000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0">
                <a:solidFill>
                  <a:srgbClr val="232D3C"/>
                </a:solidFill>
                <a:latin typeface="Calibri"/>
              </a:rPr>
              <a:t>GMM encuentra segmentos de mayor riesgo.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69880" y="3703320"/>
            <a:ext cx="27432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71048" y="3913632"/>
            <a:ext cx="411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2400" b="1">
                <a:solidFill>
                  <a:srgbClr val="2463A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3950208"/>
            <a:ext cx="1600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142B4A"/>
                </a:solidFill>
                <a:latin typeface="Calibri"/>
              </a:rPr>
              <a:t>Actuar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4480560"/>
            <a:ext cx="2286000" cy="43891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500" b="0">
                <a:solidFill>
                  <a:srgbClr val="232D3C"/>
                </a:solidFill>
                <a:latin typeface="Calibri"/>
              </a:rPr>
              <a:t>Operación prioriza recursos y decisiones.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6263640"/>
            <a:ext cx="12481560" cy="749808"/>
          </a:xfrm>
          <a:prstGeom prst="round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6437376"/>
            <a:ext cx="12024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La ventaja no es predecir por predecir: es intervenir antes, en menos casos, con mayor impacto.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